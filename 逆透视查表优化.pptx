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84" r:id="rId12"/>
    <p:sldId id="273" r:id="rId13"/>
    <p:sldId id="274" r:id="rId14"/>
    <p:sldId id="275" r:id="rId15"/>
    <p:sldId id="288" r:id="rId16"/>
    <p:sldId id="287" r:id="rId17"/>
    <p:sldId id="278" r:id="rId18"/>
    <p:sldId id="281" r:id="rId19"/>
    <p:sldId id="268" r:id="rId20"/>
    <p:sldId id="283" r:id="rId21"/>
    <p:sldId id="282" r:id="rId22"/>
    <p:sldId id="271" r:id="rId23"/>
    <p:sldId id="279" r:id="rId24"/>
    <p:sldId id="280" r:id="rId25"/>
    <p:sldId id="289" r:id="rId26"/>
    <p:sldId id="286" r:id="rId27"/>
    <p:sldId id="277" r:id="rId28"/>
    <p:sldId id="264" r:id="rId29"/>
    <p:sldId id="272" r:id="rId30"/>
    <p:sldId id="276" r:id="rId31"/>
    <p:sldId id="259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795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1146" y="8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3.jpg"/><Relationship Id="rId3" Type="http://schemas.microsoft.com/office/2007/relationships/media" Target="../media/media2.mp4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22.jpg"/><Relationship Id="rId17" Type="http://schemas.openxmlformats.org/officeDocument/2006/relationships/image" Target="../media/image27.png"/><Relationship Id="rId2" Type="http://schemas.openxmlformats.org/officeDocument/2006/relationships/video" Target="../media/media1.mp4"/><Relationship Id="rId16" Type="http://schemas.openxmlformats.org/officeDocument/2006/relationships/image" Target="../media/image26.pn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21.jpg"/><Relationship Id="rId5" Type="http://schemas.microsoft.com/office/2007/relationships/media" Target="../media/media3.mp4"/><Relationship Id="rId15" Type="http://schemas.openxmlformats.org/officeDocument/2006/relationships/image" Target="../media/image25.png"/><Relationship Id="rId10" Type="http://schemas.openxmlformats.org/officeDocument/2006/relationships/image" Target="../media/image20.jpg"/><Relationship Id="rId4" Type="http://schemas.openxmlformats.org/officeDocument/2006/relationships/video" Target="../media/media2.mp4"/><Relationship Id="rId9" Type="http://schemas.openxmlformats.org/officeDocument/2006/relationships/image" Target="../media/image19.jpg"/><Relationship Id="rId14" Type="http://schemas.openxmlformats.org/officeDocument/2006/relationships/image" Target="../media/image2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矩形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838200" y="1181100"/>
            <a:ext cx="66865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250" spc="300" dirty="0">
                <a:solidFill>
                  <a:srgbClr val="FF6A13"/>
                </a:solidFill>
                <a:latin typeface="Microsoft YaHei"/>
                <a:ea typeface="Microsoft YaHei"/>
              </a:rPr>
              <a:t>突发奇想</a:t>
            </a:r>
            <a:r>
              <a:rPr lang="en-US" altLang="zh-CN" sz="2250" spc="300" dirty="0">
                <a:solidFill>
                  <a:srgbClr val="FF6A13"/>
                </a:solidFill>
                <a:latin typeface="Microsoft YaHei"/>
                <a:ea typeface="Microsoft YaHei"/>
              </a:rPr>
              <a:t>——</a:t>
            </a:r>
            <a:r>
              <a:rPr lang="zh-CN" altLang="en-US" sz="2250" spc="300" dirty="0">
                <a:solidFill>
                  <a:srgbClr val="FF6A13"/>
                </a:solidFill>
                <a:latin typeface="Microsoft YaHei"/>
                <a:ea typeface="Microsoft YaHei"/>
              </a:rPr>
              <a:t>逆透视内存减负</a:t>
            </a:r>
            <a:endParaRPr dirty="0"/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838200" y="1771650"/>
            <a:ext cx="6686550" cy="1181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2000"/>
              </a:lnSpc>
            </a:pPr>
            <a:r>
              <a:rPr lang="zh-CN" altLang="en-US" sz="6900" b="1" spc="150" dirty="0">
                <a:solidFill>
                  <a:srgbClr val="F2F3F5"/>
                </a:solidFill>
                <a:latin typeface="Microsoft YaHei"/>
                <a:ea typeface="Microsoft YaHei"/>
              </a:rPr>
              <a:t>更小的</a:t>
            </a:r>
            <a:r>
              <a:rPr lang="zh-CN" sz="6900" b="1" spc="150" dirty="0">
                <a:solidFill>
                  <a:srgbClr val="F2F3F5"/>
                </a:solidFill>
                <a:latin typeface="Microsoft YaHei"/>
                <a:ea typeface="Microsoft YaHei"/>
              </a:rPr>
              <a:t>逆透视表</a:t>
            </a:r>
            <a:endParaRPr dirty="0"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838200" y="3200400"/>
            <a:ext cx="668655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3300" dirty="0">
                <a:solidFill>
                  <a:srgbClr val="FF8F4D"/>
                </a:solidFill>
                <a:latin typeface="Microsoft YaHei"/>
                <a:ea typeface="Microsoft YaHei"/>
              </a:rPr>
              <a:t>从</a:t>
            </a:r>
            <a:r>
              <a:rPr lang="en-US" sz="3300" dirty="0">
                <a:solidFill>
                  <a:srgbClr val="FF8F4D"/>
                </a:solidFill>
                <a:latin typeface="Microsoft YaHei"/>
                <a:ea typeface="Microsoft YaHei"/>
              </a:rPr>
              <a:t> 88 KB </a:t>
            </a:r>
            <a:r>
              <a:rPr lang="zh-CN" sz="3300" dirty="0">
                <a:solidFill>
                  <a:srgbClr val="FF8F4D"/>
                </a:solidFill>
                <a:latin typeface="Microsoft YaHei"/>
                <a:ea typeface="Microsoft YaHei"/>
              </a:rPr>
              <a:t>到</a:t>
            </a:r>
            <a:r>
              <a:rPr lang="en-US" sz="3300" dirty="0">
                <a:solidFill>
                  <a:srgbClr val="FF8F4D"/>
                </a:solidFill>
                <a:latin typeface="Microsoft YaHei"/>
                <a:ea typeface="Microsoft YaHei"/>
              </a:rPr>
              <a:t> 22 KB</a:t>
            </a:r>
            <a:endParaRPr dirty="0"/>
          </a:p>
        </p:txBody>
      </p:sp>
      <p:sp>
        <p:nvSpPr>
          <p:cNvPr id="8" name="矩形 7"/>
          <p:cNvSpPr/>
          <p:nvPr/>
        </p:nvSpPr>
        <p:spPr>
          <a:xfrm>
            <a:off x="838200" y="4124325"/>
            <a:ext cx="49530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838200" y="4381500"/>
            <a:ext cx="668655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altLang="en-US" sz="1800" dirty="0">
                <a:solidFill>
                  <a:srgbClr val="9AA1AC"/>
                </a:solidFill>
                <a:latin typeface="Microsoft YaHei"/>
                <a:ea typeface="Microsoft YaHei"/>
              </a:rPr>
              <a:t>基于</a:t>
            </a:r>
            <a:r>
              <a:rPr lang="en-US" altLang="zh-CN" sz="1800" dirty="0">
                <a:solidFill>
                  <a:srgbClr val="9AA1AC"/>
                </a:solidFill>
                <a:latin typeface="Microsoft YaHei"/>
                <a:ea typeface="Microsoft YaHei"/>
              </a:rPr>
              <a:t>CH32V307</a:t>
            </a:r>
            <a:r>
              <a:rPr lang="zh-CN" altLang="en-US" sz="1800" dirty="0">
                <a:solidFill>
                  <a:srgbClr val="9AA1AC"/>
                </a:solidFill>
                <a:latin typeface="Microsoft YaHei"/>
                <a:ea typeface="Microsoft YaHei"/>
              </a:rPr>
              <a:t>与</a:t>
            </a:r>
            <a:r>
              <a:rPr lang="en-US" altLang="zh-CN" sz="1800" dirty="0">
                <a:solidFill>
                  <a:srgbClr val="9AA1AC"/>
                </a:solidFill>
                <a:latin typeface="Microsoft YaHei"/>
                <a:ea typeface="Microsoft YaHei"/>
              </a:rPr>
              <a:t>CYT4BB7</a:t>
            </a:r>
            <a:r>
              <a:rPr lang="zh-CN" altLang="en-US" sz="1800" dirty="0">
                <a:solidFill>
                  <a:srgbClr val="9AA1AC"/>
                </a:solidFill>
                <a:latin typeface="Microsoft YaHei"/>
                <a:ea typeface="Microsoft YaHei"/>
              </a:rPr>
              <a:t>芯片验证</a:t>
            </a:r>
            <a:endParaRPr dirty="0"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838200" y="5419725"/>
            <a:ext cx="6686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altLang="zh-CN" sz="1650" dirty="0">
                <a:solidFill>
                  <a:srgbClr val="7C838F"/>
                </a:solidFill>
                <a:latin typeface="Microsoft YaHei"/>
                <a:ea typeface="Microsoft YaHei"/>
              </a:rPr>
              <a:t>71</a:t>
            </a:r>
            <a:r>
              <a:rPr lang="en-US" sz="1650" dirty="0">
                <a:solidFill>
                  <a:srgbClr val="7C838F"/>
                </a:solidFill>
                <a:latin typeface="Microsoft YaHei"/>
                <a:ea typeface="Microsoft YaHei"/>
              </a:rPr>
              <a:t>· </a:t>
            </a:r>
            <a:r>
              <a:rPr lang="zh-CN" sz="1650" dirty="0">
                <a:solidFill>
                  <a:srgbClr val="7C838F"/>
                </a:solidFill>
                <a:latin typeface="Microsoft YaHei"/>
                <a:ea typeface="Microsoft YaHei"/>
              </a:rPr>
              <a:t>华南理工大学智能车队</a:t>
            </a:r>
            <a:endParaRPr dirty="0"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10077450" y="1685925"/>
            <a:ext cx="127635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F6A13"/>
                </a:solidFill>
                <a:latin typeface="Microsoft YaHei"/>
                <a:ea typeface="Microsoft YaHei"/>
              </a:rPr>
              <a:t>88 KB</a:t>
            </a:r>
            <a:endParaRPr/>
          </a:p>
        </p:txBody>
      </p:sp>
      <p:sp>
        <p:nvSpPr>
          <p:cNvPr id="12" name="矩形 11"/>
          <p:cNvSpPr/>
          <p:nvPr/>
        </p:nvSpPr>
        <p:spPr>
          <a:xfrm>
            <a:off x="7810500" y="2352675"/>
            <a:ext cx="3543300" cy="1524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0077450" y="3019425"/>
            <a:ext cx="127635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F8F4D"/>
                </a:solidFill>
                <a:latin typeface="Microsoft YaHei"/>
                <a:ea typeface="Microsoft YaHei"/>
              </a:rPr>
              <a:t>44 KB</a:t>
            </a:r>
            <a:endParaRPr/>
          </a:p>
        </p:txBody>
      </p:sp>
      <p:sp>
        <p:nvSpPr>
          <p:cNvPr id="14" name="矩形 13"/>
          <p:cNvSpPr/>
          <p:nvPr/>
        </p:nvSpPr>
        <p:spPr>
          <a:xfrm>
            <a:off x="9582150" y="3686175"/>
            <a:ext cx="1771650" cy="152400"/>
          </a:xfrm>
          <a:prstGeom prst="rect">
            <a:avLst/>
          </a:prstGeom>
          <a:solidFill>
            <a:srgbClr val="FF8F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10077450" y="4352925"/>
            <a:ext cx="127635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FB27A"/>
                </a:solidFill>
                <a:latin typeface="Microsoft YaHei"/>
                <a:ea typeface="Microsoft YaHei"/>
              </a:rPr>
              <a:t>22 KB</a:t>
            </a:r>
            <a:endParaRPr/>
          </a:p>
        </p:txBody>
      </p:sp>
      <p:sp>
        <p:nvSpPr>
          <p:cNvPr id="16" name="矩形 15"/>
          <p:cNvSpPr/>
          <p:nvPr/>
        </p:nvSpPr>
        <p:spPr>
          <a:xfrm>
            <a:off x="10467975" y="5019675"/>
            <a:ext cx="885825" cy="152400"/>
          </a:xfrm>
          <a:prstGeom prst="rect">
            <a:avLst/>
          </a:prstGeom>
          <a:solidFill>
            <a:srgbClr val="FFB27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矩形 2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1" name="图片 2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2F3F5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233" name="矩形 232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4" name="矩形 233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838200" y="1581150"/>
            <a:ext cx="1219200" cy="8477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550">
                <a:solidFill>
                  <a:srgbClr val="FF6A13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2057400" y="1847850"/>
            <a:ext cx="6972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025" dirty="0">
                <a:solidFill>
                  <a:srgbClr val="C9CED6"/>
                </a:solidFill>
                <a:latin typeface="Microsoft YaHei"/>
                <a:ea typeface="Microsoft YaHei"/>
              </a:rPr>
              <a:t>逆透视简介、在智能车上部署的困境</a:t>
            </a:r>
            <a:endParaRPr dirty="0"/>
          </a:p>
        </p:txBody>
      </p:sp>
      <p:sp>
        <p:nvSpPr>
          <p:cNvPr id="237" name="矩形 236"/>
          <p:cNvSpPr/>
          <p:nvPr/>
        </p:nvSpPr>
        <p:spPr>
          <a:xfrm>
            <a:off x="838200" y="2533650"/>
            <a:ext cx="81915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838200" y="2657475"/>
            <a:ext cx="1219200" cy="8477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550">
                <a:solidFill>
                  <a:srgbClr val="FF6A13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2057400" y="2924175"/>
            <a:ext cx="6972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025" dirty="0">
                <a:solidFill>
                  <a:srgbClr val="C9CED6"/>
                </a:solidFill>
                <a:latin typeface="Microsoft YaHei"/>
                <a:ea typeface="Microsoft YaHei"/>
              </a:rPr>
              <a:t>基址加偏移替掉指针，</a:t>
            </a:r>
            <a:r>
              <a:rPr lang="zh-CN" altLang="en-US" sz="2025" dirty="0">
                <a:solidFill>
                  <a:srgbClr val="C9CED6"/>
                </a:solidFill>
                <a:latin typeface="Microsoft YaHei"/>
                <a:ea typeface="Microsoft YaHei"/>
              </a:rPr>
              <a:t>减负</a:t>
            </a:r>
            <a:r>
              <a:rPr lang="en-US" altLang="zh-CN" sz="2025" dirty="0">
                <a:solidFill>
                  <a:srgbClr val="C9CED6"/>
                </a:solidFill>
                <a:latin typeface="Microsoft YaHei"/>
                <a:ea typeface="Microsoft YaHei"/>
              </a:rPr>
              <a:t>44KB</a:t>
            </a:r>
            <a:endParaRPr dirty="0"/>
          </a:p>
        </p:txBody>
      </p:sp>
      <p:sp>
        <p:nvSpPr>
          <p:cNvPr id="240" name="矩形 239"/>
          <p:cNvSpPr/>
          <p:nvPr/>
        </p:nvSpPr>
        <p:spPr>
          <a:xfrm>
            <a:off x="838200" y="3609975"/>
            <a:ext cx="81915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838200" y="3733800"/>
            <a:ext cx="1219200" cy="8477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550">
                <a:solidFill>
                  <a:srgbClr val="FF6A13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2057400" y="4000500"/>
            <a:ext cx="6972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025" dirty="0">
                <a:solidFill>
                  <a:srgbClr val="C9CED6"/>
                </a:solidFill>
                <a:latin typeface="Microsoft YaHei"/>
                <a:ea typeface="Microsoft YaHei"/>
              </a:rPr>
              <a:t>改用 </a:t>
            </a:r>
            <a:r>
              <a:rPr lang="en-US" altLang="zh-CN" sz="2025" b="1" dirty="0">
                <a:solidFill>
                  <a:srgbClr val="C9CED6"/>
                </a:solidFill>
                <a:latin typeface="Microsoft YaHei"/>
                <a:ea typeface="Microsoft YaHei"/>
              </a:rPr>
              <a:t>int8 </a:t>
            </a:r>
            <a:r>
              <a:rPr lang="zh-CN" altLang="en-US" sz="2025" dirty="0">
                <a:solidFill>
                  <a:srgbClr val="C9CED6"/>
                </a:solidFill>
                <a:latin typeface="Microsoft YaHei"/>
                <a:ea typeface="Microsoft YaHei"/>
              </a:rPr>
              <a:t>表，减负至</a:t>
            </a:r>
            <a:r>
              <a:rPr lang="en-US" altLang="zh-CN" sz="2025" dirty="0">
                <a:solidFill>
                  <a:srgbClr val="C9CED6"/>
                </a:solidFill>
                <a:latin typeface="Microsoft YaHei"/>
                <a:ea typeface="Microsoft YaHei"/>
              </a:rPr>
              <a:t>22KB</a:t>
            </a:r>
            <a:endParaRPr dirty="0"/>
          </a:p>
        </p:txBody>
      </p:sp>
      <p:sp>
        <p:nvSpPr>
          <p:cNvPr id="243" name="矩形 242"/>
          <p:cNvSpPr/>
          <p:nvPr/>
        </p:nvSpPr>
        <p:spPr>
          <a:xfrm>
            <a:off x="838200" y="4686300"/>
            <a:ext cx="81915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838200" y="4810125"/>
            <a:ext cx="1219200" cy="8477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550">
                <a:solidFill>
                  <a:srgbClr val="FF6A13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2057400" y="5076825"/>
            <a:ext cx="6972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025" dirty="0">
                <a:solidFill>
                  <a:srgbClr val="C9CED6"/>
                </a:solidFill>
                <a:latin typeface="Microsoft YaHei"/>
                <a:ea typeface="Microsoft YaHei"/>
              </a:rPr>
              <a:t>总结、开源链接</a:t>
            </a:r>
            <a:endParaRPr dirty="0"/>
          </a:p>
        </p:txBody>
      </p:sp>
      <p:sp>
        <p:nvSpPr>
          <p:cNvPr id="246" name="矩形 245"/>
          <p:cNvSpPr/>
          <p:nvPr/>
        </p:nvSpPr>
        <p:spPr>
          <a:xfrm>
            <a:off x="838200" y="5762625"/>
            <a:ext cx="81915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8382000" y="4305300"/>
            <a:ext cx="3533775" cy="3657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0" b="1" spc="-900">
                <a:solidFill>
                  <a:srgbClr val="2A2F37"/>
                </a:solidFill>
                <a:latin typeface="Microsoft YaHei"/>
                <a:ea typeface="Microsoft YaHei"/>
              </a:rPr>
              <a:t>22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矩形 4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05" name="图片 4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1295400" y="1371600"/>
            <a:ext cx="4838700" cy="3590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80000"/>
              </a:lnSpc>
            </a:pPr>
            <a:r>
              <a:rPr lang="en-US" sz="29400" b="1" spc="-750">
                <a:solidFill>
                  <a:srgbClr val="FF6A13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6134100" y="2209800"/>
            <a:ext cx="5219700" cy="191452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5000"/>
              </a:lnSpc>
            </a:pPr>
            <a:r>
              <a:rPr lang="zh-CN" altLang="en-US" sz="4050" b="1" dirty="0">
                <a:solidFill>
                  <a:srgbClr val="F2F3F5"/>
                </a:solidFill>
                <a:latin typeface="Microsoft YaHei"/>
                <a:ea typeface="Microsoft YaHei"/>
              </a:rPr>
              <a:t>逆透视简介、在智能车上部署的困境</a:t>
            </a:r>
          </a:p>
        </p:txBody>
      </p:sp>
      <p:sp>
        <p:nvSpPr>
          <p:cNvPr id="408" name="矩形 407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9" name="矩形 408"/>
          <p:cNvSpPr/>
          <p:nvPr/>
        </p:nvSpPr>
        <p:spPr>
          <a:xfrm>
            <a:off x="0" y="6096000"/>
            <a:ext cx="2514600" cy="381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0" name="矩形 409"/>
          <p:cNvSpPr/>
          <p:nvPr/>
        </p:nvSpPr>
        <p:spPr>
          <a:xfrm>
            <a:off x="2590800" y="6096000"/>
            <a:ext cx="2514600" cy="3810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1" name="矩形 410"/>
          <p:cNvSpPr/>
          <p:nvPr/>
        </p:nvSpPr>
        <p:spPr>
          <a:xfrm>
            <a:off x="5181600" y="6096000"/>
            <a:ext cx="2514600" cy="3810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2" name="矩形 411"/>
          <p:cNvSpPr/>
          <p:nvPr/>
        </p:nvSpPr>
        <p:spPr>
          <a:xfrm>
            <a:off x="7772400" y="6096000"/>
            <a:ext cx="2514600" cy="3810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矩形 4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26" name="图片 4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27" name="文本框 426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2F3F5"/>
                </a:solidFill>
                <a:latin typeface="Microsoft YaHei"/>
                <a:ea typeface="Microsoft YaHei"/>
              </a:rPr>
              <a:t>相机是斜着装的</a:t>
            </a:r>
            <a:endParaRPr/>
          </a:p>
        </p:txBody>
      </p:sp>
      <p:sp>
        <p:nvSpPr>
          <p:cNvPr id="428" name="矩形 427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9" name="矩形 428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838200" y="2254452"/>
            <a:ext cx="4121927" cy="1514475"/>
          </a:xfrm>
          <a:prstGeom prst="rect">
            <a:avLst/>
          </a:prstGeom>
        </p:spPr>
        <p:txBody>
          <a:bodyPr wrap="square" lIns="0" tIns="0" rIns="0" bIns="0"/>
          <a:lstStyle>
            <a:lvl1pPr>
              <a:lnSpc>
                <a:spcPct val="150000"/>
              </a:lnSpc>
              <a:defRPr sz="1650">
                <a:solidFill>
                  <a:srgbClr val="C9CED6"/>
                </a:solidFill>
                <a:latin typeface="Microsoft YaHei"/>
                <a:ea typeface="Microsoft YaHei"/>
              </a:defRPr>
            </a:lvl1pPr>
          </a:lstStyle>
          <a:p>
            <a:r>
              <a:rPr lang="zh-CN" altLang="en-US" dirty="0"/>
              <a:t>正常车载摄像头视角类似于“低头”看赛道，自然看到的赛道近大远小，不利于元素识别与高级的控制算法使用。</a:t>
            </a:r>
            <a:endParaRPr lang="en-US" altLang="zh-CN" dirty="0"/>
          </a:p>
        </p:txBody>
      </p:sp>
      <p:sp>
        <p:nvSpPr>
          <p:cNvPr id="431" name="矩形 430"/>
          <p:cNvSpPr/>
          <p:nvPr/>
        </p:nvSpPr>
        <p:spPr>
          <a:xfrm>
            <a:off x="838201" y="3671292"/>
            <a:ext cx="609600" cy="28575"/>
          </a:xfrm>
          <a:prstGeom prst="rect">
            <a:avLst/>
          </a:prstGeom>
          <a:solidFill>
            <a:srgbClr val="FF8F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838200" y="3960615"/>
            <a:ext cx="3898260" cy="1514475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150000"/>
              </a:lnSpc>
            </a:pPr>
            <a:r>
              <a:rPr lang="zh-CN" sz="1650" dirty="0">
                <a:solidFill>
                  <a:srgbClr val="C9CED6"/>
                </a:solidFill>
                <a:latin typeface="Microsoft YaHei"/>
                <a:ea typeface="Microsoft YaHei"/>
              </a:rPr>
              <a:t>逆透视</a:t>
            </a:r>
            <a:r>
              <a:rPr lang="zh-CN" alt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简而言之就是通过软件坐标变换产生一个“俯瞰”的视角，从而让赛道远近同宽，同时像素距离可以直接与物理距离映射，便于视觉处理。</a:t>
            </a:r>
            <a:endParaRPr dirty="0"/>
          </a:p>
        </p:txBody>
      </p:sp>
      <p:pic>
        <p:nvPicPr>
          <p:cNvPr id="433" name="图片 43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95665" y="1688307"/>
            <a:ext cx="7239000" cy="4276725"/>
          </a:xfrm>
          <a:prstGeom prst="rect">
            <a:avLst/>
          </a:prstGeom>
          <a:ln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矩形 4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37" name="图片 4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逆透视简介</a:t>
            </a:r>
            <a:r>
              <a:rPr lang="en-US" alt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——</a:t>
            </a: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示例</a:t>
            </a:r>
            <a:endParaRPr dirty="0"/>
          </a:p>
        </p:txBody>
      </p:sp>
      <p:sp>
        <p:nvSpPr>
          <p:cNvPr id="439" name="矩形 438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0" name="矩形 439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41" name="图片 440"/>
          <p:cNvPicPr>
            <a:picLocks noChangeAspect="1"/>
          </p:cNvPicPr>
          <p:nvPr/>
        </p:nvPicPr>
        <p:blipFill>
          <a:blip r:embed="rId3"/>
          <a:srcRect l="12" r="12"/>
          <a:stretch>
            <a:fillRect/>
          </a:stretch>
        </p:blipFill>
        <p:spPr>
          <a:xfrm>
            <a:off x="838200" y="1504950"/>
            <a:ext cx="4953000" cy="3162300"/>
          </a:xfrm>
          <a:prstGeom prst="rect">
            <a:avLst/>
          </a:prstGeom>
          <a:ln/>
        </p:spPr>
      </p:pic>
      <p:sp>
        <p:nvSpPr>
          <p:cNvPr id="442" name="矩形 441"/>
          <p:cNvSpPr/>
          <p:nvPr/>
        </p:nvSpPr>
        <p:spPr>
          <a:xfrm>
            <a:off x="838200" y="4857750"/>
            <a:ext cx="47625" cy="4953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1038225" y="4857750"/>
            <a:ext cx="32004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2F3F5"/>
                </a:solidFill>
                <a:latin typeface="Microsoft YaHei"/>
                <a:ea typeface="Microsoft YaHei"/>
              </a:rPr>
              <a:t>原图</a:t>
            </a:r>
            <a:r>
              <a:rPr lang="en-US" sz="1875" b="1">
                <a:solidFill>
                  <a:srgbClr val="F2F3F5"/>
                </a:solidFill>
                <a:latin typeface="Microsoft YaHei"/>
                <a:ea typeface="Microsoft YaHei"/>
              </a:rPr>
              <a:t> 188 × 120</a:t>
            </a:r>
            <a:endParaRPr/>
          </a:p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1038225" y="5200650"/>
            <a:ext cx="32004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575" dirty="0">
                <a:solidFill>
                  <a:srgbClr val="9AA1AC"/>
                </a:solidFill>
                <a:latin typeface="Microsoft YaHei"/>
                <a:ea typeface="Microsoft YaHei"/>
              </a:rPr>
              <a:t>近大远小</a:t>
            </a:r>
            <a:endParaRPr dirty="0"/>
          </a:p>
        </p:txBody>
      </p:sp>
      <p:pic>
        <p:nvPicPr>
          <p:cNvPr id="445" name="图片 444"/>
          <p:cNvPicPr>
            <a:picLocks noChangeAspect="1"/>
          </p:cNvPicPr>
          <p:nvPr/>
        </p:nvPicPr>
        <p:blipFill>
          <a:blip r:embed="rId4"/>
          <a:srcRect l="12" r="12"/>
          <a:stretch>
            <a:fillRect/>
          </a:stretch>
        </p:blipFill>
        <p:spPr>
          <a:xfrm>
            <a:off x="6400800" y="1504950"/>
            <a:ext cx="4953000" cy="3162300"/>
          </a:xfrm>
          <a:prstGeom prst="rect">
            <a:avLst/>
          </a:prstGeom>
          <a:ln/>
        </p:spPr>
      </p:pic>
      <p:sp>
        <p:nvSpPr>
          <p:cNvPr id="446" name="矩形 445"/>
          <p:cNvSpPr/>
          <p:nvPr/>
        </p:nvSpPr>
        <p:spPr>
          <a:xfrm>
            <a:off x="6400800" y="4857750"/>
            <a:ext cx="47625" cy="495300"/>
          </a:xfrm>
          <a:prstGeom prst="rect">
            <a:avLst/>
          </a:prstGeom>
          <a:solidFill>
            <a:srgbClr val="FF8F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6600825" y="4857750"/>
            <a:ext cx="24003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2F3F5"/>
                </a:solidFill>
                <a:latin typeface="Microsoft YaHei"/>
                <a:ea typeface="Microsoft YaHei"/>
              </a:rPr>
              <a:t>逆透视输出</a:t>
            </a:r>
            <a:endParaRPr/>
          </a:p>
        </p:txBody>
      </p:sp>
      <p:sp>
        <p:nvSpPr>
          <p:cNvPr id="448" name="文本框 447" descr="{&quot;isTemplate&quot;:true,&quot;type&quot;:&quot;text&quot;}"/>
          <p:cNvSpPr txBox="1"/>
          <p:nvPr/>
        </p:nvSpPr>
        <p:spPr>
          <a:xfrm>
            <a:off x="6600825" y="5200650"/>
            <a:ext cx="24003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dirty="0">
                <a:solidFill>
                  <a:srgbClr val="9AA1AC"/>
                </a:solidFill>
                <a:latin typeface="Microsoft YaHei"/>
                <a:ea typeface="Microsoft YaHei"/>
              </a:rPr>
              <a:t>边线宽度基本不变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矩形 4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53" name="图片 4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54" name="文本框 453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逆透视简介</a:t>
            </a:r>
            <a:r>
              <a:rPr lang="en-US" alt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——</a:t>
            </a:r>
            <a:r>
              <a:rPr 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数学原理</a:t>
            </a:r>
            <a:endParaRPr dirty="0"/>
          </a:p>
        </p:txBody>
      </p:sp>
      <p:sp>
        <p:nvSpPr>
          <p:cNvPr id="455" name="矩形 454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6" name="矩形 455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7" name="文本框 456" descr="{&quot;isTemplate&quot;:true,&quot;type&quot;:&quot;text&quot;}"/>
          <p:cNvSpPr txBox="1"/>
          <p:nvPr/>
        </p:nvSpPr>
        <p:spPr>
          <a:xfrm>
            <a:off x="1371600" y="1695450"/>
            <a:ext cx="1143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575">
                <a:solidFill>
                  <a:srgbClr val="9AA1AC"/>
                </a:solidFill>
                <a:latin typeface="Consolas"/>
                <a:ea typeface="Consolas"/>
              </a:rPr>
              <a:t>i</a:t>
            </a:r>
            <a:endParaRPr/>
          </a:p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2562225" y="1695450"/>
            <a:ext cx="1143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575">
                <a:solidFill>
                  <a:srgbClr val="9AA1AC"/>
                </a:solidFill>
                <a:latin typeface="Consolas"/>
                <a:ea typeface="Consolas"/>
              </a:rPr>
              <a:t>j</a:t>
            </a:r>
            <a:endParaRPr/>
          </a:p>
        </p:txBody>
      </p:sp>
      <p:sp>
        <p:nvSpPr>
          <p:cNvPr id="459" name="文本框 458" descr="{&quot;isTemplate&quot;:true,&quot;type&quot;:&quot;text&quot;}"/>
          <p:cNvSpPr txBox="1"/>
          <p:nvPr/>
        </p:nvSpPr>
        <p:spPr>
          <a:xfrm>
            <a:off x="3752850" y="1695450"/>
            <a:ext cx="11430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575">
                <a:solidFill>
                  <a:srgbClr val="9AA1AC"/>
                </a:solidFill>
                <a:latin typeface="Consolas"/>
                <a:ea typeface="Consolas"/>
              </a:rPr>
              <a:t>1</a:t>
            </a:r>
            <a:endParaRPr/>
          </a:p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838200" y="2495550"/>
            <a:ext cx="2571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2F3F5"/>
                </a:solidFill>
                <a:latin typeface="Consolas"/>
                <a:ea typeface="Consolas"/>
              </a:rPr>
              <a:t>x'</a:t>
            </a:r>
            <a:endParaRPr/>
          </a:p>
        </p:txBody>
      </p:sp>
      <p:sp>
        <p:nvSpPr>
          <p:cNvPr id="461" name="文本框 460" descr="{&quot;isTemplate&quot;:true,&quot;type&quot;:&quot;text&quot;}"/>
          <p:cNvSpPr txBox="1"/>
          <p:nvPr/>
        </p:nvSpPr>
        <p:spPr>
          <a:xfrm>
            <a:off x="838200" y="3686175"/>
            <a:ext cx="2571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2F3F5"/>
                </a:solidFill>
                <a:latin typeface="Consolas"/>
                <a:ea typeface="Consolas"/>
              </a:rPr>
              <a:t>y'</a:t>
            </a:r>
            <a:endParaRPr/>
          </a:p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838200" y="4876800"/>
            <a:ext cx="1333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B27A"/>
                </a:solidFill>
                <a:latin typeface="Consolas"/>
                <a:ea typeface="Consolas"/>
              </a:rPr>
              <a:t>w</a:t>
            </a:r>
            <a:endParaRPr/>
          </a:p>
        </p:txBody>
      </p:sp>
      <p:sp>
        <p:nvSpPr>
          <p:cNvPr id="463" name="矩形 462"/>
          <p:cNvSpPr/>
          <p:nvPr/>
        </p:nvSpPr>
        <p:spPr>
          <a:xfrm>
            <a:off x="1371600" y="2038350"/>
            <a:ext cx="1143000" cy="1143000"/>
          </a:xfrm>
          <a:prstGeom prst="rect">
            <a:avLst/>
          </a:prstGeom>
          <a:solidFill>
            <a:srgbClr val="474E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638300" y="2476500"/>
            <a:ext cx="6096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725">
                <a:solidFill>
                  <a:srgbClr val="F2F3F5"/>
                </a:solidFill>
                <a:latin typeface="Consolas"/>
                <a:ea typeface="Consolas"/>
              </a:rPr>
              <a:t>0.225</a:t>
            </a:r>
            <a:endParaRPr/>
          </a:p>
        </p:txBody>
      </p:sp>
      <p:sp>
        <p:nvSpPr>
          <p:cNvPr id="465" name="矩形 464"/>
          <p:cNvSpPr/>
          <p:nvPr/>
        </p:nvSpPr>
        <p:spPr>
          <a:xfrm>
            <a:off x="2562225" y="2038350"/>
            <a:ext cx="1143000" cy="1143000"/>
          </a:xfrm>
          <a:prstGeom prst="rect">
            <a:avLst/>
          </a:prstGeom>
          <a:solidFill>
            <a:srgbClr val="474E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2771775" y="2476500"/>
            <a:ext cx="7239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725">
                <a:solidFill>
                  <a:srgbClr val="F2F3F5"/>
                </a:solidFill>
                <a:latin typeface="Consolas"/>
                <a:ea typeface="Consolas"/>
              </a:rPr>
              <a:t>-0.268</a:t>
            </a:r>
            <a:endParaRPr/>
          </a:p>
        </p:txBody>
      </p:sp>
      <p:sp>
        <p:nvSpPr>
          <p:cNvPr id="467" name="矩形 466"/>
          <p:cNvSpPr/>
          <p:nvPr/>
        </p:nvSpPr>
        <p:spPr>
          <a:xfrm>
            <a:off x="3752850" y="2038350"/>
            <a:ext cx="1143000" cy="11430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8" name="文本框 467" descr="{&quot;isTemplate&quot;:true,&quot;type&quot;:&quot;text&quot;}"/>
          <p:cNvSpPr txBox="1"/>
          <p:nvPr/>
        </p:nvSpPr>
        <p:spPr>
          <a:xfrm>
            <a:off x="3962400" y="2476500"/>
            <a:ext cx="7239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725">
                <a:solidFill>
                  <a:srgbClr val="1F232A"/>
                </a:solidFill>
                <a:latin typeface="Consolas"/>
                <a:ea typeface="Consolas"/>
              </a:rPr>
              <a:t>12.848</a:t>
            </a:r>
            <a:endParaRPr/>
          </a:p>
        </p:txBody>
      </p:sp>
      <p:sp>
        <p:nvSpPr>
          <p:cNvPr id="469" name="矩形 468"/>
          <p:cNvSpPr/>
          <p:nvPr/>
        </p:nvSpPr>
        <p:spPr>
          <a:xfrm>
            <a:off x="1371600" y="3228975"/>
            <a:ext cx="1143000" cy="1143000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1581150" y="3667125"/>
            <a:ext cx="7239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725" dirty="0">
                <a:solidFill>
                  <a:srgbClr val="767D89"/>
                </a:solidFill>
                <a:latin typeface="Consolas"/>
                <a:ea typeface="Consolas"/>
              </a:rPr>
              <a:t>0.000</a:t>
            </a:r>
            <a:endParaRPr dirty="0"/>
          </a:p>
        </p:txBody>
      </p:sp>
      <p:sp>
        <p:nvSpPr>
          <p:cNvPr id="471" name="矩形 470"/>
          <p:cNvSpPr/>
          <p:nvPr/>
        </p:nvSpPr>
        <p:spPr>
          <a:xfrm>
            <a:off x="2562225" y="3228975"/>
            <a:ext cx="1143000" cy="1143000"/>
          </a:xfrm>
          <a:prstGeom prst="rect">
            <a:avLst/>
          </a:prstGeom>
          <a:solidFill>
            <a:srgbClr val="474E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2828925" y="3667125"/>
            <a:ext cx="6096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725">
                <a:solidFill>
                  <a:srgbClr val="F2F3F5"/>
                </a:solidFill>
                <a:latin typeface="Consolas"/>
                <a:ea typeface="Consolas"/>
              </a:rPr>
              <a:t>0.025</a:t>
            </a:r>
            <a:endParaRPr/>
          </a:p>
        </p:txBody>
      </p:sp>
      <p:sp>
        <p:nvSpPr>
          <p:cNvPr id="473" name="矩形 472"/>
          <p:cNvSpPr/>
          <p:nvPr/>
        </p:nvSpPr>
        <p:spPr>
          <a:xfrm>
            <a:off x="3752850" y="3228975"/>
            <a:ext cx="1143000" cy="1143000"/>
          </a:xfrm>
          <a:prstGeom prst="rect">
            <a:avLst/>
          </a:prstGeom>
          <a:solidFill>
            <a:srgbClr val="FF8F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4019550" y="3667125"/>
            <a:ext cx="6096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725">
                <a:solidFill>
                  <a:srgbClr val="1F232A"/>
                </a:solidFill>
                <a:latin typeface="Consolas"/>
                <a:ea typeface="Consolas"/>
              </a:rPr>
              <a:t>5.810</a:t>
            </a:r>
            <a:endParaRPr/>
          </a:p>
        </p:txBody>
      </p:sp>
      <p:sp>
        <p:nvSpPr>
          <p:cNvPr id="475" name="矩形 474"/>
          <p:cNvSpPr/>
          <p:nvPr/>
        </p:nvSpPr>
        <p:spPr>
          <a:xfrm>
            <a:off x="1371600" y="4419600"/>
            <a:ext cx="1143000" cy="1143000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1581150" y="4857750"/>
            <a:ext cx="7239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725" dirty="0">
                <a:solidFill>
                  <a:srgbClr val="767D89"/>
                </a:solidFill>
                <a:latin typeface="Consolas"/>
                <a:ea typeface="Consolas"/>
              </a:rPr>
              <a:t>0.000</a:t>
            </a:r>
            <a:endParaRPr dirty="0"/>
          </a:p>
        </p:txBody>
      </p:sp>
      <p:sp>
        <p:nvSpPr>
          <p:cNvPr id="477" name="矩形 476"/>
          <p:cNvSpPr/>
          <p:nvPr/>
        </p:nvSpPr>
        <p:spPr>
          <a:xfrm>
            <a:off x="2562225" y="4419600"/>
            <a:ext cx="1143000" cy="1143000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8" name="文本框 477" descr="{&quot;isTemplate&quot;:true,&quot;type&quot;:&quot;text&quot;}"/>
          <p:cNvSpPr txBox="1"/>
          <p:nvPr/>
        </p:nvSpPr>
        <p:spPr>
          <a:xfrm>
            <a:off x="2771775" y="4857750"/>
            <a:ext cx="7239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725">
                <a:solidFill>
                  <a:srgbClr val="767D89"/>
                </a:solidFill>
                <a:latin typeface="Consolas"/>
                <a:ea typeface="Consolas"/>
              </a:rPr>
              <a:t>-0.003</a:t>
            </a:r>
            <a:endParaRPr/>
          </a:p>
        </p:txBody>
      </p:sp>
      <p:sp>
        <p:nvSpPr>
          <p:cNvPr id="479" name="矩形 478"/>
          <p:cNvSpPr/>
          <p:nvPr/>
        </p:nvSpPr>
        <p:spPr>
          <a:xfrm>
            <a:off x="3752850" y="4419600"/>
            <a:ext cx="1143000" cy="1143000"/>
          </a:xfrm>
          <a:prstGeom prst="rect">
            <a:avLst/>
          </a:prstGeom>
          <a:solidFill>
            <a:srgbClr val="FFB2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0" name="文本框 479" descr="{&quot;isTemplate&quot;:true,&quot;type&quot;:&quot;text&quot;}"/>
          <p:cNvSpPr txBox="1"/>
          <p:nvPr/>
        </p:nvSpPr>
        <p:spPr>
          <a:xfrm>
            <a:off x="4019550" y="4857750"/>
            <a:ext cx="6096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725">
                <a:solidFill>
                  <a:srgbClr val="1F232A"/>
                </a:solidFill>
                <a:latin typeface="Consolas"/>
                <a:ea typeface="Consolas"/>
              </a:rPr>
              <a:t>0.351</a:t>
            </a:r>
            <a:endParaRPr/>
          </a:p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1371600" y="5781675"/>
            <a:ext cx="356235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350" dirty="0">
                <a:solidFill>
                  <a:srgbClr val="9AA1AC"/>
                </a:solidFill>
                <a:latin typeface="Microsoft YaHei"/>
                <a:ea typeface="Microsoft YaHei"/>
              </a:rPr>
              <a:t>这</a:t>
            </a:r>
            <a:r>
              <a:rPr lang="en-US" sz="1350" dirty="0">
                <a:solidFill>
                  <a:srgbClr val="9AA1AC"/>
                </a:solidFill>
                <a:latin typeface="Microsoft YaHei"/>
                <a:ea typeface="Microsoft YaHei"/>
              </a:rPr>
              <a:t> 9 </a:t>
            </a:r>
            <a:r>
              <a:rPr lang="zh-CN" sz="1350" dirty="0">
                <a:solidFill>
                  <a:srgbClr val="9AA1AC"/>
                </a:solidFill>
                <a:latin typeface="Microsoft YaHei"/>
                <a:ea typeface="Microsoft YaHei"/>
              </a:rPr>
              <a:t>个数是标定出来的。</a:t>
            </a:r>
            <a:r>
              <a:rPr lang="zh-CN" sz="1350" b="1" dirty="0">
                <a:solidFill>
                  <a:schemeClr val="bg2">
                    <a:lumMod val="90000"/>
                  </a:schemeClr>
                </a:solidFill>
                <a:latin typeface="Microsoft YaHei"/>
                <a:ea typeface="Microsoft YaHei"/>
              </a:rPr>
              <a:t>左边两格</a:t>
            </a:r>
            <a:r>
              <a:rPr lang="zh-CN" altLang="en-US" sz="1350" b="1" dirty="0">
                <a:solidFill>
                  <a:schemeClr val="bg2">
                    <a:lumMod val="90000"/>
                  </a:schemeClr>
                </a:solidFill>
                <a:latin typeface="Microsoft YaHei"/>
                <a:ea typeface="Microsoft YaHei"/>
              </a:rPr>
              <a:t>为</a:t>
            </a:r>
            <a:r>
              <a:rPr lang="en-US" sz="1350" b="1" dirty="0">
                <a:solidFill>
                  <a:schemeClr val="bg2">
                    <a:lumMod val="90000"/>
                  </a:schemeClr>
                </a:solidFill>
                <a:latin typeface="Microsoft YaHei"/>
                <a:ea typeface="Microsoft YaHei"/>
              </a:rPr>
              <a:t>0</a:t>
            </a:r>
            <a:r>
              <a:rPr lang="zh-CN" sz="1350" dirty="0">
                <a:solidFill>
                  <a:srgbClr val="9AA1AC"/>
                </a:solidFill>
                <a:latin typeface="Microsoft YaHei"/>
                <a:ea typeface="Microsoft YaHei"/>
              </a:rPr>
              <a:t>，</a:t>
            </a:r>
            <a:r>
              <a:rPr lang="zh-CN" altLang="en-US" sz="1350" dirty="0">
                <a:solidFill>
                  <a:srgbClr val="9AA1AC"/>
                </a:solidFill>
                <a:latin typeface="Microsoft YaHei"/>
                <a:ea typeface="Microsoft YaHei"/>
              </a:rPr>
              <a:t>说明</a:t>
            </a:r>
            <a:r>
              <a:rPr lang="zh-CN" sz="1350" dirty="0">
                <a:solidFill>
                  <a:srgbClr val="9AA1AC"/>
                </a:solidFill>
                <a:latin typeface="Microsoft YaHei"/>
                <a:ea typeface="Microsoft YaHei"/>
              </a:rPr>
              <a:t>相机只低头，不歪头也不偏头。</a:t>
            </a:r>
            <a:endParaRPr dirty="0"/>
          </a:p>
        </p:txBody>
      </p:sp>
      <p:sp>
        <p:nvSpPr>
          <p:cNvPr id="482" name="文本框 481" descr="{&quot;isTemplate&quot;:true,&quot;type&quot;:&quot;text&quot;}"/>
          <p:cNvSpPr txBox="1"/>
          <p:nvPr/>
        </p:nvSpPr>
        <p:spPr>
          <a:xfrm>
            <a:off x="5410200" y="2152650"/>
            <a:ext cx="2667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>
                <a:solidFill>
                  <a:srgbClr val="F2F3F5"/>
                </a:solidFill>
                <a:latin typeface="Consolas"/>
                <a:ea typeface="Consolas"/>
              </a:rPr>
              <a:t>x</a:t>
            </a:r>
            <a:endParaRPr/>
          </a:p>
        </p:txBody>
      </p:sp>
      <p:sp>
        <p:nvSpPr>
          <p:cNvPr id="483" name="文本框 482" descr="{&quot;isTemplate&quot;:true,&quot;type&quot;:&quot;text&quot;}"/>
          <p:cNvSpPr txBox="1"/>
          <p:nvPr/>
        </p:nvSpPr>
        <p:spPr>
          <a:xfrm>
            <a:off x="5676900" y="2152650"/>
            <a:ext cx="3619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>
                <a:solidFill>
                  <a:srgbClr val="9AA1AC"/>
                </a:solidFill>
                <a:latin typeface="Consolas"/>
                <a:ea typeface="Consolas"/>
              </a:rPr>
              <a:t>=</a:t>
            </a:r>
            <a:endParaRPr/>
          </a:p>
        </p:txBody>
      </p:sp>
      <p:sp>
        <p:nvSpPr>
          <p:cNvPr id="484" name="文本框 483" descr="{&quot;isTemplate&quot;:true,&quot;type&quot;:&quot;text&quot;}"/>
          <p:cNvSpPr txBox="1"/>
          <p:nvPr/>
        </p:nvSpPr>
        <p:spPr>
          <a:xfrm>
            <a:off x="6038850" y="1933575"/>
            <a:ext cx="24955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>
                <a:solidFill>
                  <a:srgbClr val="C9CED6"/>
                </a:solidFill>
                <a:latin typeface="Consolas"/>
                <a:ea typeface="Consolas"/>
              </a:rPr>
              <a:t>h₀₀·i + h₀₁·j + h₀₂</a:t>
            </a:r>
            <a:endParaRPr/>
          </a:p>
        </p:txBody>
      </p:sp>
      <p:sp>
        <p:nvSpPr>
          <p:cNvPr id="485" name="矩形 484"/>
          <p:cNvSpPr/>
          <p:nvPr/>
        </p:nvSpPr>
        <p:spPr>
          <a:xfrm>
            <a:off x="6038850" y="2314575"/>
            <a:ext cx="2095500" cy="19050"/>
          </a:xfrm>
          <a:prstGeom prst="rect">
            <a:avLst/>
          </a:prstGeom>
          <a:solidFill>
            <a:srgbClr val="7A82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6038850" y="2428875"/>
            <a:ext cx="24955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>
                <a:solidFill>
                  <a:srgbClr val="FFB27A"/>
                </a:solidFill>
                <a:latin typeface="Consolas"/>
                <a:ea typeface="Consolas"/>
              </a:rPr>
              <a:t>h₂₀·i + h₂₁·j + h₂₂</a:t>
            </a:r>
            <a:endParaRPr/>
          </a:p>
        </p:txBody>
      </p:sp>
      <p:sp>
        <p:nvSpPr>
          <p:cNvPr id="487" name="文本框 486" descr="{&quot;isTemplate&quot;:true,&quot;type&quot;:&quot;text&quot;}"/>
          <p:cNvSpPr txBox="1"/>
          <p:nvPr/>
        </p:nvSpPr>
        <p:spPr>
          <a:xfrm>
            <a:off x="5410200" y="3143250"/>
            <a:ext cx="2667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>
                <a:solidFill>
                  <a:srgbClr val="F2F3F5"/>
                </a:solidFill>
                <a:latin typeface="Consolas"/>
                <a:ea typeface="Consolas"/>
              </a:rPr>
              <a:t>y</a:t>
            </a:r>
            <a:endParaRPr/>
          </a:p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676900" y="3143250"/>
            <a:ext cx="3619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>
                <a:solidFill>
                  <a:srgbClr val="9AA1AC"/>
                </a:solidFill>
                <a:latin typeface="Consolas"/>
                <a:ea typeface="Consolas"/>
              </a:rPr>
              <a:t>=</a:t>
            </a:r>
            <a:endParaRPr/>
          </a:p>
        </p:txBody>
      </p:sp>
      <p:sp>
        <p:nvSpPr>
          <p:cNvPr id="489" name="文本框 488" descr="{&quot;isTemplate&quot;:true,&quot;type&quot;:&quot;text&quot;}"/>
          <p:cNvSpPr txBox="1"/>
          <p:nvPr/>
        </p:nvSpPr>
        <p:spPr>
          <a:xfrm>
            <a:off x="6038850" y="2924175"/>
            <a:ext cx="24955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>
                <a:solidFill>
                  <a:srgbClr val="C9CED6"/>
                </a:solidFill>
                <a:latin typeface="Consolas"/>
                <a:ea typeface="Consolas"/>
              </a:rPr>
              <a:t>h₁₀·i + h₁₁·j + h₁₂</a:t>
            </a:r>
            <a:endParaRPr/>
          </a:p>
        </p:txBody>
      </p:sp>
      <p:sp>
        <p:nvSpPr>
          <p:cNvPr id="490" name="矩形 489"/>
          <p:cNvSpPr/>
          <p:nvPr/>
        </p:nvSpPr>
        <p:spPr>
          <a:xfrm>
            <a:off x="6038850" y="3305175"/>
            <a:ext cx="2095500" cy="19050"/>
          </a:xfrm>
          <a:prstGeom prst="rect">
            <a:avLst/>
          </a:prstGeom>
          <a:solidFill>
            <a:srgbClr val="7A82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1" name="文本框 490" descr="{&quot;isTemplate&quot;:true,&quot;type&quot;:&quot;text&quot;}"/>
          <p:cNvSpPr txBox="1"/>
          <p:nvPr/>
        </p:nvSpPr>
        <p:spPr>
          <a:xfrm>
            <a:off x="6038850" y="3419475"/>
            <a:ext cx="24955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 dirty="0">
                <a:solidFill>
                  <a:srgbClr val="FFB27A"/>
                </a:solidFill>
                <a:latin typeface="Consolas"/>
                <a:ea typeface="Consolas"/>
              </a:rPr>
              <a:t>h₂₀·</a:t>
            </a:r>
            <a:r>
              <a:rPr lang="en-US" sz="1875" dirty="0" err="1">
                <a:solidFill>
                  <a:srgbClr val="FFB27A"/>
                </a:solidFill>
                <a:latin typeface="Consolas"/>
                <a:ea typeface="Consolas"/>
              </a:rPr>
              <a:t>i</a:t>
            </a:r>
            <a:r>
              <a:rPr lang="en-US" sz="1875" dirty="0">
                <a:solidFill>
                  <a:srgbClr val="FFB27A"/>
                </a:solidFill>
                <a:latin typeface="Consolas"/>
                <a:ea typeface="Consolas"/>
              </a:rPr>
              <a:t> + h₂₁·j + h₂₂</a:t>
            </a:r>
            <a:endParaRPr dirty="0"/>
          </a:p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410200" y="4029075"/>
            <a:ext cx="5943600" cy="1466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5000"/>
              </a:lnSpc>
            </a:pP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矩阵乘一次得到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x‘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、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y’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、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w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，这两个式子就是除完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w 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的结果。一个像素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6 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次乘法、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6 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次加法、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1 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次除法</a:t>
            </a:r>
            <a:r>
              <a:rPr lang="zh-CN" alt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，实时计算明显不现实。</a:t>
            </a:r>
            <a:endParaRPr dirty="0"/>
          </a:p>
        </p:txBody>
      </p:sp>
      <p:sp>
        <p:nvSpPr>
          <p:cNvPr id="493" name="文本框 492" descr="{&quot;isTemplate&quot;:true,&quot;type&quot;:&quot;text&quot;}"/>
          <p:cNvSpPr txBox="1"/>
          <p:nvPr/>
        </p:nvSpPr>
        <p:spPr>
          <a:xfrm>
            <a:off x="5410200" y="5724525"/>
            <a:ext cx="5943600" cy="514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altLang="en-US" sz="2100" b="1" dirty="0">
                <a:solidFill>
                  <a:srgbClr val="FF8F4D"/>
                </a:solidFill>
                <a:latin typeface="Microsoft YaHei"/>
                <a:ea typeface="Microsoft YaHei"/>
              </a:rPr>
              <a:t>必须使用懒映射，</a:t>
            </a:r>
            <a:r>
              <a:rPr lang="zh-CN" sz="2100" b="1" dirty="0">
                <a:solidFill>
                  <a:srgbClr val="FF8F4D"/>
                </a:solidFill>
                <a:latin typeface="Microsoft YaHei"/>
                <a:ea typeface="Microsoft YaHei"/>
              </a:rPr>
              <a:t>只在上电时跑一次</a:t>
            </a:r>
            <a:r>
              <a:rPr lang="zh-CN" altLang="en-US" sz="2100" b="1" dirty="0">
                <a:solidFill>
                  <a:srgbClr val="FF8F4D"/>
                </a:solidFill>
                <a:latin typeface="Microsoft YaHei"/>
                <a:ea typeface="Microsoft YaHei"/>
              </a:rPr>
              <a:t>，读取时不能重算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矩形 4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逆透视</a:t>
            </a:r>
            <a:r>
              <a:rPr lang="en-US" alt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——</a:t>
            </a:r>
            <a:r>
              <a:rPr 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基准实现：指针表</a:t>
            </a:r>
            <a:endParaRPr dirty="0"/>
          </a:p>
        </p:txBody>
      </p:sp>
      <p:sp>
        <p:nvSpPr>
          <p:cNvPr id="499" name="矩形 498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0" name="矩形 499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7543800" y="1752600"/>
            <a:ext cx="3810000" cy="981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5000"/>
              </a:lnSpc>
            </a:pP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上电时把每一格的</a:t>
            </a:r>
            <a:r>
              <a:rPr lang="zh-CN" sz="1725" b="1" dirty="0">
                <a:solidFill>
                  <a:srgbClr val="C9CED6"/>
                </a:solidFill>
                <a:latin typeface="Microsoft YaHei"/>
                <a:ea typeface="Microsoft YaHei"/>
              </a:rPr>
              <a:t>地址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算一遍存进表里，运行时一次解引用就拿到像素。</a:t>
            </a:r>
            <a:endParaRPr dirty="0"/>
          </a:p>
        </p:txBody>
      </p:sp>
      <p:sp>
        <p:nvSpPr>
          <p:cNvPr id="502" name="文本框 501" descr="{&quot;isTemplate&quot;:true,&quot;type&quot;:&quot;text&quot;}"/>
          <p:cNvSpPr txBox="1"/>
          <p:nvPr/>
        </p:nvSpPr>
        <p:spPr>
          <a:xfrm>
            <a:off x="7543800" y="2943225"/>
            <a:ext cx="3810000" cy="1466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5000"/>
              </a:lnSpc>
            </a:pP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越界格全部指向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</a:t>
            </a:r>
            <a:r>
              <a:rPr lang="en-US" sz="1725" dirty="0" err="1">
                <a:solidFill>
                  <a:srgbClr val="C9CED6"/>
                </a:solidFill>
                <a:latin typeface="Microsoft YaHei"/>
                <a:ea typeface="Microsoft YaHei"/>
              </a:rPr>
              <a:t>BlackColor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，内层循环一个判断都不用加。代价是看不出哪一格无效。</a:t>
            </a:r>
            <a:endParaRPr dirty="0"/>
          </a:p>
        </p:txBody>
      </p:sp>
      <p:sp>
        <p:nvSpPr>
          <p:cNvPr id="503" name="矩形 502"/>
          <p:cNvSpPr/>
          <p:nvPr/>
        </p:nvSpPr>
        <p:spPr>
          <a:xfrm>
            <a:off x="7543800" y="4695825"/>
            <a:ext cx="571500" cy="2857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4" name="文本框 503" descr="{&quot;isTemplate&quot;:true,&quot;type&quot;:&quot;text&quot;}"/>
          <p:cNvSpPr txBox="1"/>
          <p:nvPr/>
        </p:nvSpPr>
        <p:spPr>
          <a:xfrm>
            <a:off x="8482012" y="4922520"/>
            <a:ext cx="1419225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6A13"/>
                </a:solidFill>
                <a:latin typeface="Microsoft YaHei"/>
                <a:ea typeface="Microsoft YaHei"/>
              </a:rPr>
              <a:t>90240</a:t>
            </a:r>
            <a:endParaRPr dirty="0"/>
          </a:p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9996487" y="4922520"/>
            <a:ext cx="13335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dirty="0">
                <a:solidFill>
                  <a:srgbClr val="9AA1AC"/>
                </a:solidFill>
                <a:latin typeface="Microsoft YaHei"/>
                <a:ea typeface="Microsoft YaHei"/>
              </a:rPr>
              <a:t>B</a:t>
            </a:r>
            <a:endParaRPr dirty="0"/>
          </a:p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838200" y="6305550"/>
            <a:ext cx="63246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9AA1AC"/>
                </a:solidFill>
                <a:latin typeface="Microsoft YaHei"/>
                <a:ea typeface="Microsoft YaHei"/>
              </a:rPr>
              <a:t>出处：</a:t>
            </a:r>
            <a:r>
              <a:rPr lang="en-US" sz="1500" dirty="0">
                <a:solidFill>
                  <a:srgbClr val="9AA1AC"/>
                </a:solidFill>
                <a:latin typeface="Microsoft YaHei"/>
                <a:ea typeface="Microsoft YaHei"/>
              </a:rPr>
              <a:t>github.com/</a:t>
            </a:r>
            <a:r>
              <a:rPr lang="en-US" sz="1500" dirty="0" err="1">
                <a:solidFill>
                  <a:srgbClr val="9AA1AC"/>
                </a:solidFill>
                <a:latin typeface="Microsoft YaHei"/>
                <a:ea typeface="Microsoft YaHei"/>
              </a:rPr>
              <a:t>losehu</a:t>
            </a:r>
            <a:r>
              <a:rPr lang="en-US" sz="1500" dirty="0">
                <a:solidFill>
                  <a:srgbClr val="9AA1AC"/>
                </a:solidFill>
                <a:latin typeface="Microsoft YaHei"/>
                <a:ea typeface="Microsoft YaHei"/>
              </a:rPr>
              <a:t>/RUBO-UDIPM </a:t>
            </a:r>
            <a:r>
              <a:rPr lang="zh-CN" sz="1500" dirty="0">
                <a:solidFill>
                  <a:srgbClr val="9AA1AC"/>
                </a:solidFill>
                <a:latin typeface="Microsoft YaHei"/>
                <a:ea typeface="Microsoft YaHei"/>
              </a:rPr>
              <a:t>｜</a:t>
            </a:r>
            <a:r>
              <a:rPr lang="en-US" sz="1500" dirty="0">
                <a:solidFill>
                  <a:srgbClr val="9AA1AC"/>
                </a:solidFill>
                <a:latin typeface="Microsoft YaHei"/>
                <a:ea typeface="Microsoft YaHei"/>
              </a:rPr>
              <a:t> </a:t>
            </a:r>
            <a:r>
              <a:rPr lang="zh-CN" sz="1500" dirty="0">
                <a:solidFill>
                  <a:srgbClr val="9AA1AC"/>
                </a:solidFill>
                <a:latin typeface="Microsoft YaHei"/>
                <a:ea typeface="Microsoft YaHei"/>
              </a:rPr>
              <a:t>中文讲解：</a:t>
            </a:r>
            <a:r>
              <a:rPr lang="en-US" sz="1500" dirty="0">
                <a:solidFill>
                  <a:srgbClr val="9AA1AC"/>
                </a:solidFill>
                <a:latin typeface="Microsoft YaHei"/>
                <a:ea typeface="Microsoft YaHei"/>
              </a:rPr>
              <a:t>CSDN wu58430</a:t>
            </a:r>
            <a:endParaRPr dirty="0"/>
          </a:p>
        </p:txBody>
      </p:sp>
      <p:sp>
        <p:nvSpPr>
          <p:cNvPr id="508" name="矩形: 圆角 507"/>
          <p:cNvSpPr/>
          <p:nvPr/>
        </p:nvSpPr>
        <p:spPr>
          <a:xfrm>
            <a:off x="838200" y="1495425"/>
            <a:ext cx="6286500" cy="4591050"/>
          </a:xfrm>
          <a:prstGeom prst="roundRect">
            <a:avLst>
              <a:gd name="adj" fmla="val 1660"/>
            </a:avLst>
          </a:prstGeom>
          <a:solidFill>
            <a:srgbClr val="2B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9" name="文本框 508"/>
          <p:cNvSpPr txBox="1"/>
          <p:nvPr/>
        </p:nvSpPr>
        <p:spPr>
          <a:xfrm>
            <a:off x="990600" y="1628775"/>
            <a:ext cx="5981700" cy="432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uint</a:t>
            </a:r>
            <a:r>
              <a:rPr lang="en-US" sz="1350" dirty="0">
                <a:solidFill>
                  <a:srgbClr val="F97583"/>
                </a:solidFill>
                <a:latin typeface="Menlo"/>
                <a:ea typeface="Menlo"/>
              </a:rPr>
              <a:t>8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_t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350" dirty="0" err="1">
                <a:solidFill>
                  <a:srgbClr val="FFAB70"/>
                </a:solidFill>
                <a:latin typeface="Menlo"/>
                <a:ea typeface="Menlo"/>
              </a:rPr>
              <a:t>PerImg_ip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[RESULT_ROW][RESULT_COL];</a:t>
            </a:r>
            <a:r>
              <a:rPr sz="1350" dirty="0">
                <a:solidFill>
                  <a:srgbClr val="6A737D"/>
                </a:solidFill>
                <a:latin typeface="Menlo"/>
                <a:ea typeface="Menlo"/>
              </a:rPr>
              <a:t>   // 90240 B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void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 err="1">
                <a:solidFill>
                  <a:srgbClr val="B392F0"/>
                </a:solidFill>
                <a:latin typeface="Menlo"/>
                <a:ea typeface="Menlo"/>
              </a:rPr>
              <a:t>ImagePerspective_Init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void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(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int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i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; 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i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&lt;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RESULT_COL; 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i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++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 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(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int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j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; j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&lt;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RESULT_ROW; 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j</a:t>
            </a:r>
            <a:r>
              <a:rPr sz="1350" dirty="0" err="1">
                <a:solidFill>
                  <a:srgbClr val="F97583"/>
                </a:solidFill>
                <a:latin typeface="Menlo"/>
                <a:ea typeface="Menlo"/>
              </a:rPr>
              <a:t>++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   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int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lx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350" dirty="0">
                <a:solidFill>
                  <a:srgbClr val="6A737D"/>
                </a:solidFill>
                <a:latin typeface="Menlo"/>
                <a:ea typeface="Menlo"/>
              </a:rPr>
              <a:t> /* </a:t>
            </a:r>
            <a:r>
              <a:rPr sz="1350" dirty="0" err="1">
                <a:solidFill>
                  <a:srgbClr val="6A737D"/>
                </a:solidFill>
                <a:latin typeface="Menlo"/>
                <a:ea typeface="Menlo"/>
              </a:rPr>
              <a:t>单应式求</a:t>
            </a:r>
            <a:r>
              <a:rPr sz="1350" dirty="0">
                <a:solidFill>
                  <a:srgbClr val="6A737D"/>
                </a:solidFill>
                <a:latin typeface="Menlo"/>
                <a:ea typeface="Menlo"/>
              </a:rPr>
              <a:t> x */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   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int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ly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350" dirty="0">
                <a:solidFill>
                  <a:srgbClr val="6A737D"/>
                </a:solidFill>
                <a:latin typeface="Menlo"/>
                <a:ea typeface="Menlo"/>
              </a:rPr>
              <a:t> /* </a:t>
            </a:r>
            <a:r>
              <a:rPr sz="1350" dirty="0" err="1">
                <a:solidFill>
                  <a:srgbClr val="6A737D"/>
                </a:solidFill>
                <a:latin typeface="Menlo"/>
                <a:ea typeface="Menlo"/>
              </a:rPr>
              <a:t>单应式求</a:t>
            </a:r>
            <a:r>
              <a:rPr sz="1350" dirty="0">
                <a:solidFill>
                  <a:srgbClr val="6A737D"/>
                </a:solidFill>
                <a:latin typeface="Menlo"/>
                <a:ea typeface="Menlo"/>
              </a:rPr>
              <a:t> y */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   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(lx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&gt;=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&amp;&amp;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ly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&gt;=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&amp;&amp;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ly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&lt;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USED_ROW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&amp;&amp;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lx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&lt;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USED_COL)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      </a:t>
            </a:r>
            <a:r>
              <a:rPr sz="1350" dirty="0" err="1">
                <a:solidFill>
                  <a:srgbClr val="FFAB70"/>
                </a:solidFill>
                <a:latin typeface="Menlo"/>
                <a:ea typeface="Menlo"/>
              </a:rPr>
              <a:t>PerImg_ip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[j][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i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]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&amp;</a:t>
            </a:r>
            <a:r>
              <a:rPr sz="1350" dirty="0">
                <a:solidFill>
                  <a:srgbClr val="FFAB70"/>
                </a:solidFill>
                <a:latin typeface="Menlo"/>
                <a:ea typeface="Menlo"/>
              </a:rPr>
              <a:t>PER_IMG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ly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][lx];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   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else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      </a:t>
            </a:r>
            <a:r>
              <a:rPr sz="1350" dirty="0" err="1">
                <a:solidFill>
                  <a:srgbClr val="FFAB70"/>
                </a:solidFill>
                <a:latin typeface="Menlo"/>
                <a:ea typeface="Menlo"/>
              </a:rPr>
              <a:t>PerImg_ip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[j][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i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]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&amp;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BlackColor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  }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350" dirty="0" err="1">
                <a:solidFill>
                  <a:srgbClr val="FFAB70"/>
                </a:solidFill>
                <a:latin typeface="Menlo"/>
                <a:ea typeface="Menlo"/>
              </a:rPr>
              <a:t>PerImg_ip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[row][col];</a:t>
            </a:r>
            <a:endParaRPr dirty="0"/>
          </a:p>
        </p:txBody>
      </p:sp>
      <p:sp>
        <p:nvSpPr>
          <p:cNvPr id="4" name="文本框 3" descr="{&quot;isTemplate&quot;:true,&quot;type&quot;:&quot;text&quot;}">
            <a:extLst>
              <a:ext uri="{FF2B5EF4-FFF2-40B4-BE49-F238E27FC236}">
                <a16:creationId xmlns:a16="http://schemas.microsoft.com/office/drawing/2014/main" id="{F07EE435-BCA0-2B93-8740-5F9C6990A734}"/>
              </a:ext>
            </a:extLst>
          </p:cNvPr>
          <p:cNvSpPr txBox="1"/>
          <p:nvPr/>
        </p:nvSpPr>
        <p:spPr>
          <a:xfrm>
            <a:off x="7491412" y="4986817"/>
            <a:ext cx="990600" cy="32670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9AA1AC"/>
                </a:solidFill>
                <a:latin typeface="Microsoft YaHei"/>
                <a:ea typeface="Microsoft YaHei"/>
              </a:rPr>
              <a:t>占用空间</a:t>
            </a:r>
            <a:endParaRPr sz="2400" dirty="0"/>
          </a:p>
        </p:txBody>
      </p:sp>
      <p:sp>
        <p:nvSpPr>
          <p:cNvPr id="5" name="文本框 4" descr="{&quot;isTemplate&quot;:true,&quot;type&quot;:&quot;text&quot;}">
            <a:extLst>
              <a:ext uri="{FF2B5EF4-FFF2-40B4-BE49-F238E27FC236}">
                <a16:creationId xmlns:a16="http://schemas.microsoft.com/office/drawing/2014/main" id="{213583BE-34FF-BAA5-5247-DE97D91E3F7A}"/>
              </a:ext>
            </a:extLst>
          </p:cNvPr>
          <p:cNvSpPr txBox="1"/>
          <p:nvPr/>
        </p:nvSpPr>
        <p:spPr>
          <a:xfrm>
            <a:off x="10063162" y="5198745"/>
            <a:ext cx="990600" cy="32670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rgbClr val="9AA1AC"/>
                </a:solidFill>
                <a:latin typeface="Microsoft YaHei"/>
                <a:ea typeface="Microsoft YaHei"/>
              </a:rPr>
              <a:t>（四张图片）</a:t>
            </a:r>
            <a:endParaRPr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现状</a:t>
            </a:r>
            <a:r>
              <a:rPr lang="en-US" alt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——</a:t>
            </a: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片上内存</a:t>
            </a:r>
            <a:r>
              <a:rPr 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装不下</a:t>
            </a: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“六张图片”</a:t>
            </a:r>
            <a:endParaRPr dirty="0"/>
          </a:p>
        </p:txBody>
      </p:sp>
      <p:sp>
        <p:nvSpPr>
          <p:cNvPr id="21" name="矩形 20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矩形 21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矩形 22"/>
          <p:cNvSpPr/>
          <p:nvPr/>
        </p:nvSpPr>
        <p:spPr>
          <a:xfrm>
            <a:off x="838200" y="3086100"/>
            <a:ext cx="4533900" cy="1905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838200" y="3219450"/>
            <a:ext cx="45720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dirty="0">
                <a:solidFill>
                  <a:srgbClr val="FF6A13"/>
                </a:solidFill>
                <a:latin typeface="Microsoft YaHei"/>
                <a:ea typeface="Microsoft YaHei"/>
              </a:rPr>
              <a:t>指针表</a:t>
            </a:r>
            <a:r>
              <a:rPr lang="en-US" sz="1650" dirty="0">
                <a:solidFill>
                  <a:srgbClr val="FF6A13"/>
                </a:solidFill>
                <a:latin typeface="Microsoft YaHei"/>
                <a:ea typeface="Microsoft YaHei"/>
              </a:rPr>
              <a:t> 90240 B</a:t>
            </a:r>
            <a:r>
              <a:rPr lang="zh-CN" sz="1650" dirty="0">
                <a:solidFill>
                  <a:srgbClr val="FF6A13"/>
                </a:solidFill>
                <a:latin typeface="Microsoft YaHei"/>
                <a:ea typeface="Microsoft YaHei"/>
              </a:rPr>
              <a:t>，</a:t>
            </a:r>
            <a:r>
              <a:rPr lang="zh-CN" altLang="en-US" sz="1650" dirty="0">
                <a:solidFill>
                  <a:srgbClr val="FF6A13"/>
                </a:solidFill>
                <a:latin typeface="Microsoft YaHei"/>
                <a:ea typeface="Microsoft YaHei"/>
              </a:rPr>
              <a:t>等效</a:t>
            </a:r>
            <a:r>
              <a:rPr lang="zh-CN" sz="1650" dirty="0">
                <a:solidFill>
                  <a:srgbClr val="FF6A13"/>
                </a:solidFill>
                <a:latin typeface="Microsoft YaHei"/>
                <a:ea typeface="Microsoft YaHei"/>
              </a:rPr>
              <a:t>四张图</a:t>
            </a:r>
            <a:endParaRPr dirty="0"/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5772150" y="3086100"/>
            <a:ext cx="4191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9AA1AC"/>
                </a:solidFill>
                <a:latin typeface="Microsoft YaHei"/>
                <a:ea typeface="Microsoft YaHei"/>
              </a:rPr>
              <a:t>图像</a:t>
            </a:r>
            <a:endParaRPr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6600825" y="3086100"/>
            <a:ext cx="1047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9AA1AC"/>
                </a:solidFill>
                <a:latin typeface="Microsoft YaHei"/>
                <a:ea typeface="Microsoft YaHei"/>
              </a:rPr>
              <a:t>第二份缓冲</a:t>
            </a:r>
            <a:endParaRPr/>
          </a:p>
        </p:txBody>
      </p:sp>
      <p:sp>
        <p:nvSpPr>
          <p:cNvPr id="27" name="矩形 26"/>
          <p:cNvSpPr/>
          <p:nvPr/>
        </p:nvSpPr>
        <p:spPr>
          <a:xfrm>
            <a:off x="838200" y="3914775"/>
            <a:ext cx="6477000" cy="26670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矩形 27"/>
          <p:cNvSpPr/>
          <p:nvPr/>
        </p:nvSpPr>
        <p:spPr>
          <a:xfrm>
            <a:off x="7315200" y="3924300"/>
            <a:ext cx="552450" cy="266700"/>
          </a:xfrm>
          <a:prstGeom prst="rect">
            <a:avLst/>
          </a:prstGeom>
          <a:solidFill>
            <a:srgbClr val="FF8F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5995987" y="3933825"/>
            <a:ext cx="10763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dirty="0">
                <a:solidFill>
                  <a:srgbClr val="FF8F4D"/>
                </a:solidFill>
                <a:latin typeface="Microsoft YaHei"/>
                <a:ea typeface="Microsoft YaHei"/>
              </a:rPr>
              <a:t>8.6 KB </a:t>
            </a:r>
            <a:r>
              <a:rPr lang="zh-CN" sz="1575" dirty="0">
                <a:solidFill>
                  <a:srgbClr val="FF8F4D"/>
                </a:solidFill>
                <a:latin typeface="Microsoft YaHei"/>
                <a:ea typeface="Microsoft YaHei"/>
              </a:rPr>
              <a:t>装不下</a:t>
            </a:r>
            <a:endParaRPr dirty="0"/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838200" y="4276725"/>
            <a:ext cx="1143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7216140" y="4338637"/>
            <a:ext cx="6572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dirty="0">
                <a:solidFill>
                  <a:srgbClr val="F2F3F5"/>
                </a:solidFill>
                <a:latin typeface="Microsoft YaHei"/>
                <a:ea typeface="Microsoft YaHei"/>
              </a:rPr>
              <a:t>127 KiB</a:t>
            </a:r>
            <a:endParaRPr dirty="0"/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8553450" y="2143125"/>
            <a:ext cx="28003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9AA1AC"/>
                </a:solidFill>
                <a:latin typeface="Microsoft YaHei"/>
                <a:ea typeface="Microsoft YaHei"/>
              </a:rPr>
              <a:t>需求</a:t>
            </a:r>
            <a:endParaRPr/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8553450" y="2390775"/>
            <a:ext cx="2800350" cy="495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2700" b="1" dirty="0">
                <a:solidFill>
                  <a:srgbClr val="FF6A13"/>
                </a:solidFill>
                <a:latin typeface="Microsoft YaHei"/>
                <a:ea typeface="Microsoft YaHei"/>
              </a:rPr>
              <a:t>135.6 KB</a:t>
            </a:r>
            <a:endParaRPr dirty="0"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8553450" y="3095625"/>
            <a:ext cx="28003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9AA1AC"/>
                </a:solidFill>
                <a:latin typeface="Microsoft YaHei"/>
                <a:ea typeface="Microsoft YaHei"/>
              </a:rPr>
              <a:t>可用</a:t>
            </a:r>
            <a:r>
              <a:rPr lang="zh-CN" altLang="en-US" sz="1500" dirty="0">
                <a:solidFill>
                  <a:srgbClr val="9AA1AC"/>
                </a:solidFill>
                <a:latin typeface="Microsoft YaHei"/>
                <a:ea typeface="Microsoft YaHei"/>
              </a:rPr>
              <a:t>（以</a:t>
            </a:r>
            <a:r>
              <a:rPr lang="en-US" altLang="zh-CN" sz="1500" dirty="0">
                <a:solidFill>
                  <a:srgbClr val="9AA1AC"/>
                </a:solidFill>
                <a:latin typeface="Microsoft YaHei"/>
                <a:ea typeface="Microsoft YaHei"/>
              </a:rPr>
              <a:t>CH32V307</a:t>
            </a:r>
            <a:r>
              <a:rPr lang="zh-CN" altLang="en-US" sz="1500" dirty="0">
                <a:solidFill>
                  <a:srgbClr val="9AA1AC"/>
                </a:solidFill>
                <a:latin typeface="Microsoft YaHei"/>
                <a:ea typeface="Microsoft YaHei"/>
              </a:rPr>
              <a:t>为例）</a:t>
            </a:r>
            <a:endParaRPr dirty="0"/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8553450" y="3343275"/>
            <a:ext cx="2800350" cy="495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2700" b="1" dirty="0">
                <a:solidFill>
                  <a:srgbClr val="F2F3F5"/>
                </a:solidFill>
                <a:latin typeface="Microsoft YaHei"/>
                <a:ea typeface="Microsoft YaHei"/>
              </a:rPr>
              <a:t>127 KiB</a:t>
            </a:r>
            <a:endParaRPr dirty="0"/>
          </a:p>
        </p:txBody>
      </p:sp>
      <p:sp>
        <p:nvSpPr>
          <p:cNvPr id="36" name="矩形 35"/>
          <p:cNvSpPr/>
          <p:nvPr/>
        </p:nvSpPr>
        <p:spPr>
          <a:xfrm>
            <a:off x="8553450" y="4048125"/>
            <a:ext cx="123825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8553450" y="4210050"/>
            <a:ext cx="28003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500" dirty="0">
                <a:solidFill>
                  <a:srgbClr val="9AA1AC"/>
                </a:solidFill>
                <a:latin typeface="Microsoft YaHei"/>
                <a:ea typeface="Microsoft YaHei"/>
              </a:rPr>
              <a:t>剩余</a:t>
            </a:r>
            <a:endParaRPr dirty="0"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8553450" y="4457700"/>
            <a:ext cx="2800350" cy="495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2700" b="1" dirty="0">
                <a:solidFill>
                  <a:srgbClr val="FF8F4D"/>
                </a:solidFill>
                <a:latin typeface="Microsoft YaHei"/>
                <a:ea typeface="Microsoft YaHei"/>
              </a:rPr>
              <a:t>-8.6 KB</a:t>
            </a:r>
            <a:endParaRPr dirty="0"/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554355" y="4729162"/>
            <a:ext cx="10515600" cy="4667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5000"/>
              </a:lnSpc>
            </a:pPr>
            <a:r>
              <a:rPr lang="zh-CN" sz="2000" dirty="0">
                <a:solidFill>
                  <a:srgbClr val="C9CED6"/>
                </a:solidFill>
                <a:latin typeface="Microsoft YaHei"/>
                <a:ea typeface="Microsoft YaHei"/>
              </a:rPr>
              <a:t>常规做法要两份缓冲，</a:t>
            </a:r>
            <a:r>
              <a:rPr lang="en-US" sz="2000" dirty="0">
                <a:solidFill>
                  <a:srgbClr val="C9CED6"/>
                </a:solidFill>
                <a:latin typeface="Microsoft YaHei"/>
                <a:ea typeface="Microsoft YaHei"/>
              </a:rPr>
              <a:t>DMA </a:t>
            </a:r>
            <a:r>
              <a:rPr lang="zh-CN" sz="2000" dirty="0">
                <a:solidFill>
                  <a:srgbClr val="C9CED6"/>
                </a:solidFill>
                <a:latin typeface="Microsoft YaHei"/>
                <a:ea typeface="Microsoft YaHei"/>
              </a:rPr>
              <a:t>写</a:t>
            </a:r>
            <a:r>
              <a:rPr lang="zh-CN" altLang="en-US" sz="2000" dirty="0">
                <a:solidFill>
                  <a:srgbClr val="C9CED6"/>
                </a:solidFill>
                <a:latin typeface="Microsoft YaHei"/>
                <a:ea typeface="Microsoft YaHei"/>
              </a:rPr>
              <a:t>缓冲区</a:t>
            </a:r>
            <a:r>
              <a:rPr lang="zh-CN" sz="2000" dirty="0">
                <a:solidFill>
                  <a:srgbClr val="C9CED6"/>
                </a:solidFill>
                <a:latin typeface="Microsoft YaHei"/>
                <a:ea typeface="Microsoft YaHei"/>
              </a:rPr>
              <a:t>、</a:t>
            </a:r>
            <a:r>
              <a:rPr lang="en-US" sz="2000" dirty="0">
                <a:solidFill>
                  <a:srgbClr val="C9CED6"/>
                </a:solidFill>
                <a:latin typeface="Microsoft YaHei"/>
                <a:ea typeface="Microsoft YaHei"/>
              </a:rPr>
              <a:t>CPU </a:t>
            </a:r>
            <a:r>
              <a:rPr lang="zh-CN" sz="2000" dirty="0">
                <a:solidFill>
                  <a:srgbClr val="C9CED6"/>
                </a:solidFill>
                <a:latin typeface="Microsoft YaHei"/>
                <a:ea typeface="Microsoft YaHei"/>
              </a:rPr>
              <a:t>读另一份，帧中断时</a:t>
            </a:r>
            <a:r>
              <a:rPr lang="zh-CN" altLang="en-US" sz="2000" dirty="0">
                <a:solidFill>
                  <a:srgbClr val="C9CED6"/>
                </a:solidFill>
                <a:latin typeface="Microsoft YaHei"/>
                <a:ea typeface="Microsoft YaHei"/>
              </a:rPr>
              <a:t>搬运</a:t>
            </a:r>
            <a:r>
              <a:rPr lang="zh-CN" sz="2000" dirty="0">
                <a:solidFill>
                  <a:srgbClr val="C9CED6"/>
                </a:solidFill>
                <a:latin typeface="Microsoft YaHei"/>
                <a:ea typeface="Microsoft YaHei"/>
              </a:rPr>
              <a:t>。</a:t>
            </a:r>
            <a:endParaRPr sz="2400" dirty="0"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556259" y="5411152"/>
            <a:ext cx="10515600" cy="4667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2000" dirty="0">
                <a:solidFill>
                  <a:srgbClr val="C9CED6"/>
                </a:solidFill>
                <a:latin typeface="Microsoft YaHei"/>
                <a:ea typeface="Microsoft YaHei"/>
              </a:rPr>
              <a:t>只留一份的话，读到一半新帧开始覆盖，拿到的是上半帧新、下半帧旧的图</a:t>
            </a:r>
            <a:r>
              <a:rPr lang="zh-CN" altLang="en-US" sz="2000" dirty="0">
                <a:solidFill>
                  <a:srgbClr val="C9CED6"/>
                </a:solidFill>
                <a:latin typeface="Microsoft YaHei"/>
                <a:ea typeface="Microsoft YaHei"/>
              </a:rPr>
              <a:t>，</a:t>
            </a:r>
            <a:endParaRPr lang="en-US" altLang="zh-CN" sz="2000" dirty="0">
              <a:solidFill>
                <a:srgbClr val="C9CED6"/>
              </a:solidFill>
              <a:latin typeface="Microsoft YaHei"/>
              <a:ea typeface="Microsoft YaHei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C9CED6"/>
                </a:solidFill>
                <a:latin typeface="Microsoft YaHei"/>
                <a:ea typeface="Microsoft YaHei"/>
              </a:rPr>
              <a:t>					</a:t>
            </a:r>
            <a:r>
              <a:rPr lang="zh-CN" altLang="en-US" sz="2000" dirty="0">
                <a:solidFill>
                  <a:srgbClr val="C9CED6"/>
                </a:solidFill>
                <a:latin typeface="Microsoft YaHei"/>
                <a:ea typeface="Microsoft YaHei"/>
              </a:rPr>
              <a:t>某些芯片甚至会出现硬件错误</a:t>
            </a:r>
            <a:endParaRPr sz="2400" dirty="0"/>
          </a:p>
        </p:txBody>
      </p:sp>
      <p:sp>
        <p:nvSpPr>
          <p:cNvPr id="41" name="矩形 40"/>
          <p:cNvSpPr/>
          <p:nvPr/>
        </p:nvSpPr>
        <p:spPr>
          <a:xfrm>
            <a:off x="838200" y="1504950"/>
            <a:ext cx="1123950" cy="142875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1047750" y="2600325"/>
            <a:ext cx="7048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1F232A"/>
                </a:solidFill>
                <a:latin typeface="Microsoft YaHei"/>
                <a:ea typeface="Microsoft YaHei"/>
              </a:rPr>
              <a:t>22560 B</a:t>
            </a:r>
            <a:endParaRPr/>
          </a:p>
        </p:txBody>
      </p:sp>
      <p:sp>
        <p:nvSpPr>
          <p:cNvPr id="43" name="矩形 42"/>
          <p:cNvSpPr/>
          <p:nvPr/>
        </p:nvSpPr>
        <p:spPr>
          <a:xfrm>
            <a:off x="1981200" y="1504950"/>
            <a:ext cx="1123950" cy="142875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2190750" y="2600325"/>
            <a:ext cx="7048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1F232A"/>
                </a:solidFill>
                <a:latin typeface="Microsoft YaHei"/>
                <a:ea typeface="Microsoft YaHei"/>
              </a:rPr>
              <a:t>22560 B</a:t>
            </a:r>
            <a:endParaRPr/>
          </a:p>
        </p:txBody>
      </p:sp>
      <p:sp>
        <p:nvSpPr>
          <p:cNvPr id="45" name="矩形 44"/>
          <p:cNvSpPr/>
          <p:nvPr/>
        </p:nvSpPr>
        <p:spPr>
          <a:xfrm>
            <a:off x="3124200" y="1504950"/>
            <a:ext cx="1123950" cy="142875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3333750" y="2600325"/>
            <a:ext cx="7048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1F232A"/>
                </a:solidFill>
                <a:latin typeface="Microsoft YaHei"/>
                <a:ea typeface="Microsoft YaHei"/>
              </a:rPr>
              <a:t>22560 B</a:t>
            </a:r>
            <a:endParaRPr/>
          </a:p>
        </p:txBody>
      </p:sp>
      <p:sp>
        <p:nvSpPr>
          <p:cNvPr id="47" name="矩形 46"/>
          <p:cNvSpPr/>
          <p:nvPr/>
        </p:nvSpPr>
        <p:spPr>
          <a:xfrm>
            <a:off x="4267200" y="1504950"/>
            <a:ext cx="1123950" cy="142875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4476750" y="2600325"/>
            <a:ext cx="7048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1F232A"/>
                </a:solidFill>
                <a:latin typeface="Microsoft YaHei"/>
                <a:ea typeface="Microsoft YaHei"/>
              </a:rPr>
              <a:t>22560 B</a:t>
            </a:r>
            <a:endParaRPr/>
          </a:p>
        </p:txBody>
      </p:sp>
      <p:sp>
        <p:nvSpPr>
          <p:cNvPr id="49" name="矩形 48"/>
          <p:cNvSpPr/>
          <p:nvPr/>
        </p:nvSpPr>
        <p:spPr>
          <a:xfrm>
            <a:off x="5410200" y="1504950"/>
            <a:ext cx="1123950" cy="1428750"/>
          </a:xfrm>
          <a:prstGeom prst="rect">
            <a:avLst/>
          </a:prstGeom>
          <a:solidFill>
            <a:srgbClr val="4E55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5972175" y="2819400"/>
            <a:ext cx="0" cy="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1" name="矩形 50"/>
          <p:cNvSpPr/>
          <p:nvPr/>
        </p:nvSpPr>
        <p:spPr>
          <a:xfrm>
            <a:off x="6553200" y="1504950"/>
            <a:ext cx="1123950" cy="1428750"/>
          </a:xfrm>
          <a:prstGeom prst="rect">
            <a:avLst/>
          </a:prstGeom>
          <a:solidFill>
            <a:srgbClr val="2B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7115175" y="2819400"/>
            <a:ext cx="0" cy="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3" name="矩形 52"/>
          <p:cNvSpPr/>
          <p:nvPr/>
        </p:nvSpPr>
        <p:spPr>
          <a:xfrm>
            <a:off x="7696200" y="1504950"/>
            <a:ext cx="171450" cy="142875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矩形 53"/>
          <p:cNvSpPr/>
          <p:nvPr/>
        </p:nvSpPr>
        <p:spPr>
          <a:xfrm>
            <a:off x="7315200" y="1504950"/>
            <a:ext cx="19050" cy="1428750"/>
          </a:xfrm>
          <a:prstGeom prst="rect">
            <a:avLst/>
          </a:prstGeom>
          <a:solidFill>
            <a:srgbClr val="F2F3F5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1295400" y="1371600"/>
            <a:ext cx="4838700" cy="3590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80000"/>
              </a:lnSpc>
            </a:pPr>
            <a:r>
              <a:rPr lang="en-US" sz="29400" b="1" spc="-750">
                <a:solidFill>
                  <a:srgbClr val="FF6A13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6134100" y="2209800"/>
            <a:ext cx="5219700" cy="1914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altLang="en-US" sz="4050" b="1" dirty="0">
                <a:solidFill>
                  <a:srgbClr val="F2F3F5"/>
                </a:solidFill>
                <a:latin typeface="Microsoft YaHei"/>
                <a:ea typeface="Microsoft YaHei"/>
              </a:rPr>
              <a:t>基址加偏移替掉指针</a:t>
            </a:r>
            <a:endParaRPr dirty="0"/>
          </a:p>
        </p:txBody>
      </p:sp>
      <p:sp>
        <p:nvSpPr>
          <p:cNvPr id="61" name="矩形 60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矩形 61"/>
          <p:cNvSpPr/>
          <p:nvPr/>
        </p:nvSpPr>
        <p:spPr>
          <a:xfrm>
            <a:off x="0" y="6096000"/>
            <a:ext cx="2514600" cy="3810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矩形 62"/>
          <p:cNvSpPr/>
          <p:nvPr/>
        </p:nvSpPr>
        <p:spPr>
          <a:xfrm>
            <a:off x="2590800" y="6096000"/>
            <a:ext cx="2514600" cy="381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" name="矩形 63"/>
          <p:cNvSpPr/>
          <p:nvPr/>
        </p:nvSpPr>
        <p:spPr>
          <a:xfrm>
            <a:off x="5181600" y="6096000"/>
            <a:ext cx="2514600" cy="3810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矩形 64"/>
          <p:cNvSpPr/>
          <p:nvPr/>
        </p:nvSpPr>
        <p:spPr>
          <a:xfrm>
            <a:off x="7772400" y="6096000"/>
            <a:ext cx="2514600" cy="3810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838200" y="476250"/>
            <a:ext cx="10515600" cy="590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偏移指针法</a:t>
            </a:r>
            <a:r>
              <a:rPr lang="en-US" alt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——</a:t>
            </a: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思路</a:t>
            </a:r>
            <a:endParaRPr dirty="0"/>
          </a:p>
        </p:txBody>
      </p:sp>
      <p:sp>
        <p:nvSpPr>
          <p:cNvPr id="70" name="矩形 69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" name="矩形 70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7829550" y="1428750"/>
            <a:ext cx="3524250" cy="1952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5000"/>
              </a:lnSpc>
            </a:pP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图像是一整块连续内存，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&amp;</a:t>
            </a:r>
            <a:r>
              <a:rPr lang="en-US" sz="1725" dirty="0" err="1">
                <a:solidFill>
                  <a:srgbClr val="C9CED6"/>
                </a:solidFill>
                <a:latin typeface="Microsoft YaHei"/>
                <a:ea typeface="Microsoft YaHei"/>
              </a:rPr>
              <a:t>img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[y][x] 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就是首地址加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y*188 + x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，没有行填充。基址上电之后不再变，就没必要每格都存一遍。</a:t>
            </a:r>
            <a:endParaRPr dirty="0"/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7829550" y="3590925"/>
            <a:ext cx="3524250" cy="1466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5000"/>
              </a:lnSpc>
            </a:pP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只存偏移，最大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22559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，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int16 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装得下。运行时把基址加回来，四字节换成两字节。</a:t>
            </a:r>
            <a:endParaRPr dirty="0"/>
          </a:p>
        </p:txBody>
      </p:sp>
      <p:sp>
        <p:nvSpPr>
          <p:cNvPr id="74" name="矩形 73"/>
          <p:cNvSpPr/>
          <p:nvPr/>
        </p:nvSpPr>
        <p:spPr>
          <a:xfrm>
            <a:off x="7829550" y="5343525"/>
            <a:ext cx="571500" cy="2857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7829550" y="5562600"/>
            <a:ext cx="1419225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6A13"/>
                </a:solidFill>
                <a:latin typeface="Microsoft YaHei"/>
                <a:ea typeface="Microsoft YaHei"/>
              </a:rPr>
              <a:t>45120</a:t>
            </a:r>
            <a:endParaRPr dirty="0"/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9344025" y="5562600"/>
            <a:ext cx="13335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>
                <a:solidFill>
                  <a:srgbClr val="9AA1AC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78" name="矩形: 圆角 77"/>
          <p:cNvSpPr/>
          <p:nvPr/>
        </p:nvSpPr>
        <p:spPr>
          <a:xfrm>
            <a:off x="838200" y="2181224"/>
            <a:ext cx="6572250" cy="3295651"/>
          </a:xfrm>
          <a:prstGeom prst="roundRect">
            <a:avLst>
              <a:gd name="adj" fmla="val 3333"/>
            </a:avLst>
          </a:prstGeom>
          <a:solidFill>
            <a:srgbClr val="2B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" name="文本框 78"/>
          <p:cNvSpPr txBox="1"/>
          <p:nvPr/>
        </p:nvSpPr>
        <p:spPr>
          <a:xfrm>
            <a:off x="990600" y="2436847"/>
            <a:ext cx="7381875" cy="274320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600" dirty="0">
                <a:solidFill>
                  <a:srgbClr val="F97583"/>
                </a:solidFill>
                <a:latin typeface="Menlo"/>
                <a:ea typeface="Menlo"/>
              </a:rPr>
              <a:t>uint</a:t>
            </a:r>
            <a:r>
              <a:rPr lang="en-US" sz="1600" dirty="0">
                <a:solidFill>
                  <a:srgbClr val="F97583"/>
                </a:solidFill>
                <a:latin typeface="Menlo"/>
                <a:ea typeface="Menlo"/>
              </a:rPr>
              <a:t>8</a:t>
            </a:r>
            <a:r>
              <a:rPr sz="1600" dirty="0">
                <a:solidFill>
                  <a:srgbClr val="F97583"/>
                </a:solidFill>
                <a:latin typeface="Menlo"/>
                <a:ea typeface="Menlo"/>
              </a:rPr>
              <a:t>_t</a:t>
            </a:r>
            <a:r>
              <a:rPr sz="160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600" dirty="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600" dirty="0" err="1">
                <a:solidFill>
                  <a:srgbClr val="FFAB70"/>
                </a:solidFill>
                <a:latin typeface="Menlo"/>
                <a:ea typeface="Menlo"/>
              </a:rPr>
              <a:t>PerImg_ip</a:t>
            </a:r>
            <a:r>
              <a:rPr sz="1600" dirty="0">
                <a:solidFill>
                  <a:srgbClr val="E1E4E8"/>
                </a:solidFill>
                <a:latin typeface="Menlo"/>
                <a:ea typeface="Menlo"/>
              </a:rPr>
              <a:t>[RESULT_ROW][RESULT_COL];</a:t>
            </a:r>
            <a:r>
              <a:rPr sz="1600" dirty="0">
                <a:solidFill>
                  <a:srgbClr val="6A737D"/>
                </a:solidFill>
                <a:latin typeface="Menlo"/>
                <a:ea typeface="Menlo"/>
              </a:rPr>
              <a:t>   // 90240 B，4 </a:t>
            </a:r>
            <a:r>
              <a:rPr sz="1600" dirty="0" err="1">
                <a:solidFill>
                  <a:srgbClr val="6A737D"/>
                </a:solidFill>
                <a:latin typeface="Menlo"/>
                <a:ea typeface="Menlo"/>
              </a:rPr>
              <a:t>字节一格</a:t>
            </a:r>
            <a:endParaRPr lang="en-US" sz="1600" dirty="0">
              <a:solidFill>
                <a:srgbClr val="E1E4E8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160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60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600" dirty="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600" dirty="0" err="1">
                <a:solidFill>
                  <a:srgbClr val="FFAB70"/>
                </a:solidFill>
                <a:latin typeface="Menlo"/>
                <a:ea typeface="Menlo"/>
              </a:rPr>
              <a:t>PerImg_ip</a:t>
            </a:r>
            <a:r>
              <a:rPr sz="1600" dirty="0">
                <a:solidFill>
                  <a:srgbClr val="E1E4E8"/>
                </a:solidFill>
                <a:latin typeface="Menlo"/>
                <a:ea typeface="Menlo"/>
              </a:rPr>
              <a:t>[row][col];</a:t>
            </a:r>
            <a:endParaRPr sz="1600" dirty="0"/>
          </a:p>
          <a:p>
            <a:pPr>
              <a:lnSpc>
                <a:spcPct val="140000"/>
              </a:lnSpc>
            </a:pPr>
            <a:r>
              <a:rPr sz="1600" dirty="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 lang="en-US" sz="1600" dirty="0">
              <a:solidFill>
                <a:srgbClr val="E5E7EB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endParaRPr sz="1600" dirty="0"/>
          </a:p>
          <a:p>
            <a:pPr>
              <a:lnSpc>
                <a:spcPct val="140000"/>
              </a:lnSpc>
            </a:pPr>
            <a:r>
              <a:rPr sz="1600" dirty="0">
                <a:solidFill>
                  <a:srgbClr val="E1E4E8"/>
                </a:solidFill>
                <a:latin typeface="Menlo"/>
                <a:ea typeface="Menlo"/>
              </a:rPr>
              <a:t>int16  </a:t>
            </a:r>
            <a:r>
              <a:rPr sz="1600" dirty="0" err="1">
                <a:solidFill>
                  <a:srgbClr val="FFAB70"/>
                </a:solidFill>
                <a:latin typeface="Menlo"/>
                <a:ea typeface="Menlo"/>
              </a:rPr>
              <a:t>PerImg_ofs</a:t>
            </a:r>
            <a:r>
              <a:rPr sz="1600" dirty="0">
                <a:solidFill>
                  <a:srgbClr val="E1E4E8"/>
                </a:solidFill>
                <a:latin typeface="Menlo"/>
                <a:ea typeface="Menlo"/>
              </a:rPr>
              <a:t>[RESULT_ROW][RESULT_COL];</a:t>
            </a:r>
            <a:r>
              <a:rPr sz="1600" dirty="0">
                <a:solidFill>
                  <a:srgbClr val="6A737D"/>
                </a:solidFill>
                <a:latin typeface="Menlo"/>
                <a:ea typeface="Menlo"/>
              </a:rPr>
              <a:t>    // 45120 B，2 </a:t>
            </a:r>
            <a:r>
              <a:rPr sz="1600" dirty="0" err="1">
                <a:solidFill>
                  <a:srgbClr val="6A737D"/>
                </a:solidFill>
                <a:latin typeface="Menlo"/>
                <a:ea typeface="Menlo"/>
              </a:rPr>
              <a:t>字节一格</a:t>
            </a:r>
            <a:endParaRPr sz="1600" dirty="0"/>
          </a:p>
          <a:p>
            <a:pPr>
              <a:lnSpc>
                <a:spcPct val="140000"/>
              </a:lnSpc>
            </a:pPr>
            <a:r>
              <a:rPr sz="1600" dirty="0" err="1">
                <a:solidFill>
                  <a:srgbClr val="FFAB70"/>
                </a:solidFill>
                <a:latin typeface="Menlo"/>
                <a:ea typeface="Menlo"/>
              </a:rPr>
              <a:t>PerImg_ofs</a:t>
            </a:r>
            <a:r>
              <a:rPr sz="1600" dirty="0">
                <a:solidFill>
                  <a:srgbClr val="E1E4E8"/>
                </a:solidFill>
                <a:latin typeface="Menlo"/>
                <a:ea typeface="Menlo"/>
              </a:rPr>
              <a:t>[j][</a:t>
            </a:r>
            <a:r>
              <a:rPr sz="1600" dirty="0" err="1">
                <a:solidFill>
                  <a:srgbClr val="E1E4E8"/>
                </a:solidFill>
                <a:latin typeface="Menlo"/>
                <a:ea typeface="Menlo"/>
              </a:rPr>
              <a:t>i</a:t>
            </a:r>
            <a:r>
              <a:rPr sz="1600" dirty="0">
                <a:solidFill>
                  <a:srgbClr val="E1E4E8"/>
                </a:solidFill>
                <a:latin typeface="Menlo"/>
                <a:ea typeface="Menlo"/>
              </a:rPr>
              <a:t>] </a:t>
            </a:r>
            <a:r>
              <a:rPr sz="160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600" dirty="0">
                <a:solidFill>
                  <a:srgbClr val="E1E4E8"/>
                </a:solidFill>
                <a:latin typeface="Menlo"/>
                <a:ea typeface="Menlo"/>
              </a:rPr>
              <a:t> (int16)(</a:t>
            </a:r>
            <a:r>
              <a:rPr sz="1600" dirty="0" err="1">
                <a:solidFill>
                  <a:srgbClr val="E1E4E8"/>
                </a:solidFill>
                <a:latin typeface="Menlo"/>
                <a:ea typeface="Menlo"/>
              </a:rPr>
              <a:t>ly</a:t>
            </a:r>
            <a:r>
              <a:rPr sz="160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600" dirty="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600" dirty="0">
                <a:solidFill>
                  <a:srgbClr val="E1E4E8"/>
                </a:solidFill>
                <a:latin typeface="Menlo"/>
                <a:ea typeface="Menlo"/>
              </a:rPr>
              <a:t> USED_COL </a:t>
            </a:r>
            <a:r>
              <a:rPr sz="1600" dirty="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600" dirty="0">
                <a:solidFill>
                  <a:srgbClr val="E1E4E8"/>
                </a:solidFill>
                <a:latin typeface="Menlo"/>
                <a:ea typeface="Menlo"/>
              </a:rPr>
              <a:t> lx);</a:t>
            </a:r>
            <a:endParaRPr lang="en-US" sz="1600" dirty="0">
              <a:solidFill>
                <a:srgbClr val="E1E4E8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lang="en-US" sz="160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lang="en-US" sz="1600" dirty="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lang="en-US" sz="1600" dirty="0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1600" dirty="0">
                <a:solidFill>
                  <a:srgbClr val="E1E4E8"/>
                </a:solidFill>
                <a:latin typeface="Menlo"/>
                <a:ea typeface="Menlo"/>
              </a:rPr>
              <a:t>PERSPECTIVE_BASE </a:t>
            </a:r>
            <a:r>
              <a:rPr sz="1600" dirty="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60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600" dirty="0" err="1">
                <a:solidFill>
                  <a:srgbClr val="FFAB70"/>
                </a:solidFill>
                <a:latin typeface="Menlo"/>
                <a:ea typeface="Menlo"/>
              </a:rPr>
              <a:t>PerImg_ofs</a:t>
            </a:r>
            <a:r>
              <a:rPr sz="1600" dirty="0">
                <a:solidFill>
                  <a:srgbClr val="E1E4E8"/>
                </a:solidFill>
                <a:latin typeface="Menlo"/>
                <a:ea typeface="Menlo"/>
              </a:rPr>
              <a:t>[row][col]);</a:t>
            </a:r>
            <a:endParaRPr sz="1600" dirty="0"/>
          </a:p>
        </p:txBody>
      </p:sp>
      <p:sp>
        <p:nvSpPr>
          <p:cNvPr id="2" name="文本框 1" descr="{&quot;isTemplate&quot;:true,&quot;type&quot;:&quot;text&quot;}">
            <a:extLst>
              <a:ext uri="{FF2B5EF4-FFF2-40B4-BE49-F238E27FC236}">
                <a16:creationId xmlns:a16="http://schemas.microsoft.com/office/drawing/2014/main" id="{9D325D8D-182D-0B2A-F6BD-0FAC0EF0FFFF}"/>
              </a:ext>
            </a:extLst>
          </p:cNvPr>
          <p:cNvSpPr txBox="1"/>
          <p:nvPr/>
        </p:nvSpPr>
        <p:spPr>
          <a:xfrm>
            <a:off x="838200" y="1446249"/>
            <a:ext cx="5520070" cy="495299"/>
          </a:xfrm>
          <a:prstGeom prst="rect">
            <a:avLst/>
          </a:prstGeom>
        </p:spPr>
        <p:txBody>
          <a:bodyPr wrap="none" lIns="0" tIns="0" rIns="0" bIns="0"/>
          <a:lstStyle>
            <a:lvl1pPr>
              <a:lnSpc>
                <a:spcPct val="100000"/>
              </a:lnSpc>
              <a:defRPr sz="3600" b="1">
                <a:solidFill>
                  <a:srgbClr val="FF6A13"/>
                </a:solidFill>
                <a:latin typeface="Microsoft YaHei"/>
                <a:ea typeface="Microsoft YaHei"/>
              </a:defRPr>
            </a:lvl1pPr>
          </a:lstStyle>
          <a:p>
            <a:r>
              <a:rPr lang="zh-CN" altLang="en-US" sz="2800" dirty="0"/>
              <a:t>整个索引</a:t>
            </a:r>
            <a:r>
              <a:rPr lang="en-US" altLang="zh-CN" sz="2800" dirty="0"/>
              <a:t>16</a:t>
            </a:r>
            <a:r>
              <a:rPr lang="zh-CN" altLang="en-US" sz="2800" dirty="0"/>
              <a:t>位大小的变量就能存下</a:t>
            </a:r>
            <a:endParaRPr sz="2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const bg = '#1F232A';&#10;const or = '#FF6A13';&#10;const or2 = '#FF8F4D';&#10;const or3 = '#FFB27A';&#10;const txt = '#F2F3F5';&#10;const body = '#C9CED6';&#10;const muted = '#9AA1AC';&#10;const rule = '#3A404A';&#10;const panel = '#272C34';&#10;&#10;&lt;Slide style={{ width: 1280, height: 720, display: 'flex', flexDirection: 'column', background: bg, padding: 0 }}&gt;&#10;&#10;    &lt;Image src=&quot;assets/bg-ch2.png&quot; style={{ position: 'absolute', left: 0, top: 0, width: 1280, height: 720, zIndex: 0 }} /&gt;&#10;&#10;    &lt;Box style={{ position: 'relative', zIndex: 1, flex: 1, display: 'flex', padding: '0 88px', flexDirection: 'column' }}&gt;&#10;&#10;    &lt;Box style={{ display: 'flex', flexDirection: 'row', justifyContent: 'space-between', alignItems: 'flex-end', marginTop: 50 }}&gt;&#10;        &lt;Text style={{ fontSize: 44, fontWeight: 700, color: txt }}&gt;多一条 add，值多少时间&lt;/Text&gt;&#10;        &lt;Text style={{ fontSize: 20, color: muted, marginBottom: 8 }}&gt;只比指针表和偏移表 / 整幅 22560 像素&lt;/Text&gt;&#10;    &lt;/Box&gt;&#10;&#10;    &lt;Box style={{ marginTop: 20, width: '100%', height: 1, background: rule, display: 'flex', flexDirection: 'row' }}&gt;&#10;        &lt;Box style={{ width: 140, height: 1, background: or }} /&gt;&#10;    &lt;/Box&gt;&#10;&#10;    &lt;Box style={{ display: 'flex', flexDirection: 'row', marginTop: 16 }}&gt;&#10;&#10;        &lt;Box style={{ display: 'flex', flexDirection: 'column', width: 520 }}&gt;&#10;            &lt;Text style={{ fontSize: 19, color: muted, marginBottom: 6 }}&gt;CH32V307 / 120 MHz&lt;/Text&gt;&#10;            &lt;Image src=&quot;assets/chart-add-ch32.png&quot; style={{ width: 520, height: 316 }} /&gt;&#10;        &lt;/Box&gt;&#10;&#10;        &lt;Box style={{ display: 'flex', flexDirection: 'column', width: 520, marginLeft: 44 }}&gt;&#10;            &lt;Text style={{ fontSize: 19, color: muted, marginBottom: 6 }}&gt;CYT4BB7 / 250 MHz / IAR 9.40.1&lt;/Text&gt;&#10;            &lt;Image src=&quot;assets/chart-add-arm.png&quot; style={{ width: 520, height: 316 }} /&gt;&#10;        &lt;/Box&gt;&#10;&#10;    &lt;/Box&gt;&#10;&#10;    &lt;Box style={{ display: 'flex', flexDirection: 'row', flex: 1, alignItems: 'center', marginTop: 8 }}&gt;&#10;&#10;        &lt;Box style={{ width: 5, height: 124, background: or }} /&gt;&#10;&#10;        &lt;Box style={{ display: 'flex', flexDirection: 'column', width: 640, marginLeft: 22 }}&gt;&#10;            &lt;Text style={{ fontSize: 22, color: body, lineHeight: 1.7 }}&gt;&#10;                两者内层只差这一条，差出来就是它的价。&#10;            &lt;/Text&gt;&#10;            &lt;Text style={{ fontSize: 22, color: txt, lineHeight: 1.7, marginTop: 8 }}&gt;&#10;                CH32 上稳定要钱：-O0 慢 15%，-O2 慢 14%。&#10;            &lt;/Text&gt;&#10;            &lt;Text style={{ fontSize: 22, color: or2, lineHeight: 1.7, marginTop: 8 }}&gt;&#10;                M7 高档分不出来，0.743 对 0.743。&#10;            &lt;/Text&gt;&#10;        &lt;/Box&gt;&#10;&#10;        &lt;Box style={{ display: 'flex', flexDirection: 'column', flex: 1, marginLeft: 26 }}&gt;&#10;            &lt;Text style={{ fontSize: 20, color: muted, lineHeight: 1.7 }}&gt;&#10;                中档偏移表慢 20%，低档又快 10%。&#10;            &lt;/Text&gt;&#10;            &lt;Text style={{ fontSize: 20, color: muted, lineHeight: 1.7 }}&gt;&#10;                这个乱序没查出原因，只记数。&#10;            &lt;/Text&gt;&#10;        &lt;/Box&gt;&#10;&#10;    &lt;/Box&gt;&#10;&#10;    &lt;/Box&gt;&#10;&#10;    &lt;Text style={{ position: 'absolute', left: 1158, top: 674, fontSize: 20, color: '#6C737E', zIndex: 2 }}&gt;28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矩形 4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44" name="图片 4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45" name="文本框 444" descr="{&quot;isTemplate&quot;:true,&quot;type&quot;:&quot;text&quot;}"/>
          <p:cNvSpPr txBox="1"/>
          <p:nvPr/>
        </p:nvSpPr>
        <p:spPr>
          <a:xfrm>
            <a:off x="838200" y="476250"/>
            <a:ext cx="470535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偏移指针法</a:t>
            </a:r>
            <a:r>
              <a:rPr lang="en-US" alt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——</a:t>
            </a: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时间测试</a:t>
            </a:r>
            <a:endParaRPr dirty="0"/>
          </a:p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8010525" y="676275"/>
            <a:ext cx="33432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9AA1AC"/>
                </a:solidFill>
                <a:latin typeface="Microsoft YaHei"/>
                <a:ea typeface="Microsoft YaHei"/>
              </a:rPr>
              <a:t>只比指针表和偏移表</a:t>
            </a:r>
            <a:r>
              <a:rPr lang="en-US" sz="1500">
                <a:solidFill>
                  <a:srgbClr val="9AA1AC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9AA1AC"/>
                </a:solidFill>
                <a:latin typeface="Microsoft YaHei"/>
                <a:ea typeface="Microsoft YaHei"/>
              </a:rPr>
              <a:t>整幅</a:t>
            </a:r>
            <a:r>
              <a:rPr lang="en-US" sz="1500">
                <a:solidFill>
                  <a:srgbClr val="9AA1AC"/>
                </a:solidFill>
                <a:latin typeface="Microsoft YaHei"/>
                <a:ea typeface="Microsoft YaHei"/>
              </a:rPr>
              <a:t> 22560 </a:t>
            </a:r>
            <a:r>
              <a:rPr lang="zh-CN" sz="1500">
                <a:solidFill>
                  <a:srgbClr val="9AA1AC"/>
                </a:solidFill>
                <a:latin typeface="Microsoft YaHei"/>
                <a:ea typeface="Microsoft YaHei"/>
              </a:rPr>
              <a:t>像素</a:t>
            </a:r>
            <a:endParaRPr/>
          </a:p>
        </p:txBody>
      </p:sp>
      <p:sp>
        <p:nvSpPr>
          <p:cNvPr id="447" name="矩形 446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8" name="矩形 447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38200" y="3306138"/>
            <a:ext cx="495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CH32V307 / 120 MHz</a:t>
            </a:r>
            <a:endParaRPr/>
          </a:p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6210300" y="3306138"/>
            <a:ext cx="495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CYT4BB7 / 250 MHz / IAR 9.40.1</a:t>
            </a:r>
            <a:endParaRPr/>
          </a:p>
        </p:txBody>
      </p:sp>
      <p:sp>
        <p:nvSpPr>
          <p:cNvPr id="2" name="文本框 1" descr="{&quot;isTemplate&quot;:true,&quot;type&quot;:&quot;text&quot;}">
            <a:extLst>
              <a:ext uri="{FF2B5EF4-FFF2-40B4-BE49-F238E27FC236}">
                <a16:creationId xmlns:a16="http://schemas.microsoft.com/office/drawing/2014/main" id="{6534F957-A99A-066A-D15B-072D68CF534D}"/>
              </a:ext>
            </a:extLst>
          </p:cNvPr>
          <p:cNvSpPr txBox="1"/>
          <p:nvPr/>
        </p:nvSpPr>
        <p:spPr>
          <a:xfrm>
            <a:off x="838200" y="1322209"/>
            <a:ext cx="32385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>
                <a:solidFill>
                  <a:srgbClr val="9AA1AC"/>
                </a:solidFill>
                <a:latin typeface="Microsoft YaHei"/>
                <a:ea typeface="Microsoft YaHei"/>
              </a:rPr>
              <a:t>指针表　</a:t>
            </a:r>
            <a:r>
              <a:rPr lang="en-US" sz="1575">
                <a:solidFill>
                  <a:srgbClr val="9AA1AC"/>
                </a:solidFill>
                <a:latin typeface="Microsoft YaHei"/>
                <a:ea typeface="Microsoft YaHei"/>
              </a:rPr>
              <a:t>-O2 </a:t>
            </a:r>
            <a:r>
              <a:rPr lang="zh-CN" sz="1575">
                <a:solidFill>
                  <a:srgbClr val="9AA1AC"/>
                </a:solidFill>
                <a:latin typeface="Microsoft YaHei"/>
                <a:ea typeface="Microsoft YaHei"/>
              </a:rPr>
              <a:t>内层</a:t>
            </a:r>
            <a:r>
              <a:rPr lang="en-US" sz="1575">
                <a:solidFill>
                  <a:srgbClr val="9AA1AC"/>
                </a:solidFill>
                <a:latin typeface="Microsoft YaHei"/>
                <a:ea typeface="Microsoft YaHei"/>
              </a:rPr>
              <a:t> 5 </a:t>
            </a:r>
            <a:r>
              <a:rPr lang="zh-CN" sz="1575">
                <a:solidFill>
                  <a:srgbClr val="9AA1AC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3" name="文本框 2" descr="{&quot;isTemplate&quot;:true,&quot;type&quot;:&quot;text&quot;}">
            <a:extLst>
              <a:ext uri="{FF2B5EF4-FFF2-40B4-BE49-F238E27FC236}">
                <a16:creationId xmlns:a16="http://schemas.microsoft.com/office/drawing/2014/main" id="{5E10A17F-661D-902B-E8A4-2D4843AFAC3C}"/>
              </a:ext>
            </a:extLst>
          </p:cNvPr>
          <p:cNvSpPr txBox="1"/>
          <p:nvPr/>
        </p:nvSpPr>
        <p:spPr>
          <a:xfrm>
            <a:off x="4476750" y="1322209"/>
            <a:ext cx="32385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>
                <a:solidFill>
                  <a:srgbClr val="FF8F4D"/>
                </a:solidFill>
                <a:latin typeface="Microsoft YaHei"/>
                <a:ea typeface="Microsoft YaHei"/>
              </a:rPr>
              <a:t>偏移表　</a:t>
            </a:r>
            <a:r>
              <a:rPr lang="en-US" sz="1575">
                <a:solidFill>
                  <a:srgbClr val="FF8F4D"/>
                </a:solidFill>
                <a:latin typeface="Microsoft YaHei"/>
                <a:ea typeface="Microsoft YaHei"/>
              </a:rPr>
              <a:t>-O2 </a:t>
            </a:r>
            <a:r>
              <a:rPr lang="zh-CN" sz="1575">
                <a:solidFill>
                  <a:srgbClr val="FF8F4D"/>
                </a:solidFill>
                <a:latin typeface="Microsoft YaHei"/>
                <a:ea typeface="Microsoft YaHei"/>
              </a:rPr>
              <a:t>内层</a:t>
            </a:r>
            <a:r>
              <a:rPr lang="en-US" sz="1575">
                <a:solidFill>
                  <a:srgbClr val="FF8F4D"/>
                </a:solidFill>
                <a:latin typeface="Microsoft YaHei"/>
                <a:ea typeface="Microsoft YaHei"/>
              </a:rPr>
              <a:t> 6 </a:t>
            </a:r>
            <a:r>
              <a:rPr lang="zh-CN" sz="1575">
                <a:solidFill>
                  <a:srgbClr val="FF8F4D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AB976D5-B69F-4F0F-302C-24F141A9175D}"/>
              </a:ext>
            </a:extLst>
          </p:cNvPr>
          <p:cNvSpPr/>
          <p:nvPr/>
        </p:nvSpPr>
        <p:spPr>
          <a:xfrm>
            <a:off x="838200" y="1684159"/>
            <a:ext cx="3238500" cy="1238250"/>
          </a:xfrm>
          <a:prstGeom prst="roundRect">
            <a:avLst>
              <a:gd name="adj" fmla="val 6154"/>
            </a:avLst>
          </a:prstGeom>
          <a:solidFill>
            <a:srgbClr val="2B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DE7C4D-634C-2122-AABD-9B28DF2B85FF}"/>
              </a:ext>
            </a:extLst>
          </p:cNvPr>
          <p:cNvSpPr txBox="1"/>
          <p:nvPr/>
        </p:nvSpPr>
        <p:spPr>
          <a:xfrm>
            <a:off x="990600" y="1817509"/>
            <a:ext cx="2933700" cy="971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sz="1275" dirty="0" err="1">
                <a:solidFill>
                  <a:srgbClr val="E5E7EB"/>
                </a:solidFill>
                <a:latin typeface="Menlo"/>
                <a:ea typeface="Menlo"/>
              </a:rPr>
              <a:t>lw</a:t>
            </a:r>
            <a:r>
              <a:rPr sz="1275" dirty="0">
                <a:solidFill>
                  <a:srgbClr val="E5E7EB"/>
                </a:solidFill>
                <a:latin typeface="Menlo"/>
                <a:ea typeface="Menlo"/>
              </a:rPr>
              <a:t>    a4,0(a5)
</a:t>
            </a:r>
            <a:r>
              <a:rPr sz="1275" dirty="0" err="1">
                <a:solidFill>
                  <a:srgbClr val="E5E7EB"/>
                </a:solidFill>
                <a:latin typeface="Menlo"/>
                <a:ea typeface="Menlo"/>
              </a:rPr>
              <a:t>addi</a:t>
            </a:r>
            <a:r>
              <a:rPr sz="1275" dirty="0">
                <a:solidFill>
                  <a:srgbClr val="E5E7EB"/>
                </a:solidFill>
                <a:latin typeface="Menlo"/>
                <a:ea typeface="Menlo"/>
              </a:rPr>
              <a:t>  a5,a5,</a:t>
            </a:r>
            <a:r>
              <a:rPr sz="1275" dirty="0">
                <a:solidFill>
                  <a:schemeClr val="accent2"/>
                </a:solidFill>
                <a:latin typeface="Menlo"/>
                <a:ea typeface="Menlo"/>
              </a:rPr>
              <a:t>4</a:t>
            </a:r>
            <a:r>
              <a:rPr sz="1275" dirty="0">
                <a:solidFill>
                  <a:srgbClr val="E5E7EB"/>
                </a:solidFill>
                <a:latin typeface="Menlo"/>
                <a:ea typeface="Menlo"/>
              </a:rPr>
              <a:t>
</a:t>
            </a:r>
            <a:r>
              <a:rPr sz="1275" dirty="0" err="1">
                <a:solidFill>
                  <a:srgbClr val="E5E7EB"/>
                </a:solidFill>
                <a:latin typeface="Menlo"/>
                <a:ea typeface="Menlo"/>
              </a:rPr>
              <a:t>lbu</a:t>
            </a:r>
            <a:r>
              <a:rPr sz="1275" dirty="0">
                <a:solidFill>
                  <a:srgbClr val="E5E7EB"/>
                </a:solidFill>
                <a:latin typeface="Menlo"/>
                <a:ea typeface="Menlo"/>
              </a:rPr>
              <a:t>   a4,0(a4)
add   a0,a0,a4
</a:t>
            </a:r>
            <a:r>
              <a:rPr sz="1275" dirty="0" err="1">
                <a:solidFill>
                  <a:srgbClr val="E5E7EB"/>
                </a:solidFill>
                <a:latin typeface="Menlo"/>
                <a:ea typeface="Menlo"/>
              </a:rPr>
              <a:t>bne</a:t>
            </a:r>
            <a:r>
              <a:rPr sz="1275" dirty="0">
                <a:solidFill>
                  <a:srgbClr val="E5E7EB"/>
                </a:solidFill>
                <a:latin typeface="Menlo"/>
                <a:ea typeface="Menlo"/>
              </a:rPr>
              <a:t>   a3,a5,loop</a:t>
            </a:r>
            <a:endParaRPr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3EE7764-624B-B6E5-BFE5-6E9DDA71EAAA}"/>
              </a:ext>
            </a:extLst>
          </p:cNvPr>
          <p:cNvSpPr/>
          <p:nvPr/>
        </p:nvSpPr>
        <p:spPr>
          <a:xfrm>
            <a:off x="4476750" y="1684159"/>
            <a:ext cx="3238500" cy="1438275"/>
          </a:xfrm>
          <a:prstGeom prst="roundRect">
            <a:avLst>
              <a:gd name="adj" fmla="val 5298"/>
            </a:avLst>
          </a:prstGeom>
          <a:solidFill>
            <a:srgbClr val="2B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2D8A67-7814-317D-9988-6C3EA0AADC95}"/>
              </a:ext>
            </a:extLst>
          </p:cNvPr>
          <p:cNvSpPr txBox="1"/>
          <p:nvPr/>
        </p:nvSpPr>
        <p:spPr>
          <a:xfrm>
            <a:off x="4629150" y="1817509"/>
            <a:ext cx="2933700" cy="1171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sz="1275" dirty="0" err="1">
                <a:solidFill>
                  <a:srgbClr val="E5E7EB"/>
                </a:solidFill>
                <a:latin typeface="Menlo"/>
                <a:ea typeface="Menlo"/>
              </a:rPr>
              <a:t>lh</a:t>
            </a:r>
            <a:r>
              <a:rPr sz="1275" dirty="0">
                <a:solidFill>
                  <a:srgbClr val="E5E7EB"/>
                </a:solidFill>
                <a:latin typeface="Menlo"/>
                <a:ea typeface="Menlo"/>
              </a:rPr>
              <a:t>    a4,0(a5)
</a:t>
            </a:r>
            <a:r>
              <a:rPr sz="1275" dirty="0" err="1">
                <a:solidFill>
                  <a:srgbClr val="E5E7EB"/>
                </a:solidFill>
                <a:latin typeface="Menlo"/>
                <a:ea typeface="Menlo"/>
              </a:rPr>
              <a:t>addi</a:t>
            </a:r>
            <a:r>
              <a:rPr sz="1275" dirty="0">
                <a:solidFill>
                  <a:srgbClr val="E5E7EB"/>
                </a:solidFill>
                <a:latin typeface="Menlo"/>
                <a:ea typeface="Menlo"/>
              </a:rPr>
              <a:t>  a5,a5,</a:t>
            </a:r>
            <a:r>
              <a:rPr sz="1275" dirty="0">
                <a:solidFill>
                  <a:schemeClr val="accent2"/>
                </a:solidFill>
                <a:latin typeface="Menlo"/>
                <a:ea typeface="Menlo"/>
              </a:rPr>
              <a:t>2</a:t>
            </a:r>
            <a:r>
              <a:rPr sz="1275" dirty="0">
                <a:solidFill>
                  <a:srgbClr val="E5E7EB"/>
                </a:solidFill>
                <a:latin typeface="Menlo"/>
                <a:ea typeface="Menlo"/>
              </a:rPr>
              <a:t>
</a:t>
            </a:r>
            <a:r>
              <a:rPr sz="1275" dirty="0">
                <a:solidFill>
                  <a:schemeClr val="accent2"/>
                </a:solidFill>
                <a:latin typeface="Menlo"/>
                <a:ea typeface="Menlo"/>
              </a:rPr>
              <a:t>add   a4,a4,a2</a:t>
            </a:r>
            <a:r>
              <a:rPr sz="1275" dirty="0">
                <a:solidFill>
                  <a:srgbClr val="E5E7EB"/>
                </a:solidFill>
                <a:latin typeface="Menlo"/>
                <a:ea typeface="Menlo"/>
              </a:rPr>
              <a:t>
</a:t>
            </a:r>
            <a:r>
              <a:rPr sz="1275" dirty="0" err="1">
                <a:solidFill>
                  <a:srgbClr val="E5E7EB"/>
                </a:solidFill>
                <a:latin typeface="Menlo"/>
                <a:ea typeface="Menlo"/>
              </a:rPr>
              <a:t>lbu</a:t>
            </a:r>
            <a:r>
              <a:rPr sz="1275" dirty="0">
                <a:solidFill>
                  <a:srgbClr val="E5E7EB"/>
                </a:solidFill>
                <a:latin typeface="Menlo"/>
                <a:ea typeface="Menlo"/>
              </a:rPr>
              <a:t>   a4,0(a4)
add   a0,a0,a4
</a:t>
            </a:r>
            <a:r>
              <a:rPr sz="1275" dirty="0" err="1">
                <a:solidFill>
                  <a:srgbClr val="E5E7EB"/>
                </a:solidFill>
                <a:latin typeface="Menlo"/>
                <a:ea typeface="Menlo"/>
              </a:rPr>
              <a:t>bne</a:t>
            </a:r>
            <a:r>
              <a:rPr sz="1275" dirty="0">
                <a:solidFill>
                  <a:srgbClr val="E5E7EB"/>
                </a:solidFill>
                <a:latin typeface="Menlo"/>
                <a:ea typeface="Menlo"/>
              </a:rPr>
              <a:t>   a3,a5,loop</a:t>
            </a:r>
            <a:endParaRPr dirty="0"/>
          </a:p>
        </p:txBody>
      </p:sp>
      <p:pic>
        <p:nvPicPr>
          <p:cNvPr id="12" name="图片 11" descr="图表, 条形图&#10;&#10;AI 生成的内容可能不正确。">
            <a:extLst>
              <a:ext uri="{FF2B5EF4-FFF2-40B4-BE49-F238E27FC236}">
                <a16:creationId xmlns:a16="http://schemas.microsoft.com/office/drawing/2014/main" id="{30DF0C2F-98C4-132A-2E43-8CCFCF711F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6" y="3236734"/>
            <a:ext cx="5669845" cy="3442406"/>
          </a:xfrm>
          <a:prstGeom prst="rect">
            <a:avLst/>
          </a:prstGeom>
        </p:spPr>
      </p:pic>
      <p:pic>
        <p:nvPicPr>
          <p:cNvPr id="14" name="图片 13" descr="图表, 树状图&#10;&#10;AI 生成的内容可能不正确。">
            <a:extLst>
              <a:ext uri="{FF2B5EF4-FFF2-40B4-BE49-F238E27FC236}">
                <a16:creationId xmlns:a16="http://schemas.microsoft.com/office/drawing/2014/main" id="{532EB67E-5F77-00A9-451F-77D97707CB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73" y="3236733"/>
            <a:ext cx="5669847" cy="34424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矩形 17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3" name="图片 1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1295400" y="1371600"/>
            <a:ext cx="4838700" cy="3590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80000"/>
              </a:lnSpc>
            </a:pPr>
            <a:r>
              <a:rPr lang="en-US" sz="29400" b="1" spc="-750">
                <a:solidFill>
                  <a:srgbClr val="FF6A13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6134100" y="2209800"/>
            <a:ext cx="5219700" cy="1914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altLang="en-US" sz="4050" b="1" dirty="0">
                <a:solidFill>
                  <a:srgbClr val="F2F3F5"/>
                </a:solidFill>
                <a:latin typeface="Microsoft YaHei"/>
                <a:ea typeface="Microsoft YaHei"/>
              </a:rPr>
              <a:t>邪修优化</a:t>
            </a:r>
            <a:endParaRPr lang="en-US" altLang="zh-CN" sz="4050" b="1" dirty="0">
              <a:solidFill>
                <a:srgbClr val="F2F3F5"/>
              </a:solidFill>
              <a:latin typeface="Microsoft YaHei"/>
              <a:ea typeface="Microsoft YaHei"/>
            </a:endParaRPr>
          </a:p>
          <a:p>
            <a:pPr>
              <a:lnSpc>
                <a:spcPct val="155000"/>
              </a:lnSpc>
            </a:pPr>
            <a:r>
              <a:rPr lang="en-US" altLang="zh-CN" sz="4050" b="1" dirty="0">
                <a:solidFill>
                  <a:srgbClr val="F2F3F5"/>
                </a:solidFill>
                <a:latin typeface="Microsoft YaHei"/>
                <a:ea typeface="Microsoft YaHei"/>
              </a:rPr>
              <a:t>Int8</a:t>
            </a:r>
            <a:r>
              <a:rPr lang="zh-CN" altLang="en-US" sz="4050" b="1" dirty="0">
                <a:solidFill>
                  <a:srgbClr val="F2F3F5"/>
                </a:solidFill>
                <a:latin typeface="Microsoft YaHei"/>
                <a:ea typeface="Microsoft YaHei"/>
              </a:rPr>
              <a:t>表存下逆透视</a:t>
            </a:r>
            <a:endParaRPr dirty="0"/>
          </a:p>
        </p:txBody>
      </p:sp>
      <p:sp>
        <p:nvSpPr>
          <p:cNvPr id="176" name="矩形 175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7" name="矩形 176"/>
          <p:cNvSpPr/>
          <p:nvPr/>
        </p:nvSpPr>
        <p:spPr>
          <a:xfrm>
            <a:off x="0" y="6096000"/>
            <a:ext cx="2514600" cy="3810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8" name="矩形 177"/>
          <p:cNvSpPr/>
          <p:nvPr/>
        </p:nvSpPr>
        <p:spPr>
          <a:xfrm>
            <a:off x="2590800" y="6096000"/>
            <a:ext cx="2514600" cy="3810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9" name="矩形 178"/>
          <p:cNvSpPr/>
          <p:nvPr/>
        </p:nvSpPr>
        <p:spPr>
          <a:xfrm>
            <a:off x="5181600" y="6096000"/>
            <a:ext cx="2514600" cy="381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0" name="矩形 179"/>
          <p:cNvSpPr/>
          <p:nvPr/>
        </p:nvSpPr>
        <p:spPr>
          <a:xfrm>
            <a:off x="7772400" y="6096000"/>
            <a:ext cx="2514600" cy="3810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F3F7255-7439-B163-F901-35D42CE00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C3487F3-EB6B-3750-2FA6-7AF1060723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" r="12"/>
          <a:stretch>
            <a:fillRect/>
          </a:stretch>
        </p:blipFill>
        <p:spPr>
          <a:xfrm>
            <a:off x="8324850" y="2959271"/>
            <a:ext cx="2743200" cy="1751428"/>
          </a:xfrm>
          <a:prstGeom prst="rect">
            <a:avLst/>
          </a:prstGeom>
          <a:ln/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DFD6363-A6C6-5B44-7396-B52D7C131F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" r="12"/>
          <a:stretch>
            <a:fillRect/>
          </a:stretch>
        </p:blipFill>
        <p:spPr>
          <a:xfrm>
            <a:off x="4895850" y="2938003"/>
            <a:ext cx="2743200" cy="1751428"/>
          </a:xfrm>
          <a:prstGeom prst="rect">
            <a:avLst/>
          </a:prstGeom>
          <a:ln/>
        </p:spPr>
      </p:pic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alt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int8</a:t>
            </a: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表</a:t>
            </a:r>
            <a:r>
              <a:rPr lang="en-US" alt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——</a:t>
            </a: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思路来源</a:t>
            </a:r>
            <a:endParaRPr dirty="0"/>
          </a:p>
        </p:txBody>
      </p:sp>
      <p:sp>
        <p:nvSpPr>
          <p:cNvPr id="185" name="矩形 184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6" name="矩形 185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38200" y="1466850"/>
            <a:ext cx="2076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dirty="0">
                <a:solidFill>
                  <a:srgbClr val="FF6A13"/>
                </a:solidFill>
                <a:latin typeface="Consolas"/>
                <a:ea typeface="Consolas"/>
              </a:rPr>
              <a:t>h₁₀ = 0.000000</a:t>
            </a:r>
            <a:endParaRPr dirty="0"/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2914650" y="1466850"/>
            <a:ext cx="3619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滚转</a:t>
            </a:r>
            <a:endParaRPr/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838200" y="1838325"/>
            <a:ext cx="2076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dirty="0">
                <a:solidFill>
                  <a:srgbClr val="FF6A13"/>
                </a:solidFill>
                <a:latin typeface="Consolas"/>
                <a:ea typeface="Consolas"/>
              </a:rPr>
              <a:t>h₂₀ = 0.000000</a:t>
            </a:r>
            <a:endParaRPr dirty="0"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2914650" y="1838325"/>
            <a:ext cx="3619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偏航</a:t>
            </a:r>
            <a:endParaRPr/>
          </a:p>
        </p:txBody>
      </p:sp>
      <p:sp>
        <p:nvSpPr>
          <p:cNvPr id="191" name="矩形 190"/>
          <p:cNvSpPr/>
          <p:nvPr/>
        </p:nvSpPr>
        <p:spPr>
          <a:xfrm>
            <a:off x="838200" y="2286000"/>
            <a:ext cx="35433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838200" y="2301949"/>
            <a:ext cx="3733800" cy="495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95000"/>
              </a:lnSpc>
            </a:pPr>
            <a:r>
              <a:rPr lang="en-US" sz="1650" dirty="0">
                <a:solidFill>
                  <a:srgbClr val="F2F3F5"/>
                </a:solidFill>
                <a:latin typeface="Consolas"/>
                <a:ea typeface="Consolas"/>
              </a:rPr>
              <a:t>D = h₂₁·j + h₂₂</a:t>
            </a:r>
            <a:endParaRPr dirty="0"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838200" y="4958565"/>
            <a:ext cx="373380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5000"/>
              </a:lnSpc>
            </a:pPr>
            <a:r>
              <a:rPr lang="zh-CN" sz="1575" dirty="0">
                <a:solidFill>
                  <a:srgbClr val="C9CED6"/>
                </a:solidFill>
                <a:latin typeface="Microsoft YaHei"/>
                <a:ea typeface="Microsoft YaHei"/>
              </a:rPr>
              <a:t>相机在车上只有俯仰，这两个系数恒为</a:t>
            </a:r>
            <a:r>
              <a:rPr 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 0</a:t>
            </a:r>
            <a:r>
              <a:rPr lang="zh-CN" sz="1575" dirty="0">
                <a:solidFill>
                  <a:srgbClr val="C9CED6"/>
                </a:solidFill>
                <a:latin typeface="Microsoft YaHei"/>
                <a:ea typeface="Microsoft YaHei"/>
              </a:rPr>
              <a:t>。</a:t>
            </a:r>
            <a:r>
              <a:rPr 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D </a:t>
            </a:r>
            <a:r>
              <a:rPr lang="zh-CN" sz="1575" dirty="0">
                <a:solidFill>
                  <a:srgbClr val="C9CED6"/>
                </a:solidFill>
                <a:latin typeface="Microsoft YaHei"/>
                <a:ea typeface="Microsoft YaHei"/>
              </a:rPr>
              <a:t>和</a:t>
            </a:r>
            <a:r>
              <a:rPr 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 y </a:t>
            </a:r>
            <a:r>
              <a:rPr lang="zh-CN" sz="1575" dirty="0">
                <a:solidFill>
                  <a:srgbClr val="C9CED6"/>
                </a:solidFill>
                <a:latin typeface="Microsoft YaHei"/>
                <a:ea typeface="Microsoft YaHei"/>
              </a:rPr>
              <a:t>都只跟</a:t>
            </a:r>
            <a:r>
              <a:rPr 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 j </a:t>
            </a:r>
            <a:r>
              <a:rPr lang="zh-CN" sz="1575" dirty="0">
                <a:solidFill>
                  <a:srgbClr val="C9CED6"/>
                </a:solidFill>
                <a:latin typeface="Microsoft YaHei"/>
                <a:ea typeface="Microsoft YaHei"/>
              </a:rPr>
              <a:t>有关。</a:t>
            </a:r>
            <a:endParaRPr dirty="0"/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5981700" y="2524125"/>
            <a:ext cx="571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9AA1AC"/>
                </a:solidFill>
                <a:latin typeface="Microsoft YaHei"/>
                <a:ea typeface="Microsoft YaHei"/>
              </a:rPr>
              <a:t>目标图</a:t>
            </a:r>
            <a:endParaRPr/>
          </a:p>
        </p:txBody>
      </p:sp>
      <p:sp>
        <p:nvSpPr>
          <p:cNvPr id="204" name="矩形 203"/>
          <p:cNvSpPr/>
          <p:nvPr/>
        </p:nvSpPr>
        <p:spPr>
          <a:xfrm>
            <a:off x="4895850" y="4019550"/>
            <a:ext cx="2743200" cy="381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6010275" y="4733925"/>
            <a:ext cx="5238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FF6A13"/>
                </a:solidFill>
                <a:latin typeface="Microsoft YaHei"/>
                <a:ea typeface="Microsoft YaHei"/>
              </a:rPr>
              <a:t>第</a:t>
            </a:r>
            <a:r>
              <a:rPr lang="en-US" sz="1425">
                <a:solidFill>
                  <a:srgbClr val="FF6A13"/>
                </a:solidFill>
                <a:latin typeface="Microsoft YaHei"/>
                <a:ea typeface="Microsoft YaHei"/>
              </a:rPr>
              <a:t> j </a:t>
            </a:r>
            <a:r>
              <a:rPr lang="zh-CN" sz="1425">
                <a:solidFill>
                  <a:srgbClr val="FF6A13"/>
                </a:solidFill>
                <a:latin typeface="Microsoft YaHei"/>
                <a:ea typeface="Microsoft YaHei"/>
              </a:rPr>
              <a:t>行</a:t>
            </a:r>
            <a:endParaRPr/>
          </a:p>
        </p:txBody>
      </p:sp>
      <p:sp>
        <p:nvSpPr>
          <p:cNvPr id="211" name="矩形 210"/>
          <p:cNvSpPr/>
          <p:nvPr/>
        </p:nvSpPr>
        <p:spPr>
          <a:xfrm>
            <a:off x="7772400" y="4162425"/>
            <a:ext cx="419100" cy="28575"/>
          </a:xfrm>
          <a:prstGeom prst="rect">
            <a:avLst/>
          </a:prstGeom>
          <a:solidFill>
            <a:srgbClr val="FF8F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9505950" y="2524125"/>
            <a:ext cx="381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9AA1AC"/>
                </a:solidFill>
                <a:latin typeface="Microsoft YaHei"/>
                <a:ea typeface="Microsoft YaHei"/>
              </a:rPr>
              <a:t>原图</a:t>
            </a:r>
            <a:endParaRPr/>
          </a:p>
        </p:txBody>
      </p:sp>
      <p:sp>
        <p:nvSpPr>
          <p:cNvPr id="220" name="矩形 219"/>
          <p:cNvSpPr/>
          <p:nvPr/>
        </p:nvSpPr>
        <p:spPr>
          <a:xfrm>
            <a:off x="8324850" y="3731802"/>
            <a:ext cx="2743200" cy="381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8667750" y="4733925"/>
            <a:ext cx="20669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6A13"/>
                </a:solidFill>
                <a:latin typeface="Microsoft YaHei"/>
                <a:ea typeface="Microsoft YaHei"/>
              </a:rPr>
              <a:t>188 </a:t>
            </a:r>
            <a:r>
              <a:rPr lang="zh-CN" sz="1350">
                <a:solidFill>
                  <a:srgbClr val="FF6A13"/>
                </a:solidFill>
                <a:latin typeface="Microsoft YaHei"/>
                <a:ea typeface="Microsoft YaHei"/>
              </a:rPr>
              <a:t>个点全落在这一条线上</a:t>
            </a:r>
            <a:endParaRPr/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838200" y="6229350"/>
            <a:ext cx="105156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dirty="0">
                <a:solidFill>
                  <a:srgbClr val="C9CED6"/>
                </a:solidFill>
                <a:latin typeface="Microsoft YaHei"/>
                <a:ea typeface="Microsoft YaHei"/>
              </a:rPr>
              <a:t>所以这</a:t>
            </a:r>
            <a:r>
              <a:rPr lang="en-US" sz="1875" dirty="0">
                <a:solidFill>
                  <a:srgbClr val="C9CED6"/>
                </a:solidFill>
                <a:latin typeface="Microsoft YaHei"/>
                <a:ea typeface="Microsoft YaHei"/>
              </a:rPr>
              <a:t> 188 </a:t>
            </a:r>
            <a:r>
              <a:rPr lang="zh-CN" sz="1875" dirty="0">
                <a:solidFill>
                  <a:srgbClr val="C9CED6"/>
                </a:solidFill>
                <a:latin typeface="Microsoft YaHei"/>
                <a:ea typeface="Microsoft YaHei"/>
              </a:rPr>
              <a:t>格里的</a:t>
            </a:r>
            <a:r>
              <a:rPr lang="en-US" sz="1875" dirty="0">
                <a:solidFill>
                  <a:srgbClr val="C9CED6"/>
                </a:solidFill>
                <a:latin typeface="Microsoft YaHei"/>
                <a:ea typeface="Microsoft YaHei"/>
              </a:rPr>
              <a:t> y</a:t>
            </a:r>
            <a:r>
              <a:rPr lang="zh-CN" sz="1875" dirty="0">
                <a:solidFill>
                  <a:srgbClr val="C9CED6"/>
                </a:solidFill>
                <a:latin typeface="Microsoft YaHei"/>
                <a:ea typeface="Microsoft YaHei"/>
              </a:rPr>
              <a:t>，</a:t>
            </a:r>
            <a:r>
              <a:rPr lang="zh-CN" altLang="en-US" sz="1875" dirty="0">
                <a:solidFill>
                  <a:srgbClr val="C9CED6"/>
                </a:solidFill>
                <a:latin typeface="Microsoft YaHei"/>
                <a:ea typeface="Microsoft YaHei"/>
              </a:rPr>
              <a:t>是同一个数</a:t>
            </a:r>
            <a:r>
              <a:rPr lang="zh-CN" sz="1875" dirty="0">
                <a:solidFill>
                  <a:srgbClr val="C9CED6"/>
                </a:solidFill>
                <a:latin typeface="Microsoft YaHei"/>
                <a:ea typeface="Microsoft YaHei"/>
              </a:rPr>
              <a:t>。</a:t>
            </a:r>
            <a:endParaRPr dirty="0"/>
          </a:p>
        </p:txBody>
      </p:sp>
      <p:sp>
        <p:nvSpPr>
          <p:cNvPr id="13" name="文本框 12" descr="{&quot;isTemplate&quot;:true,&quot;type&quot;:&quot;text&quot;}">
            <a:extLst>
              <a:ext uri="{FF2B5EF4-FFF2-40B4-BE49-F238E27FC236}">
                <a16:creationId xmlns:a16="http://schemas.microsoft.com/office/drawing/2014/main" id="{32F234AB-42A9-665D-745D-3A3A73C799AC}"/>
              </a:ext>
            </a:extLst>
          </p:cNvPr>
          <p:cNvSpPr txBox="1"/>
          <p:nvPr/>
        </p:nvSpPr>
        <p:spPr>
          <a:xfrm>
            <a:off x="838200" y="3063949"/>
            <a:ext cx="2667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>
                <a:solidFill>
                  <a:srgbClr val="F2F3F5"/>
                </a:solidFill>
                <a:latin typeface="Consolas"/>
                <a:ea typeface="Consolas"/>
              </a:rPr>
              <a:t>x</a:t>
            </a:r>
            <a:endParaRPr/>
          </a:p>
        </p:txBody>
      </p:sp>
      <p:sp>
        <p:nvSpPr>
          <p:cNvPr id="14" name="文本框 13" descr="{&quot;isTemplate&quot;:true,&quot;type&quot;:&quot;text&quot;}">
            <a:extLst>
              <a:ext uri="{FF2B5EF4-FFF2-40B4-BE49-F238E27FC236}">
                <a16:creationId xmlns:a16="http://schemas.microsoft.com/office/drawing/2014/main" id="{18AEE1BA-06C8-5AE0-6F72-51FC7CF5DCC9}"/>
              </a:ext>
            </a:extLst>
          </p:cNvPr>
          <p:cNvSpPr txBox="1"/>
          <p:nvPr/>
        </p:nvSpPr>
        <p:spPr>
          <a:xfrm>
            <a:off x="1104900" y="3063949"/>
            <a:ext cx="3619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>
                <a:solidFill>
                  <a:srgbClr val="9AA1AC"/>
                </a:solidFill>
                <a:latin typeface="Consolas"/>
                <a:ea typeface="Consolas"/>
              </a:rPr>
              <a:t>=</a:t>
            </a:r>
            <a:endParaRPr/>
          </a:p>
        </p:txBody>
      </p:sp>
      <p:sp>
        <p:nvSpPr>
          <p:cNvPr id="15" name="文本框 14" descr="{&quot;isTemplate&quot;:true,&quot;type&quot;:&quot;text&quot;}">
            <a:extLst>
              <a:ext uri="{FF2B5EF4-FFF2-40B4-BE49-F238E27FC236}">
                <a16:creationId xmlns:a16="http://schemas.microsoft.com/office/drawing/2014/main" id="{061161A6-8EAD-C261-6574-6AFAC24DCCE6}"/>
              </a:ext>
            </a:extLst>
          </p:cNvPr>
          <p:cNvSpPr txBox="1"/>
          <p:nvPr/>
        </p:nvSpPr>
        <p:spPr>
          <a:xfrm>
            <a:off x="1466850" y="2844874"/>
            <a:ext cx="24955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 dirty="0">
                <a:solidFill>
                  <a:srgbClr val="C9CED6"/>
                </a:solidFill>
                <a:latin typeface="Consolas"/>
                <a:ea typeface="Consolas"/>
              </a:rPr>
              <a:t>h₀₀·</a:t>
            </a:r>
            <a:r>
              <a:rPr lang="en-US" sz="1875" dirty="0" err="1">
                <a:solidFill>
                  <a:srgbClr val="C9CED6"/>
                </a:solidFill>
                <a:latin typeface="Consolas"/>
                <a:ea typeface="Consolas"/>
              </a:rPr>
              <a:t>i</a:t>
            </a:r>
            <a:r>
              <a:rPr lang="en-US" sz="1875" dirty="0">
                <a:solidFill>
                  <a:srgbClr val="C9CED6"/>
                </a:solidFill>
                <a:latin typeface="Consolas"/>
                <a:ea typeface="Consolas"/>
              </a:rPr>
              <a:t> + h₀₁·j + h₀₂</a:t>
            </a:r>
            <a:endParaRPr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991555-ABE5-E30A-CCC0-B20FB24E4275}"/>
              </a:ext>
            </a:extLst>
          </p:cNvPr>
          <p:cNvSpPr/>
          <p:nvPr/>
        </p:nvSpPr>
        <p:spPr>
          <a:xfrm>
            <a:off x="1466850" y="3225874"/>
            <a:ext cx="2095500" cy="19050"/>
          </a:xfrm>
          <a:prstGeom prst="rect">
            <a:avLst/>
          </a:prstGeom>
          <a:solidFill>
            <a:srgbClr val="7A82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文本框 17" descr="{&quot;isTemplate&quot;:true,&quot;type&quot;:&quot;text&quot;}">
            <a:extLst>
              <a:ext uri="{FF2B5EF4-FFF2-40B4-BE49-F238E27FC236}">
                <a16:creationId xmlns:a16="http://schemas.microsoft.com/office/drawing/2014/main" id="{CB7DB12C-090B-BCF4-DA5D-D9CBED1E1452}"/>
              </a:ext>
            </a:extLst>
          </p:cNvPr>
          <p:cNvSpPr txBox="1"/>
          <p:nvPr/>
        </p:nvSpPr>
        <p:spPr>
          <a:xfrm>
            <a:off x="838200" y="4054549"/>
            <a:ext cx="2667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>
                <a:solidFill>
                  <a:srgbClr val="F2F3F5"/>
                </a:solidFill>
                <a:latin typeface="Consolas"/>
                <a:ea typeface="Consolas"/>
              </a:rPr>
              <a:t>y</a:t>
            </a:r>
            <a:endParaRPr/>
          </a:p>
        </p:txBody>
      </p:sp>
      <p:sp>
        <p:nvSpPr>
          <p:cNvPr id="19" name="文本框 18" descr="{&quot;isTemplate&quot;:true,&quot;type&quot;:&quot;text&quot;}">
            <a:extLst>
              <a:ext uri="{FF2B5EF4-FFF2-40B4-BE49-F238E27FC236}">
                <a16:creationId xmlns:a16="http://schemas.microsoft.com/office/drawing/2014/main" id="{BC7FF04F-31AB-FEAB-CD3A-94294A1BEBC0}"/>
              </a:ext>
            </a:extLst>
          </p:cNvPr>
          <p:cNvSpPr txBox="1"/>
          <p:nvPr/>
        </p:nvSpPr>
        <p:spPr>
          <a:xfrm>
            <a:off x="1104900" y="4054549"/>
            <a:ext cx="3619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>
                <a:solidFill>
                  <a:srgbClr val="9AA1AC"/>
                </a:solidFill>
                <a:latin typeface="Consolas"/>
                <a:ea typeface="Consolas"/>
              </a:rPr>
              <a:t>=</a:t>
            </a:r>
            <a:endParaRPr/>
          </a:p>
        </p:txBody>
      </p:sp>
      <p:sp>
        <p:nvSpPr>
          <p:cNvPr id="20" name="文本框 19" descr="{&quot;isTemplate&quot;:true,&quot;type&quot;:&quot;text&quot;}">
            <a:extLst>
              <a:ext uri="{FF2B5EF4-FFF2-40B4-BE49-F238E27FC236}">
                <a16:creationId xmlns:a16="http://schemas.microsoft.com/office/drawing/2014/main" id="{6AF60C41-728F-56F7-58C8-2F6643CFAB2D}"/>
              </a:ext>
            </a:extLst>
          </p:cNvPr>
          <p:cNvSpPr txBox="1"/>
          <p:nvPr/>
        </p:nvSpPr>
        <p:spPr>
          <a:xfrm>
            <a:off x="1466850" y="3835474"/>
            <a:ext cx="24955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</a:rPr>
              <a:t>h₁₀·</a:t>
            </a:r>
            <a:r>
              <a:rPr lang="en-US" sz="1875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</a:rPr>
              <a:t>i</a:t>
            </a:r>
            <a:r>
              <a:rPr lang="en-US" sz="1875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</a:rPr>
              <a:t> + </a:t>
            </a:r>
            <a:r>
              <a:rPr lang="en-US" sz="1875" dirty="0">
                <a:solidFill>
                  <a:srgbClr val="C9CED6"/>
                </a:solidFill>
                <a:latin typeface="Consolas"/>
                <a:ea typeface="Consolas"/>
              </a:rPr>
              <a:t>h₁₁·j + h₁₂</a:t>
            </a:r>
            <a:endParaRPr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C73B5A-0E9A-B118-1CA1-CFD16D4C497B}"/>
              </a:ext>
            </a:extLst>
          </p:cNvPr>
          <p:cNvSpPr/>
          <p:nvPr/>
        </p:nvSpPr>
        <p:spPr>
          <a:xfrm>
            <a:off x="1466850" y="4216474"/>
            <a:ext cx="2095500" cy="19050"/>
          </a:xfrm>
          <a:prstGeom prst="rect">
            <a:avLst/>
          </a:prstGeom>
          <a:solidFill>
            <a:srgbClr val="7A82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文本框 21" descr="{&quot;isTemplate&quot;:true,&quot;type&quot;:&quot;text&quot;}">
            <a:extLst>
              <a:ext uri="{FF2B5EF4-FFF2-40B4-BE49-F238E27FC236}">
                <a16:creationId xmlns:a16="http://schemas.microsoft.com/office/drawing/2014/main" id="{F965B604-6901-CB60-ED2F-E3E0342290C9}"/>
              </a:ext>
            </a:extLst>
          </p:cNvPr>
          <p:cNvSpPr txBox="1"/>
          <p:nvPr/>
        </p:nvSpPr>
        <p:spPr>
          <a:xfrm>
            <a:off x="2371725" y="4311294"/>
            <a:ext cx="4762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 dirty="0">
                <a:solidFill>
                  <a:schemeClr val="bg2">
                    <a:lumMod val="90000"/>
                  </a:schemeClr>
                </a:solidFill>
                <a:latin typeface="Consolas"/>
                <a:ea typeface="Consolas"/>
              </a:rPr>
              <a:t>D</a:t>
            </a:r>
            <a:endParaRPr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文本框 24" descr="{&quot;isTemplate&quot;:true,&quot;type&quot;:&quot;text&quot;}">
            <a:extLst>
              <a:ext uri="{FF2B5EF4-FFF2-40B4-BE49-F238E27FC236}">
                <a16:creationId xmlns:a16="http://schemas.microsoft.com/office/drawing/2014/main" id="{7CC4D2F0-0B7C-B7F1-AA5E-4882AA071E6A}"/>
              </a:ext>
            </a:extLst>
          </p:cNvPr>
          <p:cNvSpPr txBox="1"/>
          <p:nvPr/>
        </p:nvSpPr>
        <p:spPr>
          <a:xfrm>
            <a:off x="2371725" y="3323475"/>
            <a:ext cx="4762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 dirty="0">
                <a:solidFill>
                  <a:schemeClr val="bg2">
                    <a:lumMod val="90000"/>
                  </a:schemeClr>
                </a:solidFill>
                <a:latin typeface="Consolas"/>
                <a:ea typeface="Consolas"/>
              </a:rPr>
              <a:t>D</a:t>
            </a:r>
            <a:endParaRPr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矩形 2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4" name="图片 2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alt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int8</a:t>
            </a: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表</a:t>
            </a:r>
            <a:r>
              <a:rPr lang="en-US" alt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——</a:t>
            </a: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天下三分</a:t>
            </a:r>
            <a:endParaRPr dirty="0"/>
          </a:p>
        </p:txBody>
      </p:sp>
      <p:sp>
        <p:nvSpPr>
          <p:cNvPr id="256" name="矩形 255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7" name="矩形 256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838200" y="2276475"/>
            <a:ext cx="29718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>
                <a:solidFill>
                  <a:srgbClr val="F2F3F5"/>
                </a:solidFill>
                <a:latin typeface="Consolas"/>
                <a:ea typeface="Consolas"/>
              </a:rPr>
              <a:t>PerImg_xcol[120][188]</a:t>
            </a:r>
            <a:endParaRPr/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3924300" y="2276475"/>
            <a:ext cx="10096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6A13"/>
                </a:solidFill>
                <a:latin typeface="Microsoft YaHei"/>
                <a:ea typeface="Microsoft YaHei"/>
              </a:rPr>
              <a:t>22560 B</a:t>
            </a:r>
            <a:endParaRPr/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838200" y="2657475"/>
            <a:ext cx="40957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9AA1AC"/>
                </a:solidFill>
                <a:latin typeface="Microsoft YaHei"/>
                <a:ea typeface="Microsoft YaHei"/>
              </a:rPr>
              <a:t>每格只存</a:t>
            </a:r>
            <a:r>
              <a:rPr lang="en-US" sz="1350">
                <a:solidFill>
                  <a:srgbClr val="9AA1AC"/>
                </a:solidFill>
                <a:latin typeface="Microsoft YaHei"/>
                <a:ea typeface="Microsoft YaHei"/>
              </a:rPr>
              <a:t> x</a:t>
            </a:r>
            <a:endParaRPr/>
          </a:p>
        </p:txBody>
      </p:sp>
      <p:sp>
        <p:nvSpPr>
          <p:cNvPr id="261" name="矩形 260"/>
          <p:cNvSpPr/>
          <p:nvPr/>
        </p:nvSpPr>
        <p:spPr>
          <a:xfrm>
            <a:off x="838200" y="3019425"/>
            <a:ext cx="4095750" cy="9525"/>
          </a:xfrm>
          <a:prstGeom prst="rect">
            <a:avLst/>
          </a:prstGeom>
          <a:solidFill>
            <a:srgbClr val="3339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838200" y="3181350"/>
            <a:ext cx="32766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>
                <a:solidFill>
                  <a:srgbClr val="F2F3F5"/>
                </a:solidFill>
                <a:latin typeface="Consolas"/>
                <a:ea typeface="Consolas"/>
              </a:rPr>
              <a:t>PerImg_rowbase[120]</a:t>
            </a:r>
            <a:endParaRPr/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4229100" y="3181350"/>
            <a:ext cx="7048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8F4D"/>
                </a:solidFill>
                <a:latin typeface="Microsoft YaHei"/>
                <a:ea typeface="Microsoft YaHei"/>
              </a:rPr>
              <a:t>480 B</a:t>
            </a:r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838200" y="3562350"/>
            <a:ext cx="40957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9AA1AC"/>
                </a:solidFill>
                <a:latin typeface="Microsoft YaHei"/>
                <a:ea typeface="Microsoft YaHei"/>
              </a:rPr>
              <a:t>每行首像素地址</a:t>
            </a:r>
            <a:endParaRPr/>
          </a:p>
        </p:txBody>
      </p:sp>
      <p:sp>
        <p:nvSpPr>
          <p:cNvPr id="265" name="矩形 264"/>
          <p:cNvSpPr/>
          <p:nvPr/>
        </p:nvSpPr>
        <p:spPr>
          <a:xfrm>
            <a:off x="838200" y="3924300"/>
            <a:ext cx="4095750" cy="9525"/>
          </a:xfrm>
          <a:prstGeom prst="rect">
            <a:avLst/>
          </a:prstGeom>
          <a:solidFill>
            <a:srgbClr val="3339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838200" y="4086225"/>
            <a:ext cx="32766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>
                <a:solidFill>
                  <a:srgbClr val="F2F3F5"/>
                </a:solidFill>
                <a:latin typeface="Consolas"/>
                <a:ea typeface="Consolas"/>
              </a:rPr>
              <a:t>PerImg_rvalid[120]</a:t>
            </a:r>
            <a:endParaRPr/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4229100" y="4086225"/>
            <a:ext cx="7048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B27A"/>
                </a:solidFill>
                <a:latin typeface="Microsoft YaHei"/>
                <a:ea typeface="Microsoft YaHei"/>
              </a:rPr>
              <a:t>120 B</a:t>
            </a:r>
            <a:endParaRPr/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838200" y="4467225"/>
            <a:ext cx="40957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dirty="0">
                <a:solidFill>
                  <a:srgbClr val="9AA1AC"/>
                </a:solidFill>
                <a:latin typeface="Microsoft YaHei"/>
                <a:ea typeface="Microsoft YaHei"/>
              </a:rPr>
              <a:t>这一行是否有效</a:t>
            </a:r>
            <a:r>
              <a:rPr lang="zh-CN" altLang="en-US" sz="1350" dirty="0">
                <a:solidFill>
                  <a:srgbClr val="9AA1AC"/>
                </a:solidFill>
                <a:latin typeface="Microsoft YaHei"/>
                <a:ea typeface="Microsoft YaHei"/>
              </a:rPr>
              <a:t>（换成位索引的话还能凹）</a:t>
            </a:r>
            <a:endParaRPr dirty="0"/>
          </a:p>
        </p:txBody>
      </p:sp>
      <p:sp>
        <p:nvSpPr>
          <p:cNvPr id="269" name="矩形 268"/>
          <p:cNvSpPr/>
          <p:nvPr/>
        </p:nvSpPr>
        <p:spPr>
          <a:xfrm>
            <a:off x="838200" y="4829175"/>
            <a:ext cx="4095750" cy="9525"/>
          </a:xfrm>
          <a:prstGeom prst="rect">
            <a:avLst/>
          </a:prstGeom>
          <a:solidFill>
            <a:srgbClr val="3339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0" name="矩形 269"/>
          <p:cNvSpPr/>
          <p:nvPr/>
        </p:nvSpPr>
        <p:spPr>
          <a:xfrm>
            <a:off x="838200" y="5105400"/>
            <a:ext cx="47625" cy="55245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1057275" y="5048250"/>
            <a:ext cx="2562225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2250" b="1">
                <a:solidFill>
                  <a:srgbClr val="FF6A13"/>
                </a:solidFill>
                <a:latin typeface="Microsoft YaHei"/>
                <a:ea typeface="Microsoft YaHei"/>
              </a:rPr>
              <a:t>23160 B</a:t>
            </a:r>
            <a:endParaRPr/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1057275" y="5486400"/>
            <a:ext cx="25622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一张图</a:t>
            </a: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 22560 B</a:t>
            </a: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，表跟图一样大</a:t>
            </a:r>
            <a:endParaRPr/>
          </a:p>
        </p:txBody>
      </p:sp>
      <p:sp>
        <p:nvSpPr>
          <p:cNvPr id="273" name="矩形: 圆角 272"/>
          <p:cNvSpPr/>
          <p:nvPr/>
        </p:nvSpPr>
        <p:spPr>
          <a:xfrm>
            <a:off x="5600700" y="1838325"/>
            <a:ext cx="5753100" cy="4305300"/>
          </a:xfrm>
          <a:prstGeom prst="roundRect">
            <a:avLst>
              <a:gd name="adj" fmla="val 1770"/>
            </a:avLst>
          </a:prstGeom>
          <a:solidFill>
            <a:srgbClr val="2B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4" name="文本框 273"/>
          <p:cNvSpPr txBox="1"/>
          <p:nvPr/>
        </p:nvSpPr>
        <p:spPr>
          <a:xfrm>
            <a:off x="5753100" y="1971675"/>
            <a:ext cx="5781675" cy="4038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uint8  </a:t>
            </a:r>
            <a:r>
              <a:rPr sz="1350" dirty="0" err="1">
                <a:solidFill>
                  <a:srgbClr val="FFAB70"/>
                </a:solidFill>
                <a:latin typeface="Menlo"/>
                <a:ea typeface="Menlo"/>
              </a:rPr>
              <a:t>PerImg_xcol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[RESULT_ROW][RESULT_COL];</a:t>
            </a:r>
            <a:r>
              <a:rPr sz="1350" dirty="0">
                <a:solidFill>
                  <a:srgbClr val="6A737D"/>
                </a:solidFill>
                <a:latin typeface="Menlo"/>
                <a:ea typeface="Menlo"/>
              </a:rPr>
              <a:t>  // 22560 B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uint8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350" dirty="0" err="1">
                <a:solidFill>
                  <a:srgbClr val="FFAB70"/>
                </a:solidFill>
                <a:latin typeface="Menlo"/>
                <a:ea typeface="Menlo"/>
              </a:rPr>
              <a:t>PerImg_rowbase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[RESULT_ROW];</a:t>
            </a:r>
            <a:r>
              <a:rPr sz="1350" dirty="0">
                <a:solidFill>
                  <a:srgbClr val="6A737D"/>
                </a:solidFill>
                <a:latin typeface="Menlo"/>
                <a:ea typeface="Menlo"/>
              </a:rPr>
              <a:t>           //   480 B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uint8  </a:t>
            </a:r>
            <a:r>
              <a:rPr sz="1350" dirty="0" err="1">
                <a:solidFill>
                  <a:srgbClr val="FFAB70"/>
                </a:solidFill>
                <a:latin typeface="Menlo"/>
                <a:ea typeface="Menlo"/>
              </a:rPr>
              <a:t>PerImg_rvalid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[RESULT_ROW];</a:t>
            </a:r>
            <a:r>
              <a:rPr sz="1350" dirty="0">
                <a:solidFill>
                  <a:srgbClr val="6A737D"/>
                </a:solidFill>
                <a:latin typeface="Menlo"/>
                <a:ea typeface="Menlo"/>
              </a:rPr>
              <a:t>            //   120 B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(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int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j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; j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&lt;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RESULT_ROW; 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j</a:t>
            </a:r>
            <a:r>
              <a:rPr sz="1350" dirty="0" err="1">
                <a:solidFill>
                  <a:srgbClr val="F97583"/>
                </a:solidFill>
                <a:latin typeface="Menlo"/>
                <a:ea typeface="Menlo"/>
              </a:rPr>
              <a:t>++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double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den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FAB70"/>
                </a:solidFill>
                <a:latin typeface="Menlo"/>
                <a:ea typeface="Menlo"/>
              </a:rPr>
              <a:t>M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2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][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]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j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FAB70"/>
                </a:solidFill>
                <a:latin typeface="Menlo"/>
                <a:ea typeface="Menlo"/>
              </a:rPr>
              <a:t>M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2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][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2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];</a:t>
            </a:r>
            <a:r>
              <a:rPr sz="1350" dirty="0">
                <a:solidFill>
                  <a:srgbClr val="6A737D"/>
                </a:solidFill>
                <a:latin typeface="Menlo"/>
                <a:ea typeface="Menlo"/>
              </a:rPr>
              <a:t>          // h20 = 0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int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ly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(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int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)((</a:t>
            </a:r>
            <a:r>
              <a:rPr sz="1350" dirty="0">
                <a:solidFill>
                  <a:srgbClr val="FFAB70"/>
                </a:solidFill>
                <a:latin typeface="Menlo"/>
                <a:ea typeface="Menlo"/>
              </a:rPr>
              <a:t>M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][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]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j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FAB70"/>
                </a:solidFill>
                <a:latin typeface="Menlo"/>
                <a:ea typeface="Menlo"/>
              </a:rPr>
              <a:t>M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][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2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])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/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den);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(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ly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&lt;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||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ly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&gt;=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USED_ROW) {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  </a:t>
            </a:r>
            <a:r>
              <a:rPr sz="1350" dirty="0" err="1">
                <a:solidFill>
                  <a:srgbClr val="FFAB70"/>
                </a:solidFill>
                <a:latin typeface="Menlo"/>
                <a:ea typeface="Menlo"/>
              </a:rPr>
              <a:t>PerImg_rvalid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[j]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;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continue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;</a:t>
            </a:r>
            <a:r>
              <a:rPr sz="1350" dirty="0">
                <a:solidFill>
                  <a:srgbClr val="6A737D"/>
                </a:solidFill>
                <a:latin typeface="Menlo"/>
                <a:ea typeface="Menlo"/>
              </a:rPr>
              <a:t>          // </a:t>
            </a:r>
            <a:r>
              <a:rPr sz="1350" dirty="0" err="1">
                <a:solidFill>
                  <a:srgbClr val="6A737D"/>
                </a:solidFill>
                <a:latin typeface="Menlo"/>
                <a:ea typeface="Menlo"/>
              </a:rPr>
              <a:t>整行作废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}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</a:t>
            </a:r>
            <a:r>
              <a:rPr sz="1350" dirty="0" err="1">
                <a:solidFill>
                  <a:srgbClr val="FFAB70"/>
                </a:solidFill>
                <a:latin typeface="Menlo"/>
                <a:ea typeface="Menlo"/>
              </a:rPr>
              <a:t>PerImg_rowbase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[j]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&amp;</a:t>
            </a:r>
            <a:r>
              <a:rPr sz="1350" dirty="0">
                <a:solidFill>
                  <a:srgbClr val="FFAB70"/>
                </a:solidFill>
                <a:latin typeface="Menlo"/>
                <a:ea typeface="Menlo"/>
              </a:rPr>
              <a:t>image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ly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][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];</a:t>
            </a:r>
            <a:r>
              <a:rPr sz="1350" dirty="0">
                <a:solidFill>
                  <a:srgbClr val="6A737D"/>
                </a:solidFill>
                <a:latin typeface="Menlo"/>
                <a:ea typeface="Menlo"/>
              </a:rPr>
              <a:t>         // y*188 </a:t>
            </a:r>
            <a:r>
              <a:rPr sz="1350" dirty="0" err="1">
                <a:solidFill>
                  <a:srgbClr val="6A737D"/>
                </a:solidFill>
                <a:latin typeface="Menlo"/>
                <a:ea typeface="Menlo"/>
              </a:rPr>
              <a:t>提前算好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(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int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i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; 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i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&lt;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RESULT_COL; 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i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++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    </a:t>
            </a:r>
            <a:r>
              <a:rPr sz="1350" dirty="0" err="1">
                <a:solidFill>
                  <a:srgbClr val="FFAB70"/>
                </a:solidFill>
                <a:latin typeface="Menlo"/>
                <a:ea typeface="Menlo"/>
              </a:rPr>
              <a:t>PerImg_xcol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[j][</a:t>
            </a:r>
            <a:r>
              <a:rPr sz="1350" dirty="0" err="1">
                <a:solidFill>
                  <a:srgbClr val="E1E4E8"/>
                </a:solidFill>
                <a:latin typeface="Menlo"/>
                <a:ea typeface="Menlo"/>
              </a:rPr>
              <a:t>i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] </a:t>
            </a:r>
            <a:r>
              <a:rPr sz="1350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350" dirty="0">
                <a:solidFill>
                  <a:srgbClr val="6A737D"/>
                </a:solidFill>
                <a:latin typeface="Menlo"/>
                <a:ea typeface="Menlo"/>
              </a:rPr>
              <a:t> /* </a:t>
            </a:r>
            <a:r>
              <a:rPr sz="1350" dirty="0" err="1">
                <a:solidFill>
                  <a:srgbClr val="6A737D"/>
                </a:solidFill>
                <a:latin typeface="Menlo"/>
                <a:ea typeface="Menlo"/>
              </a:rPr>
              <a:t>只存</a:t>
            </a:r>
            <a:r>
              <a:rPr sz="1350" dirty="0">
                <a:solidFill>
                  <a:srgbClr val="6A737D"/>
                </a:solidFill>
                <a:latin typeface="Menlo"/>
                <a:ea typeface="Menlo"/>
              </a:rPr>
              <a:t> x */</a:t>
            </a: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 dirty="0"/>
          </a:p>
          <a:p>
            <a:pPr>
              <a:lnSpc>
                <a:spcPct val="140000"/>
              </a:lnSpc>
            </a:pPr>
            <a:r>
              <a:rPr sz="1350" dirty="0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const bg = '#1F232A';&#10;const or = '#FF6A13';&#10;const or2 = '#FF8F4D';&#10;const or3 = '#FFB27A';&#10;const txt = '#F2F3F5';&#10;const body = '#C9CED6';&#10;const muted = '#9AA1AC';&#10;const rule = '#3A404A';&#10;const panel = '#272C34';&#10;&#10;&lt;Slide style={{ width: 1280, height: 720, display: 'flex', flexDirection: 'column', background: bg, padding: 0 }}&gt;&#10;&#10;    &lt;Image src=&quot;assets/bg-ch3.png&quot; style={{ position: 'absolute', left: 0, top: 0, width: 1280, height: 720, zIndex: 0 }} /&gt;&#10;&#10;    &lt;Box style={{ position: 'relative', zIndex: 1, flex: 1, display: 'flex', padding: '0 88px', flexDirection: 'column' }}&gt;&#10;    &lt;Box style={{ display: 'flex', flexDirection: 'column', marginTop: 50 }}&gt;&#10;        &lt;Text style={{ fontSize: 44, fontWeight: 700, color: txt }}&gt;U8 运行时怎么查表&lt;/Text&gt;&#10;        &lt;Box style={{ marginTop: 20, width: '100%', height: 1, background: rule, display: 'flex', flexDirection: 'row' }}&gt;&#10;            &lt;Box style={{ width: 140, height: 1, background: or }} /&gt;&#10;        &lt;/Box&gt;&#10;    &lt;/Box&gt;&#10;&#10;    &lt;Box style={{ display: 'flex', flexDirection: 'row', flex: 1, marginTop: 40, marginBottom: 18 }}&gt;&#10;&#10;        &lt;Box style={{ display: 'flex', flexDirection: 'column', width: 668 }}&gt;&#10;            &lt;CodeBlock&#10;                code={`__attribute__((optimize(&quot;O2&quot;)))&#10;uint32 perspective_sum_o2(void) {&#10;    uint32 sum = 0;&#10;    for (uint16 row = 0; row &lt; RESULT_ROW; row++) {&#10;        const uint8 *line = PerImg_rowbase[row];  // 行首，建表时算好&#10;        const uint8 *xc   = PerImg_xcol[row];     // 这行的 188 个 x&#10;        if (0 == PerImg_rvalid[row]) continue;    // 整行作废&#10;        for (uint16 col = 0; col &lt; RESULT_COL; col++)&#10;            sum += line[xc[col]];                 // 一条 lbu&#10;    }&#10;    return sum;&#10;}`}&#10;                language='c'&#10;                width={668}&#10;                fontSize={18}&#10;                theme='github-dark'&#10;                background='#2B3038'&#10;                macHeader={false}&#10;            /&gt;&#10;        &lt;/Box&gt;&#10;&#10;        &lt;Box style={{ display: 'flex', flexDirection: 'column', flex: 1, marginLeft: 44 }}&gt;&#10;&#10;            &lt;Box style={{ display: 'flex', flexDirection: 'row', alignItems: 'baseline', marginBottom: 14 }}&gt;&#10;                &lt;Text style={{ fontSize: 20, color: muted, marginRight: 12 }}&gt;早期写法&lt;/Text&gt;&#10;                &lt;Text style={{ fontFamily: 'Consolas', fontSize: 19, color: or2 }}&gt;PERSPECTIVE_PIXEL&lt;/Text&gt;&#10;            &lt;/Box&gt;&#10;&#10;            &lt;Text style={{ fontSize: 21, color: body, lineHeight: 1.85 }}&gt;&#10;                宏里带一个 rvalid 三元判断，&#10;                &lt;br /&gt;&#10;                还有 row*188、y*188 两次乘。&#10;            &lt;/Text&gt;&#10;&#10;            &lt;Text style={{ fontSize: 21, color: body, lineHeight: 1.85, marginTop: 14 }}&gt;&#10;                -O0 不外提，每取一个像素都重算一遍，&#10;                &lt;br /&gt;&#10;                内层膨到 42 条。&#10;            &lt;/Text&gt;&#10;&#10;            &lt;Text style={{ fontSize: 21, color: body, lineHeight: 1.85, marginTop: 14 }}&gt;&#10;                提到行外：判一次有效、取一次行首，&#10;                &lt;br /&gt;&#10;                内层落回 18 条。&#10;            &lt;/Text&gt;&#10;&#10;            &lt;Box style={{ display: 'flex', flexDirection: 'row', alignItems: 'center', marginTop: 22 }}&gt;&#10;                &lt;Text style={{ fontSize: 34, fontWeight: 800, color: muted, fontFamily: 'Consolas', lineHeight: 1 }}&gt;42&lt;/Text&gt;&#10;                &lt;Text style={{ fontSize: 26, color: muted, marginLeft: 10, marginRight: 10 }}&gt;→&lt;/Text&gt;&#10;                &lt;Text style={{ fontSize: 34, fontWeight: 800, color: or, fontFamily: 'Consolas', lineHeight: 1 }}&gt;18&lt;/Text&gt;&#10;                &lt;Text style={{ fontSize: 19, color: muted, marginLeft: 10 }}&gt;条&lt;/Text&gt;&#10;            &lt;/Box&gt;&#10;&#10;            &lt;Box style={{ display: 'flex', flexDirection: 'row', alignItems: 'center', marginTop: 16 }}&gt;&#10;                &lt;Text style={{ fontSize: 34, fontWeight: 800, color: muted, fontFamily: 'Consolas', lineHeight: 1 }}&gt;8.76&lt;/Text&gt;&#10;                &lt;Text style={{ fontSize: 26, color: muted, marginLeft: 10, marginRight: 10 }}&gt;→&lt;/Text&gt;&#10;                &lt;Text style={{ fontSize: 34, fontWeight: 800, color: or, fontFamily: 'Consolas', lineHeight: 1 }}&gt;4.36&lt;/Text&gt;&#10;                &lt;Text style={{ fontSize: 19, color: muted, marginLeft: 10 }}&gt;ms&lt;/Text&gt;&#10;            &lt;/Box&gt;&#10;&#10;        &lt;/Box&gt;&#10;&#10;    &lt;/Box&gt;&#10;&#10;    &lt;Text style={{ fontSize: 22, color: txt, lineHeight: 1.7, marginBottom: 34 }}&gt;&#10;        三张表在运行时都收敛成 line[xc[col]]，差别只剩表项占几个字节。&#10;    &lt;/Text&gt;&#10;&#10;    &lt;/Box&gt;&#10;&#10;    &lt;Text style={{ position: 'absolute', left: 1158, top: 674, fontSize: 20, color: '#6C737E', zIndex: 2 }}&gt;30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矩形 4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83" name="图片 4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84" name="文本框 483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2F3F5"/>
                </a:solidFill>
                <a:latin typeface="Microsoft YaHei"/>
                <a:ea typeface="Microsoft YaHei"/>
              </a:rPr>
              <a:t>U8 </a:t>
            </a:r>
            <a:r>
              <a:rPr lang="zh-CN" sz="3300" b="1">
                <a:solidFill>
                  <a:srgbClr val="F2F3F5"/>
                </a:solidFill>
                <a:latin typeface="Microsoft YaHei"/>
                <a:ea typeface="Microsoft YaHei"/>
              </a:rPr>
              <a:t>运行时怎么查表</a:t>
            </a:r>
            <a:endParaRPr/>
          </a:p>
        </p:txBody>
      </p:sp>
      <p:sp>
        <p:nvSpPr>
          <p:cNvPr id="485" name="矩形 484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6" name="矩形 485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838200" y="6191250"/>
            <a:ext cx="10515600" cy="4286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650" dirty="0">
                <a:solidFill>
                  <a:srgbClr val="F2F3F5"/>
                </a:solidFill>
                <a:latin typeface="Microsoft YaHei"/>
                <a:ea typeface="Microsoft YaHei"/>
              </a:rPr>
              <a:t>三张表在运行时都收敛成</a:t>
            </a:r>
            <a:r>
              <a:rPr lang="en-US" sz="1650" dirty="0">
                <a:solidFill>
                  <a:srgbClr val="F2F3F5"/>
                </a:solidFill>
                <a:latin typeface="Microsoft YaHei"/>
                <a:ea typeface="Microsoft YaHei"/>
              </a:rPr>
              <a:t> line[xc[col]]</a:t>
            </a:r>
            <a:r>
              <a:rPr lang="zh-CN" sz="1650" dirty="0">
                <a:solidFill>
                  <a:srgbClr val="F2F3F5"/>
                </a:solidFill>
                <a:latin typeface="Microsoft YaHei"/>
                <a:ea typeface="Microsoft YaHei"/>
              </a:rPr>
              <a:t>，差别只剩表项占几个字节。</a:t>
            </a:r>
            <a:endParaRPr dirty="0"/>
          </a:p>
        </p:txBody>
      </p:sp>
      <p:sp>
        <p:nvSpPr>
          <p:cNvPr id="501" name="矩形: 圆角 500"/>
          <p:cNvSpPr/>
          <p:nvPr/>
        </p:nvSpPr>
        <p:spPr>
          <a:xfrm>
            <a:off x="1989667" y="1743075"/>
            <a:ext cx="6362700" cy="3724275"/>
          </a:xfrm>
          <a:prstGeom prst="roundRect">
            <a:avLst>
              <a:gd name="adj" fmla="val 2046"/>
            </a:avLst>
          </a:prstGeom>
          <a:solidFill>
            <a:srgbClr val="2B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2" name="文本框 501"/>
          <p:cNvSpPr txBox="1"/>
          <p:nvPr/>
        </p:nvSpPr>
        <p:spPr>
          <a:xfrm>
            <a:off x="2171700" y="2137128"/>
            <a:ext cx="6372225" cy="3457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lang="en-US" dirty="0">
                <a:solidFill>
                  <a:srgbClr val="E1E4E8"/>
                </a:solidFill>
                <a:latin typeface="Menlo"/>
                <a:ea typeface="Menlo"/>
              </a:rPr>
              <a:t> uint8 </a:t>
            </a:r>
            <a:r>
              <a:rPr lang="en-US" dirty="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lang="en-US" dirty="0">
                <a:solidFill>
                  <a:srgbClr val="E1E4E8"/>
                </a:solidFill>
                <a:latin typeface="Menlo"/>
                <a:ea typeface="Menlo"/>
              </a:rPr>
              <a:t>line </a:t>
            </a:r>
            <a:r>
              <a:rPr lang="en-US"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lang="en-US"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lang="en-US" dirty="0" err="1">
                <a:solidFill>
                  <a:srgbClr val="FFAB70"/>
                </a:solidFill>
                <a:latin typeface="Menlo"/>
                <a:ea typeface="Menlo"/>
              </a:rPr>
              <a:t>PerImg_rowbase</a:t>
            </a:r>
            <a:r>
              <a:rPr lang="en-US" dirty="0">
                <a:solidFill>
                  <a:srgbClr val="E1E4E8"/>
                </a:solidFill>
                <a:latin typeface="Menlo"/>
                <a:ea typeface="Menlo"/>
              </a:rPr>
              <a:t>[row];</a:t>
            </a:r>
            <a:r>
              <a:rPr lang="en-US" dirty="0">
                <a:solidFill>
                  <a:srgbClr val="6A737D"/>
                </a:solidFill>
                <a:latin typeface="Menlo"/>
                <a:ea typeface="Menlo"/>
              </a:rPr>
              <a:t>  // </a:t>
            </a:r>
            <a:r>
              <a:rPr lang="zh-CN" altLang="en-US" dirty="0">
                <a:solidFill>
                  <a:srgbClr val="6A737D"/>
                </a:solidFill>
                <a:latin typeface="Menlo"/>
                <a:ea typeface="Menlo"/>
              </a:rPr>
              <a:t>行首地址</a:t>
            </a:r>
            <a:endParaRPr lang="en-US" altLang="zh-CN" sz="2800" dirty="0"/>
          </a:p>
          <a:p>
            <a:pPr>
              <a:lnSpc>
                <a:spcPct val="140000"/>
              </a:lnSpc>
            </a:pPr>
            <a:r>
              <a:rPr dirty="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dirty="0">
                <a:solidFill>
                  <a:srgbClr val="E1E4E8"/>
                </a:solidFill>
                <a:latin typeface="Menlo"/>
                <a:ea typeface="Menlo"/>
              </a:rPr>
              <a:t> uint8 </a:t>
            </a:r>
            <a:r>
              <a:rPr dirty="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dirty="0">
                <a:solidFill>
                  <a:srgbClr val="E1E4E8"/>
                </a:solidFill>
                <a:latin typeface="Menlo"/>
                <a:ea typeface="Menlo"/>
              </a:rPr>
              <a:t>xc   </a:t>
            </a:r>
            <a:r>
              <a:rPr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dirty="0" err="1">
                <a:solidFill>
                  <a:srgbClr val="FFAB70"/>
                </a:solidFill>
                <a:latin typeface="Menlo"/>
                <a:ea typeface="Menlo"/>
              </a:rPr>
              <a:t>PerImg_xcol</a:t>
            </a:r>
            <a:r>
              <a:rPr dirty="0">
                <a:solidFill>
                  <a:srgbClr val="E1E4E8"/>
                </a:solidFill>
                <a:latin typeface="Menlo"/>
                <a:ea typeface="Menlo"/>
              </a:rPr>
              <a:t>[row];</a:t>
            </a:r>
            <a:r>
              <a:rPr dirty="0">
                <a:solidFill>
                  <a:srgbClr val="6A737D"/>
                </a:solidFill>
                <a:latin typeface="Menlo"/>
                <a:ea typeface="Menlo"/>
              </a:rPr>
              <a:t>     // </a:t>
            </a:r>
            <a:r>
              <a:rPr dirty="0" err="1">
                <a:solidFill>
                  <a:srgbClr val="6A737D"/>
                </a:solidFill>
                <a:latin typeface="Menlo"/>
                <a:ea typeface="Menlo"/>
              </a:rPr>
              <a:t>这行的</a:t>
            </a:r>
            <a:r>
              <a:rPr dirty="0">
                <a:solidFill>
                  <a:srgbClr val="6A737D"/>
                </a:solidFill>
                <a:latin typeface="Menlo"/>
                <a:ea typeface="Menlo"/>
              </a:rPr>
              <a:t> 188 个 x</a:t>
            </a:r>
            <a:endParaRPr lang="en-US" dirty="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endParaRPr sz="2800" dirty="0"/>
          </a:p>
          <a:p>
            <a:pPr>
              <a:lnSpc>
                <a:spcPct val="140000"/>
              </a:lnSpc>
            </a:pPr>
            <a:r>
              <a:rPr dirty="0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dirty="0">
                <a:solidFill>
                  <a:srgbClr val="E1E4E8"/>
                </a:solidFill>
                <a:latin typeface="Menlo"/>
                <a:ea typeface="Menlo"/>
              </a:rPr>
              <a:t> (</a:t>
            </a:r>
            <a:r>
              <a:rPr dirty="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dirty="0">
                <a:solidFill>
                  <a:srgbClr val="F97583"/>
                </a:solidFill>
                <a:latin typeface="Menlo"/>
                <a:ea typeface="Menlo"/>
              </a:rPr>
              <a:t>==</a:t>
            </a:r>
            <a:r>
              <a:rPr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dirty="0" err="1">
                <a:solidFill>
                  <a:srgbClr val="FFAB70"/>
                </a:solidFill>
                <a:latin typeface="Menlo"/>
                <a:ea typeface="Menlo"/>
              </a:rPr>
              <a:t>PerImg_rvalid</a:t>
            </a:r>
            <a:r>
              <a:rPr dirty="0">
                <a:solidFill>
                  <a:srgbClr val="E1E4E8"/>
                </a:solidFill>
                <a:latin typeface="Menlo"/>
                <a:ea typeface="Menlo"/>
              </a:rPr>
              <a:t>[row]) </a:t>
            </a:r>
            <a:r>
              <a:rPr dirty="0">
                <a:solidFill>
                  <a:srgbClr val="F97583"/>
                </a:solidFill>
                <a:latin typeface="Menlo"/>
                <a:ea typeface="Menlo"/>
              </a:rPr>
              <a:t>continue</a:t>
            </a:r>
            <a:r>
              <a:rPr dirty="0">
                <a:solidFill>
                  <a:srgbClr val="E1E4E8"/>
                </a:solidFill>
                <a:latin typeface="Menlo"/>
                <a:ea typeface="Menlo"/>
              </a:rPr>
              <a:t>;</a:t>
            </a:r>
            <a:r>
              <a:rPr dirty="0">
                <a:solidFill>
                  <a:srgbClr val="6A737D"/>
                </a:solidFill>
                <a:latin typeface="Menlo"/>
                <a:ea typeface="Menlo"/>
              </a:rPr>
              <a:t>    // </a:t>
            </a:r>
            <a:r>
              <a:rPr dirty="0" err="1">
                <a:solidFill>
                  <a:srgbClr val="6A737D"/>
                </a:solidFill>
                <a:latin typeface="Menlo"/>
                <a:ea typeface="Menlo"/>
              </a:rPr>
              <a:t>整行作废</a:t>
            </a:r>
            <a:endParaRPr sz="2800" dirty="0"/>
          </a:p>
          <a:p>
            <a:pPr>
              <a:lnSpc>
                <a:spcPct val="140000"/>
              </a:lnSpc>
            </a:pPr>
            <a:endParaRPr lang="en-US" dirty="0">
              <a:solidFill>
                <a:srgbClr val="E1E4E8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dirty="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dirty="0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dirty="0">
                <a:solidFill>
                  <a:srgbClr val="FFAB70"/>
                </a:solidFill>
                <a:latin typeface="Menlo"/>
                <a:ea typeface="Menlo"/>
              </a:rPr>
              <a:t>line</a:t>
            </a:r>
            <a:r>
              <a:rPr dirty="0">
                <a:solidFill>
                  <a:srgbClr val="E1E4E8"/>
                </a:solidFill>
                <a:latin typeface="Menlo"/>
                <a:ea typeface="Menlo"/>
              </a:rPr>
              <a:t>[</a:t>
            </a:r>
            <a:r>
              <a:rPr dirty="0">
                <a:solidFill>
                  <a:srgbClr val="FFAB70"/>
                </a:solidFill>
                <a:latin typeface="Menlo"/>
                <a:ea typeface="Menlo"/>
              </a:rPr>
              <a:t>xc</a:t>
            </a:r>
            <a:r>
              <a:rPr dirty="0">
                <a:solidFill>
                  <a:srgbClr val="E1E4E8"/>
                </a:solidFill>
                <a:latin typeface="Menlo"/>
                <a:ea typeface="Menlo"/>
              </a:rPr>
              <a:t>[col]];</a:t>
            </a:r>
            <a:r>
              <a:rPr dirty="0">
                <a:solidFill>
                  <a:srgbClr val="6A737D"/>
                </a:solidFill>
                <a:latin typeface="Menlo"/>
                <a:ea typeface="Menlo"/>
              </a:rPr>
              <a:t>                 // </a:t>
            </a:r>
            <a:r>
              <a:rPr dirty="0" err="1">
                <a:solidFill>
                  <a:srgbClr val="6A737D"/>
                </a:solidFill>
                <a:latin typeface="Menlo"/>
                <a:ea typeface="Menlo"/>
              </a:rPr>
              <a:t>一条</a:t>
            </a:r>
            <a:r>
              <a:rPr dirty="0">
                <a:solidFill>
                  <a:srgbClr val="6A737D"/>
                </a:solidFill>
                <a:latin typeface="Menlo"/>
                <a:ea typeface="Menlo"/>
              </a:rPr>
              <a:t> </a:t>
            </a:r>
            <a:r>
              <a:rPr dirty="0" err="1">
                <a:solidFill>
                  <a:srgbClr val="6A737D"/>
                </a:solidFill>
                <a:latin typeface="Menlo"/>
                <a:ea typeface="Menlo"/>
              </a:rPr>
              <a:t>lbu</a:t>
            </a:r>
            <a:endParaRPr sz="2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矩形 4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48" name="图片 4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38200" y="476250"/>
            <a:ext cx="58293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2F3F5"/>
                </a:solidFill>
                <a:latin typeface="Microsoft YaHei"/>
                <a:ea typeface="Microsoft YaHei"/>
              </a:rPr>
              <a:t>U8 </a:t>
            </a:r>
            <a:r>
              <a:rPr lang="zh-CN" sz="3300" b="1">
                <a:solidFill>
                  <a:srgbClr val="F2F3F5"/>
                </a:solidFill>
                <a:latin typeface="Microsoft YaHei"/>
                <a:ea typeface="Microsoft YaHei"/>
              </a:rPr>
              <a:t>对原版：内层只差一条</a:t>
            </a:r>
            <a:r>
              <a:rPr lang="en-US" sz="3300" b="1">
                <a:solidFill>
                  <a:srgbClr val="F2F3F5"/>
                </a:solidFill>
                <a:latin typeface="Microsoft YaHei"/>
                <a:ea typeface="Microsoft YaHei"/>
              </a:rPr>
              <a:t> add</a:t>
            </a:r>
            <a:endParaRPr/>
          </a:p>
        </p:txBody>
      </p:sp>
      <p:sp>
        <p:nvSpPr>
          <p:cNvPr id="450" name="文本框 449" descr="{&quot;isTemplate&quot;:true,&quot;type&quot;:&quot;text&quot;}"/>
          <p:cNvSpPr txBox="1"/>
          <p:nvPr/>
        </p:nvSpPr>
        <p:spPr>
          <a:xfrm>
            <a:off x="8448675" y="676275"/>
            <a:ext cx="29051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9AA1AC"/>
                </a:solidFill>
                <a:latin typeface="Microsoft YaHei"/>
                <a:ea typeface="Microsoft YaHei"/>
              </a:rPr>
              <a:t>原版指针表</a:t>
            </a:r>
            <a:r>
              <a:rPr lang="en-US" sz="1500">
                <a:solidFill>
                  <a:srgbClr val="9AA1AC"/>
                </a:solidFill>
                <a:latin typeface="Microsoft YaHei"/>
                <a:ea typeface="Microsoft YaHei"/>
              </a:rPr>
              <a:t> vs U8 </a:t>
            </a:r>
            <a:r>
              <a:rPr lang="zh-CN" sz="1500">
                <a:solidFill>
                  <a:srgbClr val="9AA1AC"/>
                </a:solidFill>
                <a:latin typeface="Microsoft YaHei"/>
                <a:ea typeface="Microsoft YaHei"/>
              </a:rPr>
              <a:t>表</a:t>
            </a:r>
            <a:r>
              <a:rPr lang="en-US" sz="1500">
                <a:solidFill>
                  <a:srgbClr val="9AA1AC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9AA1AC"/>
                </a:solidFill>
                <a:latin typeface="Microsoft YaHei"/>
                <a:ea typeface="Microsoft YaHei"/>
              </a:rPr>
              <a:t>同一份用例</a:t>
            </a:r>
            <a:endParaRPr/>
          </a:p>
        </p:txBody>
      </p:sp>
      <p:sp>
        <p:nvSpPr>
          <p:cNvPr id="451" name="矩形 450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2" name="矩形 451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838200" y="1352550"/>
            <a:ext cx="4953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>
                <a:solidFill>
                  <a:srgbClr val="9AA1AC"/>
                </a:solidFill>
                <a:latin typeface="Microsoft YaHei"/>
                <a:ea typeface="Microsoft YaHei"/>
              </a:rPr>
              <a:t>CH32V307 -O2 </a:t>
            </a:r>
            <a:r>
              <a:rPr lang="zh-CN" sz="1500">
                <a:solidFill>
                  <a:srgbClr val="9AA1AC"/>
                </a:solidFill>
                <a:latin typeface="Microsoft YaHei"/>
                <a:ea typeface="Microsoft YaHei"/>
              </a:rPr>
              <a:t>内层</a:t>
            </a:r>
            <a:endParaRPr/>
          </a:p>
        </p:txBody>
      </p:sp>
      <p:sp>
        <p:nvSpPr>
          <p:cNvPr id="454" name="文本框 453" descr="{&quot;isTemplate&quot;:true,&quot;type&quot;:&quot;text&quot;}"/>
          <p:cNvSpPr txBox="1"/>
          <p:nvPr/>
        </p:nvSpPr>
        <p:spPr>
          <a:xfrm>
            <a:off x="838200" y="1657350"/>
            <a:ext cx="6286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9AA1AC"/>
                </a:solidFill>
                <a:latin typeface="Microsoft YaHei"/>
                <a:ea typeface="Microsoft YaHei"/>
              </a:rPr>
              <a:t>指针表</a:t>
            </a:r>
            <a:endParaRPr/>
          </a:p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1562100" y="1657350"/>
            <a:ext cx="3429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5 </a:t>
            </a: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3352800" y="1657350"/>
            <a:ext cx="552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>
                <a:solidFill>
                  <a:srgbClr val="FFB27A"/>
                </a:solidFill>
                <a:latin typeface="Microsoft YaHei"/>
                <a:ea typeface="Microsoft YaHei"/>
              </a:rPr>
              <a:t>U8 </a:t>
            </a:r>
            <a:r>
              <a:rPr lang="zh-CN" sz="1650">
                <a:solidFill>
                  <a:srgbClr val="FFB27A"/>
                </a:solidFill>
                <a:latin typeface="Microsoft YaHei"/>
                <a:ea typeface="Microsoft YaHei"/>
              </a:rPr>
              <a:t>表</a:t>
            </a:r>
            <a:endParaRPr/>
          </a:p>
        </p:txBody>
      </p:sp>
      <p:sp>
        <p:nvSpPr>
          <p:cNvPr id="457" name="文本框 456" descr="{&quot;isTemplate&quot;:true,&quot;type&quot;:&quot;text&quot;}"/>
          <p:cNvSpPr txBox="1"/>
          <p:nvPr/>
        </p:nvSpPr>
        <p:spPr>
          <a:xfrm>
            <a:off x="4000500" y="1657350"/>
            <a:ext cx="3429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6 </a:t>
            </a: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38200" y="3648075"/>
            <a:ext cx="4953000" cy="866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zh-CN" sz="1575" dirty="0">
                <a:solidFill>
                  <a:srgbClr val="C9CED6"/>
                </a:solidFill>
                <a:latin typeface="Microsoft YaHei"/>
                <a:ea typeface="Microsoft YaHei"/>
              </a:rPr>
              <a:t>取表那条从</a:t>
            </a:r>
            <a:r>
              <a:rPr 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 </a:t>
            </a:r>
            <a:r>
              <a:rPr lang="en-US" sz="1575" dirty="0" err="1">
                <a:solidFill>
                  <a:srgbClr val="C9CED6"/>
                </a:solidFill>
                <a:latin typeface="Microsoft YaHei"/>
                <a:ea typeface="Microsoft YaHei"/>
              </a:rPr>
              <a:t>lw</a:t>
            </a:r>
            <a:r>
              <a:rPr 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 </a:t>
            </a:r>
            <a:r>
              <a:rPr lang="zh-CN" sz="1575" dirty="0">
                <a:solidFill>
                  <a:srgbClr val="C9CED6"/>
                </a:solidFill>
                <a:latin typeface="Microsoft YaHei"/>
                <a:ea typeface="Microsoft YaHei"/>
              </a:rPr>
              <a:t>换成</a:t>
            </a:r>
            <a:r>
              <a:rPr 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 </a:t>
            </a:r>
            <a:r>
              <a:rPr lang="en-US" sz="1575" dirty="0" err="1">
                <a:solidFill>
                  <a:srgbClr val="C9CED6"/>
                </a:solidFill>
                <a:latin typeface="Microsoft YaHei"/>
                <a:ea typeface="Microsoft YaHei"/>
              </a:rPr>
              <a:t>lbu</a:t>
            </a:r>
            <a:r>
              <a:rPr lang="zh-CN" sz="1575" dirty="0">
                <a:solidFill>
                  <a:srgbClr val="C9CED6"/>
                </a:solidFill>
                <a:latin typeface="Microsoft YaHei"/>
                <a:ea typeface="Microsoft YaHei"/>
              </a:rPr>
              <a:t>，步长</a:t>
            </a:r>
            <a:r>
              <a:rPr 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 4 </a:t>
            </a:r>
            <a:r>
              <a:rPr lang="zh-CN" sz="1575" dirty="0">
                <a:solidFill>
                  <a:srgbClr val="C9CED6"/>
                </a:solidFill>
                <a:latin typeface="Microsoft YaHei"/>
                <a:ea typeface="Microsoft YaHei"/>
              </a:rPr>
              <a:t>变</a:t>
            </a:r>
            <a:r>
              <a:rPr 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 1</a:t>
            </a:r>
            <a:r>
              <a:rPr lang="zh-CN" sz="1575" dirty="0">
                <a:solidFill>
                  <a:srgbClr val="C9CED6"/>
                </a:solidFill>
                <a:latin typeface="Microsoft YaHei"/>
                <a:ea typeface="Microsoft YaHei"/>
              </a:rPr>
              <a:t>，</a:t>
            </a:r>
            <a:endParaRPr dirty="0"/>
          </a:p>
          <a:p>
            <a:pPr>
              <a:lnSpc>
                <a:spcPct val="180000"/>
              </a:lnSpc>
            </a:pPr>
            <a:r>
              <a:rPr lang="zh-CN" sz="1575" dirty="0">
                <a:solidFill>
                  <a:srgbClr val="C9CED6"/>
                </a:solidFill>
                <a:latin typeface="Microsoft YaHei"/>
                <a:ea typeface="Microsoft YaHei"/>
              </a:rPr>
              <a:t>多出来的只有</a:t>
            </a:r>
            <a:r>
              <a:rPr 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 add a4,a4,a2</a:t>
            </a:r>
            <a:r>
              <a:rPr lang="zh-CN" sz="1575" dirty="0">
                <a:solidFill>
                  <a:srgbClr val="C9CED6"/>
                </a:solidFill>
                <a:latin typeface="Microsoft YaHei"/>
                <a:ea typeface="Microsoft YaHei"/>
              </a:rPr>
              <a:t>。</a:t>
            </a:r>
            <a:endParaRPr dirty="0"/>
          </a:p>
        </p:txBody>
      </p:sp>
      <p:sp>
        <p:nvSpPr>
          <p:cNvPr id="459" name="矩形 458"/>
          <p:cNvSpPr/>
          <p:nvPr/>
        </p:nvSpPr>
        <p:spPr>
          <a:xfrm>
            <a:off x="838200" y="4724400"/>
            <a:ext cx="47625" cy="11049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76325" y="4724400"/>
            <a:ext cx="390525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5000"/>
              </a:lnSpc>
            </a:pPr>
            <a:r>
              <a:rPr lang="zh-CN" sz="1650">
                <a:solidFill>
                  <a:srgbClr val="C9CED6"/>
                </a:solidFill>
                <a:latin typeface="Microsoft YaHei"/>
                <a:ea typeface="Microsoft YaHei"/>
              </a:rPr>
              <a:t>表从</a:t>
            </a:r>
            <a:r>
              <a:rPr lang="en-US" sz="1650">
                <a:solidFill>
                  <a:srgbClr val="C9CED6"/>
                </a:solidFill>
                <a:latin typeface="Microsoft YaHei"/>
                <a:ea typeface="Microsoft YaHei"/>
              </a:rPr>
              <a:t> 90240 B </a:t>
            </a:r>
            <a:r>
              <a:rPr lang="zh-CN" sz="1650">
                <a:solidFill>
                  <a:srgbClr val="C9CED6"/>
                </a:solidFill>
                <a:latin typeface="Microsoft YaHei"/>
                <a:ea typeface="Microsoft YaHei"/>
              </a:rPr>
              <a:t>掉到</a:t>
            </a:r>
            <a:r>
              <a:rPr lang="en-US" sz="1650">
                <a:solidFill>
                  <a:srgbClr val="C9CED6"/>
                </a:solidFill>
                <a:latin typeface="Microsoft YaHei"/>
                <a:ea typeface="Microsoft YaHei"/>
              </a:rPr>
              <a:t> 23160 B</a:t>
            </a:r>
            <a:r>
              <a:rPr lang="zh-CN" sz="1650">
                <a:solidFill>
                  <a:srgbClr val="C9CED6"/>
                </a:solidFill>
                <a:latin typeface="Microsoft YaHei"/>
                <a:ea typeface="Microsoft YaHei"/>
              </a:rPr>
              <a:t>，省</a:t>
            </a:r>
            <a:r>
              <a:rPr lang="en-US" sz="1650">
                <a:solidFill>
                  <a:srgbClr val="C9CED6"/>
                </a:solidFill>
                <a:latin typeface="Microsoft YaHei"/>
                <a:ea typeface="Microsoft YaHei"/>
              </a:rPr>
              <a:t> 65 KB</a:t>
            </a:r>
            <a:r>
              <a:rPr lang="zh-CN" sz="1650">
                <a:solidFill>
                  <a:srgbClr val="C9CED6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61" name="文本框 460" descr="{&quot;isTemplate&quot;:true,&quot;type&quot;:&quot;text&quot;}"/>
          <p:cNvSpPr txBox="1"/>
          <p:nvPr/>
        </p:nvSpPr>
        <p:spPr>
          <a:xfrm>
            <a:off x="1076325" y="5229225"/>
            <a:ext cx="3905250" cy="885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5000"/>
              </a:lnSpc>
            </a:pPr>
            <a:r>
              <a:rPr lang="zh-CN" sz="1650">
                <a:solidFill>
                  <a:srgbClr val="FF8F4D"/>
                </a:solidFill>
                <a:latin typeface="Microsoft YaHei"/>
                <a:ea typeface="Microsoft YaHei"/>
              </a:rPr>
              <a:t>速度只在</a:t>
            </a:r>
            <a:r>
              <a:rPr lang="en-US" sz="1650">
                <a:solidFill>
                  <a:srgbClr val="FF8F4D"/>
                </a:solidFill>
                <a:latin typeface="Microsoft YaHei"/>
                <a:ea typeface="Microsoft YaHei"/>
              </a:rPr>
              <a:t> CH32 </a:t>
            </a:r>
            <a:r>
              <a:rPr lang="zh-CN" sz="1650">
                <a:solidFill>
                  <a:srgbClr val="FF8F4D"/>
                </a:solidFill>
                <a:latin typeface="Microsoft YaHei"/>
                <a:ea typeface="Microsoft YaHei"/>
              </a:rPr>
              <a:t>的</a:t>
            </a:r>
            <a:r>
              <a:rPr lang="en-US" sz="1650">
                <a:solidFill>
                  <a:srgbClr val="FF8F4D"/>
                </a:solidFill>
                <a:latin typeface="Microsoft YaHei"/>
                <a:ea typeface="Microsoft YaHei"/>
              </a:rPr>
              <a:t> -O0 </a:t>
            </a:r>
            <a:r>
              <a:rPr lang="zh-CN" sz="1650">
                <a:solidFill>
                  <a:srgbClr val="FF8F4D"/>
                </a:solidFill>
                <a:latin typeface="Microsoft YaHei"/>
                <a:ea typeface="Microsoft YaHei"/>
              </a:rPr>
              <a:t>上赢</a:t>
            </a:r>
            <a:r>
              <a:rPr lang="en-US" sz="1650">
                <a:solidFill>
                  <a:srgbClr val="FF8F4D"/>
                </a:solidFill>
                <a:latin typeface="Microsoft YaHei"/>
                <a:ea typeface="Microsoft YaHei"/>
              </a:rPr>
              <a:t> 7.8%</a:t>
            </a:r>
            <a:r>
              <a:rPr lang="zh-CN" sz="1650">
                <a:solidFill>
                  <a:srgbClr val="FF8F4D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75000"/>
              </a:lnSpc>
            </a:pPr>
            <a:r>
              <a:rPr lang="zh-CN" sz="1650">
                <a:solidFill>
                  <a:srgbClr val="FF8F4D"/>
                </a:solidFill>
                <a:latin typeface="Microsoft YaHei"/>
                <a:ea typeface="Microsoft YaHei"/>
              </a:rPr>
              <a:t>其余三档持平或更慢，最多慢</a:t>
            </a:r>
            <a:r>
              <a:rPr lang="en-US" sz="1650">
                <a:solidFill>
                  <a:srgbClr val="FF8F4D"/>
                </a:solidFill>
                <a:latin typeface="Microsoft YaHei"/>
                <a:ea typeface="Microsoft YaHei"/>
              </a:rPr>
              <a:t> 13.7%</a:t>
            </a:r>
            <a:r>
              <a:rPr lang="zh-CN" sz="1650">
                <a:solidFill>
                  <a:srgbClr val="FF8F4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6324600" y="1352550"/>
            <a:ext cx="495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CH32V307 / 120 MHz</a:t>
            </a:r>
            <a:endParaRPr/>
          </a:p>
        </p:txBody>
      </p:sp>
      <p:pic>
        <p:nvPicPr>
          <p:cNvPr id="463" name="图片 462"/>
          <p:cNvPicPr>
            <a:picLocks noChangeAspect="1"/>
          </p:cNvPicPr>
          <p:nvPr/>
        </p:nvPicPr>
        <p:blipFill>
          <a:blip r:embed="rId3"/>
          <a:srcRect t="63" b="63"/>
          <a:stretch>
            <a:fillRect/>
          </a:stretch>
        </p:blipFill>
        <p:spPr>
          <a:xfrm>
            <a:off x="6324600" y="1590675"/>
            <a:ext cx="4876800" cy="2276475"/>
          </a:xfrm>
          <a:prstGeom prst="rect">
            <a:avLst/>
          </a:prstGeom>
          <a:ln/>
        </p:spPr>
      </p:pic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6324600" y="3981450"/>
            <a:ext cx="495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CYT4BB7 / 250 MHz / IAR 9.40.1</a:t>
            </a:r>
            <a:endParaRPr/>
          </a:p>
        </p:txBody>
      </p:sp>
      <p:pic>
        <p:nvPicPr>
          <p:cNvPr id="465" name="图片 464"/>
          <p:cNvPicPr>
            <a:picLocks noChangeAspect="1"/>
          </p:cNvPicPr>
          <p:nvPr/>
        </p:nvPicPr>
        <p:blipFill>
          <a:blip r:embed="rId4"/>
          <a:srcRect t="63" b="63"/>
          <a:stretch>
            <a:fillRect/>
          </a:stretch>
        </p:blipFill>
        <p:spPr>
          <a:xfrm>
            <a:off x="6324600" y="4219575"/>
            <a:ext cx="4876800" cy="2276475"/>
          </a:xfrm>
          <a:prstGeom prst="rect">
            <a:avLst/>
          </a:prstGeom>
          <a:ln/>
        </p:spPr>
      </p:pic>
      <p:sp>
        <p:nvSpPr>
          <p:cNvPr id="466" name="矩形: 圆角 465"/>
          <p:cNvSpPr/>
          <p:nvPr/>
        </p:nvSpPr>
        <p:spPr>
          <a:xfrm>
            <a:off x="838200" y="1990725"/>
            <a:ext cx="2286000" cy="1295400"/>
          </a:xfrm>
          <a:prstGeom prst="roundRect">
            <a:avLst>
              <a:gd name="adj" fmla="val 5882"/>
            </a:avLst>
          </a:prstGeom>
          <a:solidFill>
            <a:srgbClr val="2B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7" name="文本框 466"/>
          <p:cNvSpPr txBox="1"/>
          <p:nvPr/>
        </p:nvSpPr>
        <p:spPr>
          <a:xfrm>
            <a:off x="990600" y="2124075"/>
            <a:ext cx="198120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sz="1350" dirty="0" err="1">
                <a:solidFill>
                  <a:schemeClr val="accent2"/>
                </a:solidFill>
                <a:latin typeface="Menlo"/>
                <a:ea typeface="Menlo"/>
              </a:rPr>
              <a:t>lw</a:t>
            </a:r>
            <a:r>
              <a:rPr sz="1350" dirty="0">
                <a:solidFill>
                  <a:srgbClr val="E5E7EB"/>
                </a:solidFill>
                <a:latin typeface="Menlo"/>
                <a:ea typeface="Menlo"/>
              </a:rPr>
              <a:t>    a4,0(a5)
</a:t>
            </a:r>
            <a:r>
              <a:rPr sz="1350" dirty="0" err="1">
                <a:solidFill>
                  <a:schemeClr val="accent2"/>
                </a:solidFill>
                <a:latin typeface="Menlo"/>
                <a:ea typeface="Menlo"/>
              </a:rPr>
              <a:t>addi</a:t>
            </a:r>
            <a:r>
              <a:rPr sz="1350" dirty="0">
                <a:solidFill>
                  <a:schemeClr val="accent2"/>
                </a:solidFill>
                <a:latin typeface="Menlo"/>
                <a:ea typeface="Menlo"/>
              </a:rPr>
              <a:t>  a5,a5,4</a:t>
            </a:r>
            <a:r>
              <a:rPr sz="1350" dirty="0">
                <a:solidFill>
                  <a:srgbClr val="E5E7EB"/>
                </a:solidFill>
                <a:latin typeface="Menlo"/>
                <a:ea typeface="Menlo"/>
              </a:rPr>
              <a:t>
</a:t>
            </a:r>
            <a:r>
              <a:rPr sz="1350" dirty="0" err="1">
                <a:solidFill>
                  <a:srgbClr val="E5E7EB"/>
                </a:solidFill>
                <a:latin typeface="Menlo"/>
                <a:ea typeface="Menlo"/>
              </a:rPr>
              <a:t>lbu</a:t>
            </a:r>
            <a:r>
              <a:rPr sz="1350" dirty="0">
                <a:solidFill>
                  <a:srgbClr val="E5E7EB"/>
                </a:solidFill>
                <a:latin typeface="Menlo"/>
                <a:ea typeface="Menlo"/>
              </a:rPr>
              <a:t>   a4,0(a4)
add   a0,a0,a4
</a:t>
            </a:r>
            <a:r>
              <a:rPr sz="1350" dirty="0" err="1">
                <a:solidFill>
                  <a:srgbClr val="E5E7EB"/>
                </a:solidFill>
                <a:latin typeface="Menlo"/>
                <a:ea typeface="Menlo"/>
              </a:rPr>
              <a:t>bne</a:t>
            </a:r>
            <a:r>
              <a:rPr sz="1350" dirty="0">
                <a:solidFill>
                  <a:srgbClr val="E5E7EB"/>
                </a:solidFill>
                <a:latin typeface="Menlo"/>
                <a:ea typeface="Menlo"/>
              </a:rPr>
              <a:t>   a3,a5,loop</a:t>
            </a:r>
            <a:endParaRPr dirty="0"/>
          </a:p>
        </p:txBody>
      </p:sp>
      <p:sp>
        <p:nvSpPr>
          <p:cNvPr id="468" name="矩形: 圆角 467"/>
          <p:cNvSpPr/>
          <p:nvPr/>
        </p:nvSpPr>
        <p:spPr>
          <a:xfrm>
            <a:off x="3352800" y="1990725"/>
            <a:ext cx="2286000" cy="1504950"/>
          </a:xfrm>
          <a:prstGeom prst="roundRect">
            <a:avLst>
              <a:gd name="adj" fmla="val 5063"/>
            </a:avLst>
          </a:prstGeom>
          <a:solidFill>
            <a:srgbClr val="2B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9" name="文本框 468"/>
          <p:cNvSpPr txBox="1"/>
          <p:nvPr/>
        </p:nvSpPr>
        <p:spPr>
          <a:xfrm>
            <a:off x="3505200" y="2124075"/>
            <a:ext cx="1981200" cy="1238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sz="1350" dirty="0" err="1">
                <a:solidFill>
                  <a:schemeClr val="accent2"/>
                </a:solidFill>
                <a:latin typeface="Menlo"/>
                <a:ea typeface="Menlo"/>
              </a:rPr>
              <a:t>lbu</a:t>
            </a:r>
            <a:r>
              <a:rPr sz="1350" dirty="0">
                <a:solidFill>
                  <a:srgbClr val="E5E7EB"/>
                </a:solidFill>
                <a:latin typeface="Menlo"/>
                <a:ea typeface="Menlo"/>
              </a:rPr>
              <a:t>   a4,0(a5)
</a:t>
            </a:r>
            <a:r>
              <a:rPr sz="1350" dirty="0" err="1">
                <a:solidFill>
                  <a:schemeClr val="accent2"/>
                </a:solidFill>
                <a:latin typeface="Menlo"/>
                <a:ea typeface="Menlo"/>
              </a:rPr>
              <a:t>addi</a:t>
            </a:r>
            <a:r>
              <a:rPr sz="1350" dirty="0">
                <a:solidFill>
                  <a:schemeClr val="accent2"/>
                </a:solidFill>
                <a:latin typeface="Menlo"/>
                <a:ea typeface="Menlo"/>
              </a:rPr>
              <a:t>  a5,a5,1
add   a4,a4,a2</a:t>
            </a:r>
            <a:r>
              <a:rPr sz="1350" dirty="0">
                <a:solidFill>
                  <a:srgbClr val="E5E7EB"/>
                </a:solidFill>
                <a:latin typeface="Menlo"/>
                <a:ea typeface="Menlo"/>
              </a:rPr>
              <a:t>
</a:t>
            </a:r>
            <a:r>
              <a:rPr sz="1350" dirty="0" err="1">
                <a:solidFill>
                  <a:srgbClr val="E5E7EB"/>
                </a:solidFill>
                <a:latin typeface="Menlo"/>
                <a:ea typeface="Menlo"/>
              </a:rPr>
              <a:t>lbu</a:t>
            </a:r>
            <a:r>
              <a:rPr sz="1350" dirty="0">
                <a:solidFill>
                  <a:srgbClr val="E5E7EB"/>
                </a:solidFill>
                <a:latin typeface="Menlo"/>
                <a:ea typeface="Menlo"/>
              </a:rPr>
              <a:t>   a4,0(a4)
add   a0,a0,a4
</a:t>
            </a:r>
            <a:r>
              <a:rPr sz="1350" dirty="0" err="1">
                <a:solidFill>
                  <a:srgbClr val="E5E7EB"/>
                </a:solidFill>
                <a:latin typeface="Menlo"/>
                <a:ea typeface="Menlo"/>
              </a:rPr>
              <a:t>bne</a:t>
            </a:r>
            <a:r>
              <a:rPr sz="1350" dirty="0">
                <a:solidFill>
                  <a:srgbClr val="E5E7EB"/>
                </a:solidFill>
                <a:latin typeface="Menlo"/>
                <a:ea typeface="Menlo"/>
              </a:rPr>
              <a:t>   a3,a5,loop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矩形 3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0" name="图片 3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2F3F5"/>
                </a:solidFill>
                <a:latin typeface="Microsoft YaHei"/>
                <a:ea typeface="Microsoft YaHei"/>
              </a:rPr>
              <a:t>这套做法什么时候不成立</a:t>
            </a:r>
            <a:endParaRPr/>
          </a:p>
        </p:txBody>
      </p:sp>
      <p:sp>
        <p:nvSpPr>
          <p:cNvPr id="312" name="矩形 311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3" name="矩形 312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838200" y="1943100"/>
            <a:ext cx="52578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6A13"/>
                </a:solidFill>
                <a:latin typeface="Microsoft YaHei"/>
                <a:ea typeface="Microsoft YaHei"/>
              </a:rPr>
              <a:t>成立的前提</a:t>
            </a:r>
            <a:endParaRPr/>
          </a:p>
        </p:txBody>
      </p:sp>
      <p:sp>
        <p:nvSpPr>
          <p:cNvPr id="315" name="矩形 314"/>
          <p:cNvSpPr/>
          <p:nvPr/>
        </p:nvSpPr>
        <p:spPr>
          <a:xfrm>
            <a:off x="838200" y="2419350"/>
            <a:ext cx="571500" cy="381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838200" y="2686050"/>
            <a:ext cx="323850" cy="790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FF6A13"/>
                </a:solidFill>
                <a:latin typeface="Consolas"/>
                <a:ea typeface="Consolas"/>
              </a:rPr>
              <a:t>1</a:t>
            </a:r>
            <a:endParaRPr/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1162050" y="2686050"/>
            <a:ext cx="49339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650">
                <a:solidFill>
                  <a:srgbClr val="F2F3F5"/>
                </a:solidFill>
                <a:latin typeface="Microsoft YaHei"/>
                <a:ea typeface="Microsoft YaHei"/>
              </a:rPr>
              <a:t>相机只有俯仰，</a:t>
            </a:r>
            <a:r>
              <a:rPr lang="en-US" sz="1650">
                <a:solidFill>
                  <a:srgbClr val="F2F3F5"/>
                </a:solidFill>
                <a:latin typeface="Microsoft YaHei"/>
                <a:ea typeface="Microsoft YaHei"/>
              </a:rPr>
              <a:t>h₁₀ </a:t>
            </a:r>
            <a:r>
              <a:rPr lang="zh-CN" sz="1650">
                <a:solidFill>
                  <a:srgbClr val="F2F3F5"/>
                </a:solidFill>
                <a:latin typeface="Microsoft YaHei"/>
                <a:ea typeface="Microsoft YaHei"/>
              </a:rPr>
              <a:t>和</a:t>
            </a:r>
            <a:r>
              <a:rPr lang="en-US" sz="1650">
                <a:solidFill>
                  <a:srgbClr val="F2F3F5"/>
                </a:solidFill>
                <a:latin typeface="Microsoft YaHei"/>
                <a:ea typeface="Microsoft YaHei"/>
              </a:rPr>
              <a:t> h₂₀ </a:t>
            </a:r>
            <a:r>
              <a:rPr lang="zh-CN" sz="1650">
                <a:solidFill>
                  <a:srgbClr val="F2F3F5"/>
                </a:solidFill>
                <a:latin typeface="Microsoft YaHei"/>
                <a:ea typeface="Microsoft YaHei"/>
              </a:rPr>
              <a:t>恒为</a:t>
            </a:r>
            <a:r>
              <a:rPr lang="en-US" sz="1650">
                <a:solidFill>
                  <a:srgbClr val="F2F3F5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1162050" y="3124200"/>
            <a:ext cx="493395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地平线始终是平的，按行拆表才立得住</a:t>
            </a:r>
            <a:endParaRPr/>
          </a:p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838200" y="3667125"/>
            <a:ext cx="323850" cy="790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FF6A13"/>
                </a:solidFill>
                <a:latin typeface="Consolas"/>
                <a:ea typeface="Consolas"/>
              </a:rPr>
              <a:t>2</a:t>
            </a:r>
            <a:endParaRPr/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1162050" y="3667125"/>
            <a:ext cx="49339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650">
                <a:solidFill>
                  <a:srgbClr val="F2F3F5"/>
                </a:solidFill>
                <a:latin typeface="Microsoft YaHei"/>
                <a:ea typeface="Microsoft YaHei"/>
              </a:rPr>
              <a:t>不做逐像素去畸变</a:t>
            </a:r>
            <a:endParaRPr/>
          </a:p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1162050" y="4105275"/>
            <a:ext cx="493395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y </a:t>
            </a: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才只跟</a:t>
            </a: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 j </a:t>
            </a: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有关，一行共享一个</a:t>
            </a: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 y</a:t>
            </a:r>
            <a:endParaRPr/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838200" y="4648200"/>
            <a:ext cx="323850" cy="790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FF6A13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1162050" y="4648200"/>
            <a:ext cx="49339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650">
                <a:solidFill>
                  <a:srgbClr val="F2F3F5"/>
                </a:solidFill>
                <a:latin typeface="Microsoft YaHei"/>
                <a:ea typeface="Microsoft YaHei"/>
              </a:rPr>
              <a:t>原图宽</a:t>
            </a:r>
            <a:r>
              <a:rPr lang="en-US" sz="1650">
                <a:solidFill>
                  <a:srgbClr val="F2F3F5"/>
                </a:solidFill>
                <a:latin typeface="Microsoft YaHei"/>
                <a:ea typeface="Microsoft YaHei"/>
              </a:rPr>
              <a:t> 188</a:t>
            </a:r>
            <a:r>
              <a:rPr lang="zh-CN" sz="1650">
                <a:solidFill>
                  <a:srgbClr val="F2F3F5"/>
                </a:solidFill>
                <a:latin typeface="Microsoft YaHei"/>
                <a:ea typeface="Microsoft YaHei"/>
              </a:rPr>
              <a:t>，</a:t>
            </a:r>
            <a:r>
              <a:rPr lang="en-US" sz="1650">
                <a:solidFill>
                  <a:srgbClr val="F2F3F5"/>
                </a:solidFill>
                <a:latin typeface="Microsoft YaHei"/>
                <a:ea typeface="Microsoft YaHei"/>
              </a:rPr>
              <a:t>x </a:t>
            </a:r>
            <a:r>
              <a:rPr lang="zh-CN" sz="1650">
                <a:solidFill>
                  <a:srgbClr val="F2F3F5"/>
                </a:solidFill>
                <a:latin typeface="Microsoft YaHei"/>
                <a:ea typeface="Microsoft YaHei"/>
              </a:rPr>
              <a:t>落在</a:t>
            </a:r>
            <a:r>
              <a:rPr lang="en-US" sz="1650">
                <a:solidFill>
                  <a:srgbClr val="F2F3F5"/>
                </a:solidFill>
                <a:latin typeface="Microsoft YaHei"/>
                <a:ea typeface="Microsoft YaHei"/>
              </a:rPr>
              <a:t> 0 </a:t>
            </a:r>
            <a:r>
              <a:rPr lang="zh-CN" sz="1650">
                <a:solidFill>
                  <a:srgbClr val="F2F3F5"/>
                </a:solidFill>
                <a:latin typeface="Microsoft YaHei"/>
                <a:ea typeface="Microsoft YaHei"/>
              </a:rPr>
              <a:t>到</a:t>
            </a:r>
            <a:r>
              <a:rPr lang="en-US" sz="1650">
                <a:solidFill>
                  <a:srgbClr val="F2F3F5"/>
                </a:solidFill>
                <a:latin typeface="Microsoft YaHei"/>
                <a:ea typeface="Microsoft YaHei"/>
              </a:rPr>
              <a:t> 187</a:t>
            </a:r>
            <a:endParaRPr/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1162050" y="5086350"/>
            <a:ext cx="493395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一个字节装得下，表项才压得到</a:t>
            </a: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 1 </a:t>
            </a: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字节</a:t>
            </a:r>
            <a:endParaRPr/>
          </a:p>
        </p:txBody>
      </p:sp>
      <p:sp>
        <p:nvSpPr>
          <p:cNvPr id="325" name="矩形 324"/>
          <p:cNvSpPr/>
          <p:nvPr/>
        </p:nvSpPr>
        <p:spPr>
          <a:xfrm>
            <a:off x="6419850" y="1943100"/>
            <a:ext cx="19050" cy="314325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6858000" y="1943100"/>
            <a:ext cx="44958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8F4D"/>
                </a:solidFill>
                <a:latin typeface="Microsoft YaHei"/>
                <a:ea typeface="Microsoft YaHei"/>
              </a:rPr>
              <a:t>失效的场景</a:t>
            </a:r>
            <a:endParaRPr/>
          </a:p>
        </p:txBody>
      </p:sp>
      <p:sp>
        <p:nvSpPr>
          <p:cNvPr id="327" name="矩形 326"/>
          <p:cNvSpPr/>
          <p:nvPr/>
        </p:nvSpPr>
        <p:spPr>
          <a:xfrm>
            <a:off x="6858000" y="2419350"/>
            <a:ext cx="571500" cy="38100"/>
          </a:xfrm>
          <a:prstGeom prst="rect">
            <a:avLst/>
          </a:prstGeom>
          <a:solidFill>
            <a:srgbClr val="FF8F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6858000" y="2686050"/>
            <a:ext cx="323850" cy="790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FF8F4D"/>
                </a:solidFill>
                <a:latin typeface="Consolas"/>
                <a:ea typeface="Consolas"/>
              </a:rPr>
              <a:t>1</a:t>
            </a:r>
            <a:endParaRPr/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7181850" y="2686050"/>
            <a:ext cx="41719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650">
                <a:solidFill>
                  <a:srgbClr val="F2F3F5"/>
                </a:solidFill>
                <a:latin typeface="Microsoft YaHei"/>
                <a:ea typeface="Microsoft YaHei"/>
              </a:rPr>
              <a:t>重新标定后</a:t>
            </a:r>
            <a:r>
              <a:rPr lang="en-US" sz="1650">
                <a:solidFill>
                  <a:srgbClr val="F2F3F5"/>
                </a:solidFill>
                <a:latin typeface="Microsoft YaHei"/>
                <a:ea typeface="Microsoft YaHei"/>
              </a:rPr>
              <a:t> h₁₀</a:t>
            </a:r>
            <a:r>
              <a:rPr lang="zh-CN" sz="1650">
                <a:solidFill>
                  <a:srgbClr val="F2F3F5"/>
                </a:solidFill>
                <a:latin typeface="Microsoft YaHei"/>
                <a:ea typeface="Microsoft YaHei"/>
              </a:rPr>
              <a:t>、</a:t>
            </a:r>
            <a:r>
              <a:rPr lang="en-US" sz="1650">
                <a:solidFill>
                  <a:srgbClr val="F2F3F5"/>
                </a:solidFill>
                <a:latin typeface="Microsoft YaHei"/>
                <a:ea typeface="Microsoft YaHei"/>
              </a:rPr>
              <a:t>h₂₀ </a:t>
            </a:r>
            <a:r>
              <a:rPr lang="zh-CN" sz="1650">
                <a:solidFill>
                  <a:srgbClr val="F2F3F5"/>
                </a:solidFill>
                <a:latin typeface="Microsoft YaHei"/>
                <a:ea typeface="Microsoft YaHei"/>
              </a:rPr>
              <a:t>有一个不为</a:t>
            </a:r>
            <a:r>
              <a:rPr lang="en-US" sz="1650">
                <a:solidFill>
                  <a:srgbClr val="F2F3F5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7181850" y="3124200"/>
            <a:ext cx="417195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U8 </a:t>
            </a: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表整张算错，画面会歪</a:t>
            </a:r>
            <a:endParaRPr/>
          </a:p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6858000" y="3667125"/>
            <a:ext cx="323850" cy="790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FF8F4D"/>
                </a:solidFill>
                <a:latin typeface="Consolas"/>
                <a:ea typeface="Consolas"/>
              </a:rPr>
              <a:t>2</a:t>
            </a:r>
            <a:endParaRPr/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7181850" y="3667125"/>
            <a:ext cx="41719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650">
                <a:solidFill>
                  <a:srgbClr val="F2F3F5"/>
                </a:solidFill>
                <a:latin typeface="Microsoft YaHei"/>
                <a:ea typeface="Microsoft YaHei"/>
              </a:rPr>
              <a:t>相机上加偏航或滚转</a:t>
            </a:r>
            <a:endParaRPr/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7181850" y="4105275"/>
            <a:ext cx="417195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同上，行与行之间不再平行</a:t>
            </a:r>
            <a:endParaRPr/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6858000" y="4648200"/>
            <a:ext cx="323850" cy="790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FF8F4D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7181850" y="4648200"/>
            <a:ext cx="41719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650">
                <a:solidFill>
                  <a:srgbClr val="F2F3F5"/>
                </a:solidFill>
                <a:latin typeface="Microsoft YaHei"/>
                <a:ea typeface="Microsoft YaHei"/>
              </a:rPr>
              <a:t>开逐像素畸变校正</a:t>
            </a:r>
            <a:endParaRPr/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7181850" y="5086350"/>
            <a:ext cx="417195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非线性修正，整行共享一个</a:t>
            </a: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 y </a:t>
            </a: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的前提没了</a:t>
            </a:r>
            <a:endParaRPr/>
          </a:p>
        </p:txBody>
      </p:sp>
      <p:sp>
        <p:nvSpPr>
          <p:cNvPr id="337" name="矩形 336"/>
          <p:cNvSpPr/>
          <p:nvPr/>
        </p:nvSpPr>
        <p:spPr>
          <a:xfrm>
            <a:off x="838200" y="6067425"/>
            <a:ext cx="419100" cy="28575"/>
          </a:xfrm>
          <a:prstGeom prst="rect">
            <a:avLst/>
          </a:prstGeom>
          <a:solidFill>
            <a:srgbClr val="FFB2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1428750" y="5953125"/>
            <a:ext cx="1047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9AA1AC"/>
                </a:solidFill>
                <a:latin typeface="Microsoft YaHei"/>
                <a:ea typeface="Microsoft YaHei"/>
              </a:rPr>
              <a:t>真实水平　</a:t>
            </a:r>
            <a:endParaRPr/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2476500" y="5953125"/>
            <a:ext cx="63436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C9CED6"/>
                </a:solidFill>
                <a:latin typeface="Microsoft YaHei"/>
                <a:ea typeface="Microsoft YaHei"/>
              </a:rPr>
              <a:t>按</a:t>
            </a:r>
            <a:r>
              <a:rPr lang="en-US" sz="1650">
                <a:solidFill>
                  <a:srgbClr val="C9CED6"/>
                </a:solidFill>
                <a:latin typeface="Microsoft YaHei"/>
                <a:ea typeface="Microsoft YaHei"/>
              </a:rPr>
              <a:t> 120 </a:t>
            </a:r>
            <a:r>
              <a:rPr lang="zh-CN" sz="1650">
                <a:solidFill>
                  <a:srgbClr val="C9CED6"/>
                </a:solidFill>
                <a:latin typeface="Microsoft YaHei"/>
                <a:ea typeface="Microsoft YaHei"/>
              </a:rPr>
              <a:t>行全有效外推，</a:t>
            </a:r>
            <a:r>
              <a:rPr lang="en-US" sz="1650">
                <a:solidFill>
                  <a:srgbClr val="C9CED6"/>
                </a:solidFill>
                <a:latin typeface="Microsoft YaHei"/>
                <a:ea typeface="Microsoft YaHei"/>
              </a:rPr>
              <a:t>U8 </a:t>
            </a:r>
            <a:r>
              <a:rPr lang="zh-CN" sz="1650">
                <a:solidFill>
                  <a:srgbClr val="C9CED6"/>
                </a:solidFill>
                <a:latin typeface="Microsoft YaHei"/>
                <a:ea typeface="Microsoft YaHei"/>
              </a:rPr>
              <a:t>是</a:t>
            </a:r>
            <a:r>
              <a:rPr lang="en-US" sz="1650">
                <a:solidFill>
                  <a:srgbClr val="C9CED6"/>
                </a:solidFill>
                <a:latin typeface="Microsoft YaHei"/>
                <a:ea typeface="Microsoft YaHei"/>
              </a:rPr>
              <a:t> 5.13 ms</a:t>
            </a:r>
            <a:r>
              <a:rPr lang="zh-CN" sz="1650">
                <a:solidFill>
                  <a:srgbClr val="C9CED6"/>
                </a:solidFill>
                <a:latin typeface="Microsoft YaHei"/>
                <a:ea typeface="Microsoft YaHei"/>
              </a:rPr>
              <a:t>，比指针表的</a:t>
            </a:r>
            <a:r>
              <a:rPr lang="en-US" sz="1650">
                <a:solidFill>
                  <a:srgbClr val="C9CED6"/>
                </a:solidFill>
                <a:latin typeface="Microsoft YaHei"/>
                <a:ea typeface="Microsoft YaHei"/>
              </a:rPr>
              <a:t> 4.73 ms </a:t>
            </a:r>
            <a:r>
              <a:rPr lang="zh-CN" sz="1650">
                <a:solidFill>
                  <a:srgbClr val="C9CED6"/>
                </a:solidFill>
                <a:latin typeface="Microsoft YaHei"/>
                <a:ea typeface="Microsoft YaHei"/>
              </a:rPr>
              <a:t>还慢。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5283-4B0B-C04C-D66B-3B516FD8A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矩形 171">
            <a:extLst>
              <a:ext uri="{FF2B5EF4-FFF2-40B4-BE49-F238E27FC236}">
                <a16:creationId xmlns:a16="http://schemas.microsoft.com/office/drawing/2014/main" id="{4766A4AF-1308-87CD-D501-F8B08BCAB2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3" name="图片 172">
            <a:extLst>
              <a:ext uri="{FF2B5EF4-FFF2-40B4-BE49-F238E27FC236}">
                <a16:creationId xmlns:a16="http://schemas.microsoft.com/office/drawing/2014/main" id="{1393AFB2-A0B4-87F8-7536-677CAB3E7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74" name="文本框 173" descr="{&quot;isTemplate&quot;:true,&quot;type&quot;:&quot;text&quot;}">
            <a:extLst>
              <a:ext uri="{FF2B5EF4-FFF2-40B4-BE49-F238E27FC236}">
                <a16:creationId xmlns:a16="http://schemas.microsoft.com/office/drawing/2014/main" id="{44BB4F0B-B511-67D7-57C8-EF43F055464A}"/>
              </a:ext>
            </a:extLst>
          </p:cNvPr>
          <p:cNvSpPr txBox="1"/>
          <p:nvPr/>
        </p:nvSpPr>
        <p:spPr>
          <a:xfrm>
            <a:off x="1295400" y="1371600"/>
            <a:ext cx="4838700" cy="3590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80000"/>
              </a:lnSpc>
            </a:pPr>
            <a:r>
              <a:rPr lang="en-US" sz="29400" b="1" spc="-750" dirty="0">
                <a:solidFill>
                  <a:srgbClr val="FF6A13"/>
                </a:solidFill>
                <a:latin typeface="Microsoft YaHei"/>
                <a:ea typeface="Microsoft YaHei"/>
              </a:rPr>
              <a:t>04</a:t>
            </a:r>
            <a:endParaRPr dirty="0"/>
          </a:p>
        </p:txBody>
      </p:sp>
      <p:sp>
        <p:nvSpPr>
          <p:cNvPr id="175" name="文本框 174" descr="{&quot;isTemplate&quot;:true,&quot;type&quot;:&quot;text&quot;}">
            <a:extLst>
              <a:ext uri="{FF2B5EF4-FFF2-40B4-BE49-F238E27FC236}">
                <a16:creationId xmlns:a16="http://schemas.microsoft.com/office/drawing/2014/main" id="{BF9AB482-B9E7-360E-2BEF-0CD3863A0F2A}"/>
              </a:ext>
            </a:extLst>
          </p:cNvPr>
          <p:cNvSpPr txBox="1"/>
          <p:nvPr/>
        </p:nvSpPr>
        <p:spPr>
          <a:xfrm>
            <a:off x="6134100" y="2209800"/>
            <a:ext cx="5219700" cy="1914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altLang="en-US" sz="4050" b="1" dirty="0">
                <a:solidFill>
                  <a:srgbClr val="F2F3F5"/>
                </a:solidFill>
                <a:latin typeface="Microsoft YaHei"/>
                <a:ea typeface="Microsoft YaHei"/>
              </a:rPr>
              <a:t>总结</a:t>
            </a:r>
            <a:r>
              <a:rPr lang="en-US" altLang="zh-CN" sz="4050" b="1" dirty="0">
                <a:solidFill>
                  <a:srgbClr val="F2F3F5"/>
                </a:solidFill>
                <a:latin typeface="Microsoft YaHei"/>
                <a:ea typeface="Microsoft YaHei"/>
              </a:rPr>
              <a:t>&amp;</a:t>
            </a:r>
            <a:r>
              <a:rPr lang="zh-CN" altLang="en-US" sz="4050" b="1" dirty="0">
                <a:solidFill>
                  <a:srgbClr val="F2F3F5"/>
                </a:solidFill>
                <a:latin typeface="Microsoft YaHei"/>
                <a:ea typeface="Microsoft YaHei"/>
              </a:rPr>
              <a:t>开源链接</a:t>
            </a:r>
            <a:endParaRPr lang="en-US" altLang="zh-CN" sz="4050" b="1" dirty="0">
              <a:solidFill>
                <a:srgbClr val="F2F3F5"/>
              </a:solidFill>
              <a:latin typeface="Microsoft YaHei"/>
              <a:ea typeface="Microsoft YaHei"/>
            </a:endParaRPr>
          </a:p>
          <a:p>
            <a:pPr>
              <a:lnSpc>
                <a:spcPct val="155000"/>
              </a:lnSpc>
            </a:pPr>
            <a:r>
              <a:rPr lang="en-US" altLang="zh-CN" sz="4050" b="1" dirty="0">
                <a:solidFill>
                  <a:srgbClr val="F2F3F5"/>
                </a:solidFill>
                <a:latin typeface="Microsoft YaHei"/>
                <a:ea typeface="Microsoft YaHei"/>
              </a:rPr>
              <a:t>&amp;</a:t>
            </a:r>
            <a:r>
              <a:rPr lang="zh-CN" altLang="en-US" sz="4050" b="1" dirty="0">
                <a:solidFill>
                  <a:srgbClr val="F2F3F5"/>
                </a:solidFill>
                <a:latin typeface="Microsoft YaHei"/>
                <a:ea typeface="Microsoft YaHei"/>
              </a:rPr>
              <a:t>叠甲</a:t>
            </a:r>
            <a:endParaRPr lang="zh-CN" altLang="en-US" dirty="0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A6F58C7E-02C0-FFBA-2D14-55FA44AA9EA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EE8D69F8-BBAA-396E-F4F4-37FF219611B9}"/>
              </a:ext>
            </a:extLst>
          </p:cNvPr>
          <p:cNvSpPr/>
          <p:nvPr/>
        </p:nvSpPr>
        <p:spPr>
          <a:xfrm>
            <a:off x="0" y="6096000"/>
            <a:ext cx="2514600" cy="3810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55FA1857-3F2F-2CC6-0037-272961DA573F}"/>
              </a:ext>
            </a:extLst>
          </p:cNvPr>
          <p:cNvSpPr/>
          <p:nvPr/>
        </p:nvSpPr>
        <p:spPr>
          <a:xfrm>
            <a:off x="2590800" y="6096000"/>
            <a:ext cx="2514600" cy="3810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0824AF71-2022-E5CF-2963-C80FB50557E9}"/>
              </a:ext>
            </a:extLst>
          </p:cNvPr>
          <p:cNvSpPr/>
          <p:nvPr/>
        </p:nvSpPr>
        <p:spPr>
          <a:xfrm>
            <a:off x="5181600" y="6096000"/>
            <a:ext cx="2514600" cy="381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0926F484-C6F8-6CA5-EDA7-D6921A7925EF}"/>
              </a:ext>
            </a:extLst>
          </p:cNvPr>
          <p:cNvSpPr/>
          <p:nvPr/>
        </p:nvSpPr>
        <p:spPr>
          <a:xfrm>
            <a:off x="7772400" y="6096000"/>
            <a:ext cx="2514600" cy="3810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540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三种表</a:t>
            </a: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汇编解析</a:t>
            </a:r>
            <a:endParaRPr dirty="0"/>
          </a:p>
        </p:txBody>
      </p:sp>
      <p:sp>
        <p:nvSpPr>
          <p:cNvPr id="85" name="矩形 84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" name="矩形 85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838200" y="1428750"/>
            <a:ext cx="32385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>
                <a:solidFill>
                  <a:srgbClr val="9AA1AC"/>
                </a:solidFill>
                <a:latin typeface="Microsoft YaHei"/>
                <a:ea typeface="Microsoft YaHei"/>
              </a:rPr>
              <a:t>指针表　</a:t>
            </a:r>
            <a:r>
              <a:rPr lang="en-US" sz="1575">
                <a:solidFill>
                  <a:srgbClr val="9AA1AC"/>
                </a:solidFill>
                <a:latin typeface="Microsoft YaHei"/>
                <a:ea typeface="Microsoft YaHei"/>
              </a:rPr>
              <a:t>-O2 </a:t>
            </a:r>
            <a:r>
              <a:rPr lang="zh-CN" sz="1575">
                <a:solidFill>
                  <a:srgbClr val="9AA1AC"/>
                </a:solidFill>
                <a:latin typeface="Microsoft YaHei"/>
                <a:ea typeface="Microsoft YaHei"/>
              </a:rPr>
              <a:t>内层</a:t>
            </a:r>
            <a:r>
              <a:rPr lang="en-US" sz="1575">
                <a:solidFill>
                  <a:srgbClr val="9AA1AC"/>
                </a:solidFill>
                <a:latin typeface="Microsoft YaHei"/>
                <a:ea typeface="Microsoft YaHei"/>
              </a:rPr>
              <a:t> 5 </a:t>
            </a:r>
            <a:r>
              <a:rPr lang="zh-CN" sz="1575">
                <a:solidFill>
                  <a:srgbClr val="9AA1AC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4476750" y="1428750"/>
            <a:ext cx="32385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>
                <a:solidFill>
                  <a:srgbClr val="FF8F4D"/>
                </a:solidFill>
                <a:latin typeface="Microsoft YaHei"/>
                <a:ea typeface="Microsoft YaHei"/>
              </a:rPr>
              <a:t>偏移表　</a:t>
            </a:r>
            <a:r>
              <a:rPr lang="en-US" sz="1575">
                <a:solidFill>
                  <a:srgbClr val="FF8F4D"/>
                </a:solidFill>
                <a:latin typeface="Microsoft YaHei"/>
                <a:ea typeface="Microsoft YaHei"/>
              </a:rPr>
              <a:t>-O2 </a:t>
            </a:r>
            <a:r>
              <a:rPr lang="zh-CN" sz="1575">
                <a:solidFill>
                  <a:srgbClr val="FF8F4D"/>
                </a:solidFill>
                <a:latin typeface="Microsoft YaHei"/>
                <a:ea typeface="Microsoft YaHei"/>
              </a:rPr>
              <a:t>内层</a:t>
            </a:r>
            <a:r>
              <a:rPr lang="en-US" sz="1575">
                <a:solidFill>
                  <a:srgbClr val="FF8F4D"/>
                </a:solidFill>
                <a:latin typeface="Microsoft YaHei"/>
                <a:ea typeface="Microsoft YaHei"/>
              </a:rPr>
              <a:t> 6 </a:t>
            </a:r>
            <a:r>
              <a:rPr lang="zh-CN" sz="1575">
                <a:solidFill>
                  <a:srgbClr val="FF8F4D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8115300" y="1428750"/>
            <a:ext cx="32385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FFB27A"/>
                </a:solidFill>
                <a:latin typeface="Microsoft YaHei"/>
                <a:ea typeface="Microsoft YaHei"/>
              </a:rPr>
              <a:t>U8 </a:t>
            </a:r>
            <a:r>
              <a:rPr lang="zh-CN" sz="1575">
                <a:solidFill>
                  <a:srgbClr val="FFB27A"/>
                </a:solidFill>
                <a:latin typeface="Microsoft YaHei"/>
                <a:ea typeface="Microsoft YaHei"/>
              </a:rPr>
              <a:t>表　</a:t>
            </a:r>
            <a:r>
              <a:rPr lang="en-US" sz="1575">
                <a:solidFill>
                  <a:srgbClr val="FFB27A"/>
                </a:solidFill>
                <a:latin typeface="Microsoft YaHei"/>
                <a:ea typeface="Microsoft YaHei"/>
              </a:rPr>
              <a:t>-O2 </a:t>
            </a:r>
            <a:r>
              <a:rPr lang="zh-CN" sz="1575">
                <a:solidFill>
                  <a:srgbClr val="FFB27A"/>
                </a:solidFill>
                <a:latin typeface="Microsoft YaHei"/>
                <a:ea typeface="Microsoft YaHei"/>
              </a:rPr>
              <a:t>内层</a:t>
            </a:r>
            <a:r>
              <a:rPr lang="en-US" sz="1575">
                <a:solidFill>
                  <a:srgbClr val="FFB27A"/>
                </a:solidFill>
                <a:latin typeface="Microsoft YaHei"/>
                <a:ea typeface="Microsoft YaHei"/>
              </a:rPr>
              <a:t> 6 </a:t>
            </a:r>
            <a:r>
              <a:rPr lang="zh-CN" sz="1575">
                <a:solidFill>
                  <a:srgbClr val="FFB27A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838200" y="3552825"/>
            <a:ext cx="6096000" cy="952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0000"/>
              </a:lnSpc>
            </a:pP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指针表取指针就能取像素，一步到位。另外两个都得先算出地址，多一条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add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。</a:t>
            </a:r>
            <a:endParaRPr dirty="0"/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838200" y="4638675"/>
            <a:ext cx="6096000" cy="952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0000"/>
              </a:lnSpc>
            </a:pPr>
            <a:r>
              <a:rPr lang="zh-CN" sz="1725">
                <a:solidFill>
                  <a:srgbClr val="C9CED6"/>
                </a:solidFill>
                <a:latin typeface="Microsoft YaHei"/>
                <a:ea typeface="Microsoft YaHei"/>
              </a:rPr>
              <a:t>偏移表和</a:t>
            </a:r>
            <a:r>
              <a:rPr lang="en-US" sz="1725">
                <a:solidFill>
                  <a:srgbClr val="C9CED6"/>
                </a:solidFill>
                <a:latin typeface="Microsoft YaHei"/>
                <a:ea typeface="Microsoft YaHei"/>
              </a:rPr>
              <a:t> U8 </a:t>
            </a:r>
            <a:r>
              <a:rPr lang="zh-CN" sz="1725">
                <a:solidFill>
                  <a:srgbClr val="C9CED6"/>
                </a:solidFill>
                <a:latin typeface="Microsoft YaHei"/>
                <a:ea typeface="Microsoft YaHei"/>
              </a:rPr>
              <a:t>的内层一模一样，只有取表那一条不同：</a:t>
            </a:r>
            <a:r>
              <a:rPr lang="en-US" sz="1725">
                <a:solidFill>
                  <a:srgbClr val="C9CED6"/>
                </a:solidFill>
                <a:latin typeface="Microsoft YaHei"/>
                <a:ea typeface="Microsoft YaHei"/>
              </a:rPr>
              <a:t>lh </a:t>
            </a:r>
            <a:r>
              <a:rPr lang="zh-CN" sz="1725">
                <a:solidFill>
                  <a:srgbClr val="C9CED6"/>
                </a:solidFill>
                <a:latin typeface="Microsoft YaHei"/>
                <a:ea typeface="Microsoft YaHei"/>
              </a:rPr>
              <a:t>和</a:t>
            </a:r>
            <a:r>
              <a:rPr lang="en-US" sz="1725">
                <a:solidFill>
                  <a:srgbClr val="C9CED6"/>
                </a:solidFill>
                <a:latin typeface="Microsoft YaHei"/>
                <a:ea typeface="Microsoft YaHei"/>
              </a:rPr>
              <a:t> lbu</a:t>
            </a:r>
            <a:r>
              <a:rPr lang="zh-CN" sz="1725">
                <a:solidFill>
                  <a:srgbClr val="C9CED6"/>
                </a:solidFill>
                <a:latin typeface="Microsoft YaHei"/>
                <a:ea typeface="Microsoft YaHei"/>
              </a:rPr>
              <a:t>，步长</a:t>
            </a:r>
            <a:r>
              <a:rPr lang="en-US" sz="1725">
                <a:solidFill>
                  <a:srgbClr val="C9CED6"/>
                </a:solidFill>
                <a:latin typeface="Microsoft YaHei"/>
                <a:ea typeface="Microsoft YaHei"/>
              </a:rPr>
              <a:t> 2 </a:t>
            </a:r>
            <a:r>
              <a:rPr lang="zh-CN" sz="1725">
                <a:solidFill>
                  <a:srgbClr val="C9CED6"/>
                </a:solidFill>
                <a:latin typeface="Microsoft YaHei"/>
                <a:ea typeface="Microsoft YaHei"/>
              </a:rPr>
              <a:t>和</a:t>
            </a:r>
            <a:r>
              <a:rPr lang="en-US" sz="1725">
                <a:solidFill>
                  <a:srgbClr val="C9CED6"/>
                </a:solidFill>
                <a:latin typeface="Microsoft YaHei"/>
                <a:ea typeface="Microsoft YaHei"/>
              </a:rPr>
              <a:t> 1</a:t>
            </a:r>
            <a:r>
              <a:rPr lang="zh-CN" sz="1725">
                <a:solidFill>
                  <a:srgbClr val="C9CED6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2" name="矩形 91"/>
          <p:cNvSpPr/>
          <p:nvPr/>
        </p:nvSpPr>
        <p:spPr>
          <a:xfrm>
            <a:off x="7353300" y="3552825"/>
            <a:ext cx="57150" cy="13335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7620000" y="3552825"/>
            <a:ext cx="3733800" cy="1266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5000"/>
              </a:lnSpc>
            </a:pP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RISC-V </a:t>
            </a:r>
            <a:r>
              <a:rPr lang="zh-CN" sz="1575">
                <a:solidFill>
                  <a:srgbClr val="F2F3F5"/>
                </a:solidFill>
                <a:latin typeface="Microsoft YaHei"/>
                <a:ea typeface="Microsoft YaHei"/>
              </a:rPr>
              <a:t>的</a:t>
            </a: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 load </a:t>
            </a:r>
            <a:r>
              <a:rPr lang="zh-CN" sz="1575">
                <a:solidFill>
                  <a:srgbClr val="F2F3F5"/>
                </a:solidFill>
                <a:latin typeface="Microsoft YaHei"/>
                <a:ea typeface="Microsoft YaHei"/>
              </a:rPr>
              <a:t>只有</a:t>
            </a: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 imm(rs1) </a:t>
            </a:r>
            <a:r>
              <a:rPr lang="zh-CN" sz="1575">
                <a:solidFill>
                  <a:srgbClr val="F2F3F5"/>
                </a:solidFill>
                <a:latin typeface="Microsoft YaHei"/>
                <a:ea typeface="Microsoft YaHei"/>
              </a:rPr>
              <a:t>一种形式，基址加可变偏移必须先</a:t>
            </a: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 add </a:t>
            </a:r>
            <a:r>
              <a:rPr lang="zh-CN" sz="1575">
                <a:solidFill>
                  <a:srgbClr val="F2F3F5"/>
                </a:solidFill>
                <a:latin typeface="Microsoft YaHei"/>
                <a:ea typeface="Microsoft YaHei"/>
              </a:rPr>
              <a:t>进寄存器。</a:t>
            </a:r>
            <a:endParaRPr/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7620000" y="4933950"/>
            <a:ext cx="3733800" cy="847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5000"/>
              </a:lnSpc>
            </a:pPr>
            <a:r>
              <a:rPr lang="en-US" sz="1575">
                <a:solidFill>
                  <a:srgbClr val="9AA1AC"/>
                </a:solidFill>
                <a:latin typeface="Microsoft YaHei"/>
                <a:ea typeface="Microsoft YaHei"/>
              </a:rPr>
              <a:t>ARM </a:t>
            </a:r>
            <a:r>
              <a:rPr lang="zh-CN" sz="1575">
                <a:solidFill>
                  <a:srgbClr val="9AA1AC"/>
                </a:solidFill>
                <a:latin typeface="Microsoft YaHei"/>
                <a:ea typeface="Microsoft YaHei"/>
              </a:rPr>
              <a:t>的</a:t>
            </a:r>
            <a:r>
              <a:rPr lang="en-US" sz="1575">
                <a:solidFill>
                  <a:srgbClr val="9AA1AC"/>
                </a:solidFill>
                <a:latin typeface="Microsoft YaHei"/>
                <a:ea typeface="Microsoft YaHei"/>
              </a:rPr>
              <a:t> LDR Rt,[Rn,Rm] </a:t>
            </a:r>
            <a:r>
              <a:rPr lang="zh-CN" sz="1575">
                <a:solidFill>
                  <a:srgbClr val="9AA1AC"/>
                </a:solidFill>
                <a:latin typeface="Microsoft YaHei"/>
                <a:ea typeface="Microsoft YaHei"/>
              </a:rPr>
              <a:t>能把这次加法折进访存，下一页看。</a:t>
            </a:r>
            <a:endParaRPr/>
          </a:p>
        </p:txBody>
      </p:sp>
      <p:sp>
        <p:nvSpPr>
          <p:cNvPr id="95" name="矩形: 圆角 94"/>
          <p:cNvSpPr/>
          <p:nvPr/>
        </p:nvSpPr>
        <p:spPr>
          <a:xfrm>
            <a:off x="838200" y="1790700"/>
            <a:ext cx="3238500" cy="1238250"/>
          </a:xfrm>
          <a:prstGeom prst="roundRect">
            <a:avLst>
              <a:gd name="adj" fmla="val 6154"/>
            </a:avLst>
          </a:prstGeom>
          <a:solidFill>
            <a:srgbClr val="2B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" name="文本框 95"/>
          <p:cNvSpPr txBox="1"/>
          <p:nvPr/>
        </p:nvSpPr>
        <p:spPr>
          <a:xfrm>
            <a:off x="990600" y="1924050"/>
            <a:ext cx="2933700" cy="971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sz="1275" dirty="0" err="1">
                <a:solidFill>
                  <a:srgbClr val="E5E7EB"/>
                </a:solidFill>
                <a:latin typeface="Menlo"/>
                <a:ea typeface="Menlo"/>
              </a:rPr>
              <a:t>lw</a:t>
            </a:r>
            <a:r>
              <a:rPr sz="1275" dirty="0">
                <a:solidFill>
                  <a:srgbClr val="E5E7EB"/>
                </a:solidFill>
                <a:latin typeface="Menlo"/>
                <a:ea typeface="Menlo"/>
              </a:rPr>
              <a:t>    a4,0(a5)
</a:t>
            </a:r>
            <a:r>
              <a:rPr sz="1275" dirty="0" err="1">
                <a:solidFill>
                  <a:srgbClr val="E5E7EB"/>
                </a:solidFill>
                <a:latin typeface="Menlo"/>
                <a:ea typeface="Menlo"/>
              </a:rPr>
              <a:t>addi</a:t>
            </a:r>
            <a:r>
              <a:rPr sz="1275" dirty="0">
                <a:solidFill>
                  <a:srgbClr val="E5E7EB"/>
                </a:solidFill>
                <a:latin typeface="Menlo"/>
                <a:ea typeface="Menlo"/>
              </a:rPr>
              <a:t>  a5,a5,4
</a:t>
            </a:r>
            <a:r>
              <a:rPr sz="1275" dirty="0" err="1">
                <a:solidFill>
                  <a:srgbClr val="E5E7EB"/>
                </a:solidFill>
                <a:latin typeface="Menlo"/>
                <a:ea typeface="Menlo"/>
              </a:rPr>
              <a:t>lbu</a:t>
            </a:r>
            <a:r>
              <a:rPr sz="1275" dirty="0">
                <a:solidFill>
                  <a:srgbClr val="E5E7EB"/>
                </a:solidFill>
                <a:latin typeface="Menlo"/>
                <a:ea typeface="Menlo"/>
              </a:rPr>
              <a:t>   a4,0(a4)
add   a0,a0,a4
</a:t>
            </a:r>
            <a:r>
              <a:rPr sz="1275" dirty="0" err="1">
                <a:solidFill>
                  <a:srgbClr val="E5E7EB"/>
                </a:solidFill>
                <a:latin typeface="Menlo"/>
                <a:ea typeface="Menlo"/>
              </a:rPr>
              <a:t>bne</a:t>
            </a:r>
            <a:r>
              <a:rPr sz="1275" dirty="0">
                <a:solidFill>
                  <a:srgbClr val="E5E7EB"/>
                </a:solidFill>
                <a:latin typeface="Menlo"/>
                <a:ea typeface="Menlo"/>
              </a:rPr>
              <a:t>   a3,a5,loop</a:t>
            </a:r>
            <a:endParaRPr dirty="0"/>
          </a:p>
        </p:txBody>
      </p:sp>
      <p:sp>
        <p:nvSpPr>
          <p:cNvPr id="97" name="矩形: 圆角 96"/>
          <p:cNvSpPr/>
          <p:nvPr/>
        </p:nvSpPr>
        <p:spPr>
          <a:xfrm>
            <a:off x="4476750" y="1790700"/>
            <a:ext cx="3238500" cy="1438275"/>
          </a:xfrm>
          <a:prstGeom prst="roundRect">
            <a:avLst>
              <a:gd name="adj" fmla="val 5298"/>
            </a:avLst>
          </a:prstGeom>
          <a:solidFill>
            <a:srgbClr val="2B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" name="文本框 97"/>
          <p:cNvSpPr txBox="1"/>
          <p:nvPr/>
        </p:nvSpPr>
        <p:spPr>
          <a:xfrm>
            <a:off x="4629150" y="1924050"/>
            <a:ext cx="2933700" cy="1171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sz="1275">
                <a:solidFill>
                  <a:srgbClr val="E5E7EB"/>
                </a:solidFill>
                <a:latin typeface="Menlo"/>
                <a:ea typeface="Menlo"/>
              </a:rPr>
              <a:t>lh    a4,0(a5)
addi  a5,a5,2
add   a4,a4,a2
lbu   a4,0(a4)
add   a0,a0,a4
bne   a3,a5,loop</a:t>
            </a:r>
            <a:endParaRPr/>
          </a:p>
        </p:txBody>
      </p:sp>
      <p:sp>
        <p:nvSpPr>
          <p:cNvPr id="99" name="矩形: 圆角 98"/>
          <p:cNvSpPr/>
          <p:nvPr/>
        </p:nvSpPr>
        <p:spPr>
          <a:xfrm>
            <a:off x="8115300" y="1790700"/>
            <a:ext cx="3238500" cy="1438275"/>
          </a:xfrm>
          <a:prstGeom prst="roundRect">
            <a:avLst>
              <a:gd name="adj" fmla="val 5298"/>
            </a:avLst>
          </a:prstGeom>
          <a:solidFill>
            <a:srgbClr val="2B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" name="文本框 99"/>
          <p:cNvSpPr txBox="1"/>
          <p:nvPr/>
        </p:nvSpPr>
        <p:spPr>
          <a:xfrm>
            <a:off x="8267700" y="1924050"/>
            <a:ext cx="2933700" cy="1171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sz="1275">
                <a:solidFill>
                  <a:srgbClr val="E5E7EB"/>
                </a:solidFill>
                <a:latin typeface="Menlo"/>
                <a:ea typeface="Menlo"/>
              </a:rPr>
              <a:t>lbu   a4,0(a5)
addi  a5,a5,1
add   a4,a4,a2
lbu   a4,0(a4)
add   a0,a0,a4
bne   a3,a5,loop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const bg = '#1F232A';&#10;const or = '#FF6A13';&#10;const or2 = '#FF8F4D';&#10;const or3 = '#FFB27A';&#10;const txt = '#F2F3F5';&#10;const body = '#C9CED6';&#10;const muted = '#9AA1AC';&#10;const rule = '#3A404A';&#10;const panel = '#272C34';&#10;&#10;&lt;Slide style={{ width: 1280, height: 720, display: 'flex', flexDirection: 'column', background: bg, padding: 0 }}&gt;&#10;&#10;    &lt;Image src=&quot;assets/bg-ch2.png&quot; style={{ position: 'absolute', left: 0, top: 0, width: 1280, height: 720, zIndex: 0 }} /&gt;&#10;&#10;    &lt;Box style={{ position: 'relative', zIndex: 1, flex: 1, display: 'flex', padding: '0 88px', flexDirection: 'column' }}&gt;&#10;    &lt;Box style={{ display: 'flex', flexDirection: 'column', marginTop: 50 }}&gt;&#10;        &lt;Text style={{ fontSize: 44, fontWeight: 700, color: txt }}&gt;换到 M7，那条 add 不见了&lt;/Text&gt;&#10;        &lt;Box style={{ marginTop: 20, width: '100%', height: 1, background: rule, display: 'flex', flexDirection: 'row' }}&gt;&#10;            &lt;Box style={{ width: 140, height: 1, background: or }} /&gt;&#10;        &lt;/Box&gt;&#10;    &lt;/Box&gt;&#10;&#10;    &lt;Box style={{ display: 'flex', flexDirection: 'row', marginTop: 24 }}&gt;&#10;&#10;        {[&#10;            { name: '指针表', c: muted, note: '取指针再解引用', code: `LDR.W   R12,[R1],#4&#10;LDRB.W  LR,[R12]&#10;ADD     R7,R7,LR` },&#10;            { name: '偏移表', c: or2, note: '表项当索引', code: `LDRSH.W R7,[R5],#2&#10;LDRB.W  R12,[R3,R7]&#10;ADD     R6,R6,R12` },&#10;            { name: 'U8 表', c: or3, note: '表项当索引', code: `LDRB.W  R5,[R3],#1&#10;LDRB.W  R10,[R2,R5]&#10;ADD     R8,R8,R10` },&#10;        ].map((it, i) =&gt; (&#10;            &lt;Box key={i} style={{ display: 'flex', flexDirection: 'column', width: 336, marginRight: i === 2 ? 0 : 48 }}&gt;&#10;                &lt;Box style={{ display: 'flex', flexDirection: 'row', alignItems: 'baseline', marginBottom: 10 }}&gt;&#10;                    &lt;Text style={{ fontSize: 22, color: it.c, marginRight: 14 }}&gt;{it.name}&lt;/Text&gt;&#10;                    &lt;Text style={{ fontSize: 18, color: muted }}&gt;{it.note}&lt;/Text&gt;&#10;                &lt;/Box&gt;&#10;                &lt;CodeBlock&#10;                    code={it.code}&#10;                    language='asm'&#10;                    width={336}&#10;                    fontSize={19}&#10;                    theme='github-dark'&#10;                    background='#2B3038'&#10;                    macHeader={false}&#10;                /&gt;&#10;            &lt;/Box&gt;&#10;        ))}&#10;&#10;    &lt;/Box&gt;&#10;&#10;    &lt;Box style={{ display: 'flex', flexDirection: 'row', flex: 1, marginTop: 8, marginBottom: 24 }}&gt;&#10;&#10;        &lt;Box style={{ display: 'flex', flexDirection: 'column', width: 676 }}&gt;&#10;            &lt;Text style={{ fontSize: 23, color: body, lineHeight: 1.75 }}&gt;&#10;                IAR High 把内层展开四次，每像素都只剩三条。&#10;                &lt;br /&gt;&#10;                区别只在取表那一句。指针表先 ldr 拿地址，再 ldrb&#10;                &lt;br /&gt;&#10;                解引用；另外两个把表项当索引塞进 [Rn,Rm]。&#10;            &lt;/Text&gt;&#10;            &lt;Text style={{ fontSize: 23, color: body, lineHeight: 1.75, marginTop: 14 }}&gt;&#10;                偏移表是 int16、步长 2，U8 是 uint8、步长 1，&#10;                &lt;br /&gt;&#10;                所以一个 ldsh 一个 ldrb，其余一模一样。&#10;            &lt;/Text&gt;&#10;            &lt;Text style={{ fontSize: 23, color: body, lineHeight: 1.75, marginTop: 14 }}&gt;&#10;                U8 每行开头还多一次 rvalid 读取和 cbz 判断。&#10;                &lt;br /&gt;&#10;                高档实测 0.743 / 0.743 / 0.844，那 13.7% 差在这里。&#10;            &lt;/Text&gt;&#10;        &lt;/Box&gt;&#10;&#10;        &lt;Box style={{ display: 'flex', flexDirection: 'row', flex: 1, marginLeft: 40, alignItems: 'center' }}&gt;&#10;            &lt;Box style={{ width: 5, height: 132, background: or }} /&gt;&#10;            &lt;Box style={{ display: 'flex', flexDirection: 'column', paddingLeft: 22 }}&gt;&#10;                &lt;Text style={{ fontSize: 20, color: txt, lineHeight: 1.75 }}&gt;&#10;                    那条 add 根本没有机会出现&#10;                &lt;/Text&gt;&#10;                &lt;Text style={{ fontSize: 19, color: muted, lineHeight: 1.7, marginTop: 12 }}&gt;&#10;                    CH32 上偏移表慢 14%，&#10;                    &lt;br /&gt;&#10;                    M7 高档只差 0.05%。&#10;                &lt;/Text&gt;&#10;            &lt;/Box&gt;&#10;        &lt;/Box&gt;&#10;&#10;    &lt;/Box&gt;&#10;&#10;    &lt;/Box&gt;&#10;&#10;    &lt;Text style={{ position: 'absolute', left: 1158, top: 674, fontSize: 20, color: '#6C737E', zIndex: 2 }}&gt;26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矩形 4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05" name="图片 4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2F3F5"/>
                </a:solidFill>
                <a:latin typeface="Microsoft YaHei"/>
                <a:ea typeface="Microsoft YaHei"/>
              </a:rPr>
              <a:t>换到</a:t>
            </a:r>
            <a:r>
              <a:rPr lang="en-US" sz="3300" b="1">
                <a:solidFill>
                  <a:srgbClr val="F2F3F5"/>
                </a:solidFill>
                <a:latin typeface="Microsoft YaHei"/>
                <a:ea typeface="Microsoft YaHei"/>
              </a:rPr>
              <a:t> M7</a:t>
            </a:r>
            <a:r>
              <a:rPr lang="zh-CN" sz="3300" b="1">
                <a:solidFill>
                  <a:srgbClr val="F2F3F5"/>
                </a:solidFill>
                <a:latin typeface="Microsoft YaHei"/>
                <a:ea typeface="Microsoft YaHei"/>
              </a:rPr>
              <a:t>，那条</a:t>
            </a:r>
            <a:r>
              <a:rPr lang="en-US" sz="3300" b="1">
                <a:solidFill>
                  <a:srgbClr val="F2F3F5"/>
                </a:solidFill>
                <a:latin typeface="Microsoft YaHei"/>
                <a:ea typeface="Microsoft YaHei"/>
              </a:rPr>
              <a:t> add </a:t>
            </a:r>
            <a:r>
              <a:rPr lang="zh-CN" sz="3300" b="1">
                <a:solidFill>
                  <a:srgbClr val="F2F3F5"/>
                </a:solidFill>
                <a:latin typeface="Microsoft YaHei"/>
                <a:ea typeface="Microsoft YaHei"/>
              </a:rPr>
              <a:t>不见了</a:t>
            </a:r>
            <a:endParaRPr/>
          </a:p>
        </p:txBody>
      </p:sp>
      <p:sp>
        <p:nvSpPr>
          <p:cNvPr id="407" name="矩形 406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8" name="矩形 407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838200" y="1409700"/>
            <a:ext cx="6286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9AA1AC"/>
                </a:solidFill>
                <a:latin typeface="Microsoft YaHei"/>
                <a:ea typeface="Microsoft YaHei"/>
              </a:rPr>
              <a:t>指针表</a:t>
            </a:r>
            <a:endParaRPr/>
          </a:p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1600200" y="1409700"/>
            <a:ext cx="12001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9AA1AC"/>
                </a:solidFill>
                <a:latin typeface="Microsoft YaHei"/>
                <a:ea typeface="Microsoft YaHei"/>
              </a:rPr>
              <a:t>取指针再解引用</a:t>
            </a:r>
            <a:endParaRPr/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4495800" y="1409700"/>
            <a:ext cx="6286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FF8F4D"/>
                </a:solidFill>
                <a:latin typeface="Microsoft YaHei"/>
                <a:ea typeface="Microsoft YaHei"/>
              </a:rPr>
              <a:t>偏移表</a:t>
            </a:r>
            <a:endParaRPr/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5257800" y="1409700"/>
            <a:ext cx="857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9AA1AC"/>
                </a:solidFill>
                <a:latin typeface="Microsoft YaHei"/>
                <a:ea typeface="Microsoft YaHei"/>
              </a:rPr>
              <a:t>表项当索引</a:t>
            </a:r>
            <a:endParaRPr/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8153400" y="1409700"/>
            <a:ext cx="552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>
                <a:solidFill>
                  <a:srgbClr val="FFB27A"/>
                </a:solidFill>
                <a:latin typeface="Microsoft YaHei"/>
                <a:ea typeface="Microsoft YaHei"/>
              </a:rPr>
              <a:t>U8 </a:t>
            </a:r>
            <a:r>
              <a:rPr lang="zh-CN" sz="1650">
                <a:solidFill>
                  <a:srgbClr val="FFB27A"/>
                </a:solidFill>
                <a:latin typeface="Microsoft YaHei"/>
                <a:ea typeface="Microsoft YaHei"/>
              </a:rPr>
              <a:t>表</a:t>
            </a:r>
            <a:endParaRPr/>
          </a:p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8839200" y="1409700"/>
            <a:ext cx="857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9AA1AC"/>
                </a:solidFill>
                <a:latin typeface="Microsoft YaHei"/>
                <a:ea typeface="Microsoft YaHei"/>
              </a:rPr>
              <a:t>表项当索引</a:t>
            </a:r>
            <a:endParaRPr/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819150" y="3062287"/>
            <a:ext cx="6438900" cy="1381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5000"/>
              </a:lnSpc>
            </a:pP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IAR High 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把内层展开四次，每像素都只剩三条。</a:t>
            </a:r>
            <a:endParaRPr dirty="0"/>
          </a:p>
          <a:p>
            <a:pPr>
              <a:lnSpc>
                <a:spcPct val="175000"/>
              </a:lnSpc>
            </a:pP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指针表先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</a:t>
            </a:r>
            <a:r>
              <a:rPr lang="en-US" sz="1725" dirty="0" err="1">
                <a:solidFill>
                  <a:srgbClr val="C9CED6"/>
                </a:solidFill>
                <a:latin typeface="Microsoft YaHei"/>
                <a:ea typeface="Microsoft YaHei"/>
              </a:rPr>
              <a:t>ldr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拿地址，再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</a:t>
            </a:r>
            <a:r>
              <a:rPr lang="en-US" sz="1725" dirty="0" err="1">
                <a:solidFill>
                  <a:srgbClr val="C9CED6"/>
                </a:solidFill>
                <a:latin typeface="Microsoft YaHei"/>
                <a:ea typeface="Microsoft YaHei"/>
              </a:rPr>
              <a:t>ldrb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解引用；</a:t>
            </a:r>
            <a:endParaRPr dirty="0"/>
          </a:p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819150" y="4233862"/>
            <a:ext cx="6438900" cy="923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5000"/>
              </a:lnSpc>
            </a:pP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偏移表是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int16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、步长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2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，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U8 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是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uint8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、步长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1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，</a:t>
            </a:r>
            <a:endParaRPr dirty="0"/>
          </a:p>
          <a:p>
            <a:pPr>
              <a:lnSpc>
                <a:spcPct val="175000"/>
              </a:lnSpc>
            </a:pP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所以一个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</a:t>
            </a:r>
            <a:r>
              <a:rPr lang="en-US" sz="1725" dirty="0" err="1">
                <a:solidFill>
                  <a:srgbClr val="C9CED6"/>
                </a:solidFill>
                <a:latin typeface="Microsoft YaHei"/>
                <a:ea typeface="Microsoft YaHei"/>
              </a:rPr>
              <a:t>ldsh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一个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</a:t>
            </a:r>
            <a:r>
              <a:rPr lang="en-US" sz="1725" dirty="0" err="1">
                <a:solidFill>
                  <a:srgbClr val="C9CED6"/>
                </a:solidFill>
                <a:latin typeface="Microsoft YaHei"/>
                <a:ea typeface="Microsoft YaHei"/>
              </a:rPr>
              <a:t>ldrb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，其余一模一样。</a:t>
            </a:r>
            <a:endParaRPr dirty="0"/>
          </a:p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838200" y="5334000"/>
            <a:ext cx="6438900" cy="923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5000"/>
              </a:lnSpc>
            </a:pP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U8 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每行开头还多一次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</a:t>
            </a:r>
            <a:r>
              <a:rPr lang="en-US" sz="1725" dirty="0" err="1">
                <a:solidFill>
                  <a:srgbClr val="C9CED6"/>
                </a:solidFill>
                <a:latin typeface="Microsoft YaHei"/>
                <a:ea typeface="Microsoft YaHei"/>
              </a:rPr>
              <a:t>rvalid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读取和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</a:t>
            </a:r>
            <a:r>
              <a:rPr lang="en-US" sz="1725" dirty="0" err="1">
                <a:solidFill>
                  <a:srgbClr val="C9CED6"/>
                </a:solidFill>
                <a:latin typeface="Microsoft YaHei"/>
                <a:ea typeface="Microsoft YaHei"/>
              </a:rPr>
              <a:t>cbz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判断。</a:t>
            </a:r>
            <a:endParaRPr dirty="0"/>
          </a:p>
          <a:p>
            <a:pPr>
              <a:lnSpc>
                <a:spcPct val="175000"/>
              </a:lnSpc>
            </a:pP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高档实测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 0.743 / 0.743 / 0.844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，</a:t>
            </a:r>
            <a:r>
              <a:rPr lang="zh-CN" alt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引入</a:t>
            </a:r>
            <a:r>
              <a:rPr 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13.7%</a:t>
            </a:r>
            <a:r>
              <a:rPr lang="zh-CN" alt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差距</a:t>
            </a: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。</a:t>
            </a:r>
            <a:endParaRPr dirty="0"/>
          </a:p>
        </p:txBody>
      </p:sp>
      <p:sp>
        <p:nvSpPr>
          <p:cNvPr id="418" name="矩形 417"/>
          <p:cNvSpPr/>
          <p:nvPr/>
        </p:nvSpPr>
        <p:spPr>
          <a:xfrm>
            <a:off x="7658100" y="4067175"/>
            <a:ext cx="47625" cy="12573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7915275" y="4067175"/>
            <a:ext cx="2371725" cy="400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5000"/>
              </a:lnSpc>
            </a:pPr>
            <a:r>
              <a:rPr lang="zh-CN" sz="1500">
                <a:solidFill>
                  <a:srgbClr val="F2F3F5"/>
                </a:solidFill>
                <a:latin typeface="Microsoft YaHei"/>
                <a:ea typeface="Microsoft YaHei"/>
              </a:rPr>
              <a:t>那条</a:t>
            </a:r>
            <a:r>
              <a:rPr lang="en-US" sz="1500">
                <a:solidFill>
                  <a:srgbClr val="F2F3F5"/>
                </a:solidFill>
                <a:latin typeface="Microsoft YaHei"/>
                <a:ea typeface="Microsoft YaHei"/>
              </a:rPr>
              <a:t> add </a:t>
            </a:r>
            <a:r>
              <a:rPr lang="zh-CN" sz="1500">
                <a:solidFill>
                  <a:srgbClr val="F2F3F5"/>
                </a:solidFill>
                <a:latin typeface="Microsoft YaHei"/>
                <a:ea typeface="Microsoft YaHei"/>
              </a:rPr>
              <a:t>根本没有机会出现</a:t>
            </a:r>
            <a:endParaRPr/>
          </a:p>
        </p:txBody>
      </p:sp>
      <p:sp>
        <p:nvSpPr>
          <p:cNvPr id="420" name="文本框 419" descr="{&quot;isTemplate&quot;:true,&quot;type&quot;:&quot;text&quot;}"/>
          <p:cNvSpPr txBox="1"/>
          <p:nvPr/>
        </p:nvSpPr>
        <p:spPr>
          <a:xfrm>
            <a:off x="7915275" y="4581525"/>
            <a:ext cx="2371725" cy="742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CH32 </a:t>
            </a: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上偏移表慢</a:t>
            </a: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 14%</a:t>
            </a: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70000"/>
              </a:lnSpc>
            </a:pP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M7 </a:t>
            </a: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高档只差</a:t>
            </a: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 0.05%</a:t>
            </a: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21" name="矩形: 圆角 420"/>
          <p:cNvSpPr/>
          <p:nvPr/>
        </p:nvSpPr>
        <p:spPr>
          <a:xfrm>
            <a:off x="838200" y="1762125"/>
            <a:ext cx="3200400" cy="923925"/>
          </a:xfrm>
          <a:prstGeom prst="roundRect">
            <a:avLst>
              <a:gd name="adj" fmla="val 8247"/>
            </a:avLst>
          </a:prstGeom>
          <a:solidFill>
            <a:srgbClr val="2B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2" name="文本框 421"/>
          <p:cNvSpPr txBox="1"/>
          <p:nvPr/>
        </p:nvSpPr>
        <p:spPr>
          <a:xfrm>
            <a:off x="990600" y="1895475"/>
            <a:ext cx="28956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sz="1425">
                <a:solidFill>
                  <a:srgbClr val="E5E7EB"/>
                </a:solidFill>
                <a:latin typeface="Menlo"/>
                <a:ea typeface="Menlo"/>
              </a:rPr>
              <a:t>LDR.W   R12,[R1],#4
LDRB.W  LR,[R12]
ADD     R7,R7,LR</a:t>
            </a:r>
            <a:endParaRPr/>
          </a:p>
        </p:txBody>
      </p:sp>
      <p:sp>
        <p:nvSpPr>
          <p:cNvPr id="423" name="矩形: 圆角 422"/>
          <p:cNvSpPr/>
          <p:nvPr/>
        </p:nvSpPr>
        <p:spPr>
          <a:xfrm>
            <a:off x="4495800" y="1762125"/>
            <a:ext cx="3200400" cy="923925"/>
          </a:xfrm>
          <a:prstGeom prst="roundRect">
            <a:avLst>
              <a:gd name="adj" fmla="val 8247"/>
            </a:avLst>
          </a:prstGeom>
          <a:solidFill>
            <a:srgbClr val="2B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4" name="文本框 423"/>
          <p:cNvSpPr txBox="1"/>
          <p:nvPr/>
        </p:nvSpPr>
        <p:spPr>
          <a:xfrm>
            <a:off x="4648200" y="1895475"/>
            <a:ext cx="28956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sz="1425" dirty="0">
                <a:solidFill>
                  <a:srgbClr val="E5E7EB"/>
                </a:solidFill>
                <a:latin typeface="Menlo"/>
                <a:ea typeface="Menlo"/>
              </a:rPr>
              <a:t>LDRSH.W R7,[R5],#2
LDRB.W  R12,[R3,R7]
ADD     R6,R6,R12</a:t>
            </a:r>
            <a:endParaRPr dirty="0"/>
          </a:p>
        </p:txBody>
      </p:sp>
      <p:sp>
        <p:nvSpPr>
          <p:cNvPr id="425" name="矩形: 圆角 424"/>
          <p:cNvSpPr/>
          <p:nvPr/>
        </p:nvSpPr>
        <p:spPr>
          <a:xfrm>
            <a:off x="8153400" y="1762125"/>
            <a:ext cx="3200400" cy="923925"/>
          </a:xfrm>
          <a:prstGeom prst="roundRect">
            <a:avLst>
              <a:gd name="adj" fmla="val 8247"/>
            </a:avLst>
          </a:prstGeom>
          <a:solidFill>
            <a:srgbClr val="2B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6" name="文本框 425"/>
          <p:cNvSpPr txBox="1"/>
          <p:nvPr/>
        </p:nvSpPr>
        <p:spPr>
          <a:xfrm>
            <a:off x="8305800" y="1895475"/>
            <a:ext cx="28956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sz="1425">
                <a:solidFill>
                  <a:srgbClr val="E5E7EB"/>
                </a:solidFill>
                <a:latin typeface="Menlo"/>
                <a:ea typeface="Menlo"/>
              </a:rPr>
              <a:t>LDRB.W  R5,[R3],#1
LDRB.W  R10,[R2,R5]
ADD     R8,R8,R10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const bg = '#1F232A';&#10;const or = '#FF6A13';&#10;const or2 = '#FF8F4D';&#10;const or3 = '#FFB27A';&#10;const txt = '#F2F3F5';&#10;const body = '#C9CED6';&#10;const muted = '#9AA1AC';&#10;const rule = '#3A404A';&#10;const panel = '#272C34';&#10;&#10;&lt;Slide style={{ width: 1280, height: 720, display: 'flex', flexDirection: 'column', background: bg, padding: 0 }}&gt;&#10;&#10;    &lt;Image src=&quot;assets/bg-ch2.png&quot; style={{ position: 'absolute', left: 0, top: 0, width: 1280, height: 720, zIndex: 0 }} /&gt;&#10;&#10;    &lt;Box style={{ position: 'relative', zIndex: 1, flex: 1, display: 'flex', padding: '0 88px', flexDirection: 'column' }}&gt;&#10;&#10;    &lt;Box style={{ display: 'flex', flexDirection: 'row', justifyContent: 'space-between', alignItems: 'flex-end', marginTop: 50 }}&gt;&#10;        &lt;Text style={{ fontSize: 44, fontWeight: 700, color: txt }}&gt;CH32V307：三种表各花多少时间&lt;/Text&gt;&#10;        &lt;Text style={{ fontSize: 20, color: muted, marginBottom: 8 }}&gt;RV32IMAC / 120 MHz / 整幅 22560 像素&lt;/Text&gt;&#10;    &lt;/Box&gt;&#10;&#10;    &lt;Box style={{ marginTop: 20, width: '100%', height: 1, background: rule, display: 'flex', flexDirection: 'row' }}&gt;&#10;        &lt;Box style={{ width: 140, height: 1, background: or }} /&gt;&#10;    &lt;/Box&gt;&#10;&#10;    &lt;Box style={{ display: 'flex', flexDirection: 'row', flex: 1, alignItems: 'center' }}&gt;&#10;&#10;        &lt;Box style={{ display: 'flex', flexDirection: 'column', width: 680 }}&gt;&#10;            &lt;Image src=&quot;assets/chart-ch32h.png&quot; style={{ width: 680, height: 379 }} /&gt;&#10;        &lt;/Box&gt;&#10;&#10;        &lt;Box style={{ display: 'flex', flexDirection: 'column', flex: 1, marginLeft: 38 }}&gt;&#10;&#10;            &lt;Text style={{ fontSize: 22, color: body, lineHeight: 1.9 }}&gt;&#10;                -O0 下 U8 最快，4.36 ms，&#10;                &lt;br /&gt;&#10;                比指针表少 7.8%。&#10;            &lt;/Text&gt;&#10;&#10;            &lt;Text style={{ fontSize: 22, color: body, lineHeight: 1.9, marginTop: 18 }}&gt;&#10;                -O2 下排名反过来，&#10;                &lt;br /&gt;&#10;                指针表 1.32 ms 最快。&#10;            &lt;/Text&gt;&#10;&#10;            &lt;Text style={{ fontSize: 22, color: body, lineHeight: 1.9, marginTop: 20 }}&gt;&#10;                换表最多动一成，优化等级&#10;                &lt;br /&gt;&#10;                一换就是三点六倍。编译器怎么&#10;                &lt;br /&gt;&#10;                摆寄存器，比表怎么存更值钱。&#10;            &lt;/Text&gt;&#10;&#10;            &lt;Box style={{ width: 52, height: 3, background: or, marginTop: 20, marginBottom: 16 }} /&gt;&#10;&#10;            &lt;Text style={{ fontSize: 21, color: or2, lineHeight: 1.75 }}&gt;&#10;                优化等级先钉住，再谈表。&#10;            &lt;/Text&gt;&#10;&#10;        &lt;/Box&gt;&#10;&#10;    &lt;/Box&gt;&#10;&#10;    &lt;/Box&gt;&#10;&#10;    &lt;Text style={{ position: 'absolute', left: 1158, top: 674, fontSize: 20, color: '#6C737E', zIndex: 2 }}&gt;27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矩形 4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30" name="图片 4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838200" y="476250"/>
            <a:ext cx="6410325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CH32V307</a:t>
            </a:r>
            <a:r>
              <a:rPr 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：时间</a:t>
            </a: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测试</a:t>
            </a:r>
            <a:endParaRPr dirty="0"/>
          </a:p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7734300" y="676275"/>
            <a:ext cx="3619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9AA1AC"/>
                </a:solidFill>
                <a:latin typeface="Microsoft YaHei"/>
                <a:ea typeface="Microsoft YaHei"/>
              </a:rPr>
              <a:t>RV32IMAC / 120 MHz</a:t>
            </a:r>
            <a:endParaRPr dirty="0"/>
          </a:p>
        </p:txBody>
      </p:sp>
      <p:sp>
        <p:nvSpPr>
          <p:cNvPr id="433" name="矩形 432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4" name="矩形 433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7677150" y="1762125"/>
            <a:ext cx="3676650" cy="962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90000"/>
              </a:lnSpc>
            </a:pPr>
            <a:r>
              <a:rPr 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-U8</a:t>
            </a:r>
            <a:r>
              <a:rPr lang="zh-CN" alt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快推测为顺序存取导致的误差</a:t>
            </a:r>
            <a:br>
              <a:rPr lang="en-US" altLang="zh-CN" sz="1650" dirty="0">
                <a:solidFill>
                  <a:srgbClr val="C9CED6"/>
                </a:solidFill>
                <a:latin typeface="Microsoft YaHei"/>
                <a:ea typeface="Microsoft YaHei"/>
              </a:rPr>
            </a:br>
            <a:r>
              <a:rPr lang="zh-CN" alt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（主要是懒得做随机存取）</a:t>
            </a:r>
            <a:endParaRPr dirty="0"/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7677150" y="2895600"/>
            <a:ext cx="3676650" cy="962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90000"/>
              </a:lnSpc>
            </a:pPr>
            <a:r>
              <a:rPr 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-</a:t>
            </a:r>
            <a:r>
              <a:rPr lang="zh-CN" alt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整体而言，时间上：</a:t>
            </a:r>
            <a:br>
              <a:rPr lang="en-US" altLang="zh-CN" sz="1650" dirty="0">
                <a:solidFill>
                  <a:srgbClr val="C9CED6"/>
                </a:solidFill>
                <a:latin typeface="Microsoft YaHei"/>
                <a:ea typeface="Microsoft YaHei"/>
              </a:rPr>
            </a:br>
            <a:r>
              <a:rPr lang="zh-CN" alt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指针表</a:t>
            </a:r>
            <a:r>
              <a:rPr lang="en-US" altLang="zh-CN" sz="1650" dirty="0">
                <a:solidFill>
                  <a:srgbClr val="C9CED6"/>
                </a:solidFill>
                <a:latin typeface="Microsoft YaHei"/>
                <a:ea typeface="Microsoft YaHei"/>
              </a:rPr>
              <a:t>&lt;uint8</a:t>
            </a:r>
            <a:r>
              <a:rPr lang="zh-CN" alt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表</a:t>
            </a:r>
            <a:r>
              <a:rPr lang="en-US" altLang="zh-CN" sz="1650" dirty="0">
                <a:solidFill>
                  <a:srgbClr val="C9CED6"/>
                </a:solidFill>
                <a:latin typeface="Microsoft YaHei"/>
                <a:ea typeface="Microsoft YaHei"/>
              </a:rPr>
              <a:t>&lt;</a:t>
            </a:r>
            <a:r>
              <a:rPr lang="zh-CN" alt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偏移表</a:t>
            </a:r>
            <a:endParaRPr dirty="0"/>
          </a:p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7677150" y="4048125"/>
            <a:ext cx="3676650" cy="1438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90000"/>
              </a:lnSpc>
            </a:pPr>
            <a:r>
              <a:rPr lang="zh-CN" alt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性能</a:t>
            </a:r>
            <a:r>
              <a:rPr lang="en-US" altLang="zh-CN" sz="1650" dirty="0">
                <a:solidFill>
                  <a:srgbClr val="C9CED6"/>
                </a:solidFill>
                <a:latin typeface="Microsoft YaHei"/>
                <a:ea typeface="Microsoft YaHei"/>
              </a:rPr>
              <a:t>10%~14%</a:t>
            </a:r>
            <a:r>
              <a:rPr lang="zh-CN" alt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的损失能够换来</a:t>
            </a:r>
            <a:br>
              <a:rPr lang="en-US" altLang="zh-CN" sz="1650" dirty="0">
                <a:solidFill>
                  <a:srgbClr val="C9CED6"/>
                </a:solidFill>
                <a:latin typeface="Microsoft YaHei"/>
                <a:ea typeface="Microsoft YaHei"/>
              </a:rPr>
            </a:br>
            <a:r>
              <a:rPr lang="en-US" altLang="zh-CN" sz="1650" dirty="0">
                <a:solidFill>
                  <a:srgbClr val="C9CED6"/>
                </a:solidFill>
                <a:latin typeface="Microsoft YaHei"/>
                <a:ea typeface="Microsoft YaHei"/>
              </a:rPr>
              <a:t>44~66KB</a:t>
            </a:r>
            <a:r>
              <a:rPr lang="zh-CN" alt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的空间，个人认为比较值</a:t>
            </a:r>
            <a:endParaRPr dirty="0"/>
          </a:p>
        </p:txBody>
      </p:sp>
      <p:sp>
        <p:nvSpPr>
          <p:cNvPr id="439" name="矩形 438"/>
          <p:cNvSpPr/>
          <p:nvPr/>
        </p:nvSpPr>
        <p:spPr>
          <a:xfrm>
            <a:off x="7677150" y="5676900"/>
            <a:ext cx="495300" cy="2857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F6242AC-6548-96BB-003D-1EDD2AFAE5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" r="18"/>
          <a:stretch>
            <a:fillRect/>
          </a:stretch>
        </p:blipFill>
        <p:spPr>
          <a:xfrm>
            <a:off x="838200" y="2066925"/>
            <a:ext cx="6477000" cy="3609975"/>
          </a:xfrm>
          <a:prstGeom prst="rect">
            <a:avLst/>
          </a:prstGeom>
          <a:ln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5" name="图片 1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838200" y="476250"/>
            <a:ext cx="6238875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CYT4BB7</a:t>
            </a: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：时间测试</a:t>
            </a:r>
            <a:endParaRPr dirty="0"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8248650" y="676275"/>
            <a:ext cx="31051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>
                <a:solidFill>
                  <a:srgbClr val="9AA1AC"/>
                </a:solidFill>
                <a:latin typeface="Microsoft YaHei"/>
                <a:ea typeface="Microsoft YaHei"/>
              </a:rPr>
              <a:t>Cortex-M7 / 250 MHz / IAR 9.40.1</a:t>
            </a:r>
            <a:endParaRPr/>
          </a:p>
        </p:txBody>
      </p:sp>
      <p:sp>
        <p:nvSpPr>
          <p:cNvPr id="138" name="矩形 137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9" name="矩形 138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7829550" y="1810567"/>
            <a:ext cx="3524250" cy="1428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0000"/>
              </a:lnSpc>
            </a:pPr>
            <a:r>
              <a:rPr 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高中低三档里，中档最慢，三个模式全都这样</a:t>
            </a:r>
            <a:r>
              <a:rPr lang="zh-CN" alt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，很诡异你们知道吗</a:t>
            </a:r>
            <a:endParaRPr dirty="0"/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7829550" y="3267075"/>
            <a:ext cx="3524250" cy="1428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0000"/>
              </a:lnSpc>
            </a:pPr>
            <a:r>
              <a:rPr lang="zh-CN" alt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整体上与</a:t>
            </a:r>
            <a:r>
              <a:rPr lang="en-US" altLang="zh-CN" sz="1725" dirty="0">
                <a:solidFill>
                  <a:srgbClr val="C9CED6"/>
                </a:solidFill>
                <a:latin typeface="Microsoft YaHei"/>
                <a:ea typeface="Microsoft YaHei"/>
              </a:rPr>
              <a:t>CH32</a:t>
            </a:r>
            <a:r>
              <a:rPr lang="zh-CN" alt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差不多，</a:t>
            </a:r>
            <a:r>
              <a:rPr lang="zh-CN" altLang="en-US" sz="1725" strike="sngStrike" dirty="0">
                <a:solidFill>
                  <a:srgbClr val="C9CED6"/>
                </a:solidFill>
                <a:latin typeface="Microsoft YaHei"/>
                <a:ea typeface="Microsoft YaHei"/>
              </a:rPr>
              <a:t>毕竟都是</a:t>
            </a:r>
            <a:r>
              <a:rPr lang="en-US" altLang="zh-CN" sz="1725" strike="sngStrike" dirty="0">
                <a:solidFill>
                  <a:srgbClr val="C9CED6"/>
                </a:solidFill>
                <a:latin typeface="Microsoft YaHei"/>
                <a:ea typeface="Microsoft YaHei"/>
              </a:rPr>
              <a:t>C</a:t>
            </a:r>
            <a:r>
              <a:rPr lang="zh-CN" altLang="en-US" sz="1725" strike="sngStrike" dirty="0">
                <a:solidFill>
                  <a:srgbClr val="C9CED6"/>
                </a:solidFill>
                <a:latin typeface="Microsoft YaHei"/>
                <a:ea typeface="Microsoft YaHei"/>
              </a:rPr>
              <a:t>语言</a:t>
            </a:r>
            <a:r>
              <a:rPr lang="zh-CN" altLang="en-US" sz="1725" dirty="0">
                <a:solidFill>
                  <a:srgbClr val="C9CED6"/>
                </a:solidFill>
                <a:latin typeface="Microsoft YaHei"/>
                <a:ea typeface="Microsoft YaHei"/>
              </a:rPr>
              <a:t>。</a:t>
            </a:r>
            <a:endParaRPr dirty="0"/>
          </a:p>
        </p:txBody>
      </p:sp>
      <p:sp>
        <p:nvSpPr>
          <p:cNvPr id="143" name="矩形 142"/>
          <p:cNvSpPr/>
          <p:nvPr/>
        </p:nvSpPr>
        <p:spPr>
          <a:xfrm>
            <a:off x="7829550" y="4905375"/>
            <a:ext cx="533400" cy="2857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7829550" y="2792523"/>
            <a:ext cx="35242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425" dirty="0">
                <a:solidFill>
                  <a:srgbClr val="9AA1AC"/>
                </a:solidFill>
                <a:latin typeface="Microsoft YaHei"/>
                <a:ea typeface="Microsoft YaHei"/>
              </a:rPr>
              <a:t>评价为编译器和</a:t>
            </a:r>
            <a:r>
              <a:rPr lang="en-US" altLang="zh-CN" sz="1425" dirty="0">
                <a:solidFill>
                  <a:srgbClr val="9AA1AC"/>
                </a:solidFill>
                <a:latin typeface="Microsoft YaHei"/>
                <a:ea typeface="Microsoft YaHei"/>
              </a:rPr>
              <a:t>IAR</a:t>
            </a:r>
            <a:r>
              <a:rPr lang="zh-CN" altLang="en-US" sz="1425" dirty="0">
                <a:solidFill>
                  <a:srgbClr val="9AA1AC"/>
                </a:solidFill>
                <a:latin typeface="Microsoft YaHei"/>
                <a:ea typeface="Microsoft YaHei"/>
              </a:rPr>
              <a:t>神秘配置发力了</a:t>
            </a:r>
            <a:endParaRPr dirty="0"/>
          </a:p>
        </p:txBody>
      </p:sp>
      <p:pic>
        <p:nvPicPr>
          <p:cNvPr id="3" name="图片 2" descr="日程表&#10;&#10;AI 生成的内容可能不正确。">
            <a:extLst>
              <a:ext uri="{FF2B5EF4-FFF2-40B4-BE49-F238E27FC236}">
                <a16:creationId xmlns:a16="http://schemas.microsoft.com/office/drawing/2014/main" id="{1B92C49F-1D11-E560-4442-DB6F413BCF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3" y="1492028"/>
            <a:ext cx="7528404" cy="41943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43" name="图片 3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2F3F5"/>
                </a:solidFill>
                <a:latin typeface="Microsoft YaHei"/>
                <a:ea typeface="Microsoft YaHei"/>
              </a:rPr>
              <a:t>三条路的选型</a:t>
            </a:r>
            <a:endParaRPr/>
          </a:p>
        </p:txBody>
      </p:sp>
      <p:sp>
        <p:nvSpPr>
          <p:cNvPr id="345" name="矩形 344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6" name="矩形 345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838200" y="1695450"/>
            <a:ext cx="2000250" cy="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2838450" y="1562100"/>
            <a:ext cx="2838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6A13"/>
                </a:solidFill>
                <a:latin typeface="Microsoft YaHei"/>
                <a:ea typeface="Microsoft YaHei"/>
              </a:rPr>
              <a:t>指针表</a:t>
            </a:r>
            <a:endParaRPr/>
          </a:p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5676900" y="1562100"/>
            <a:ext cx="2838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8F4D"/>
                </a:solidFill>
                <a:latin typeface="Microsoft YaHei"/>
                <a:ea typeface="Microsoft YaHei"/>
              </a:rPr>
              <a:t>偏移表</a:t>
            </a:r>
            <a:endParaRPr/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8515350" y="1562100"/>
            <a:ext cx="2838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B27A"/>
                </a:solidFill>
                <a:latin typeface="Microsoft YaHei"/>
                <a:ea typeface="Microsoft YaHei"/>
              </a:rPr>
              <a:t>U8 </a:t>
            </a:r>
            <a:r>
              <a:rPr lang="zh-CN" sz="1800" b="1" dirty="0">
                <a:solidFill>
                  <a:srgbClr val="FFB27A"/>
                </a:solidFill>
                <a:latin typeface="Microsoft YaHei"/>
                <a:ea typeface="Microsoft YaHei"/>
              </a:rPr>
              <a:t>表</a:t>
            </a:r>
            <a:endParaRPr dirty="0"/>
          </a:p>
        </p:txBody>
      </p:sp>
      <p:sp>
        <p:nvSpPr>
          <p:cNvPr id="351" name="矩形 350"/>
          <p:cNvSpPr/>
          <p:nvPr/>
        </p:nvSpPr>
        <p:spPr>
          <a:xfrm>
            <a:off x="838200" y="1962150"/>
            <a:ext cx="10515600" cy="1905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838200" y="2124075"/>
            <a:ext cx="2000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>
                <a:solidFill>
                  <a:srgbClr val="9AA1AC"/>
                </a:solidFill>
                <a:latin typeface="Microsoft YaHei"/>
                <a:ea typeface="Microsoft YaHei"/>
              </a:rPr>
              <a:t>表</a:t>
            </a:r>
            <a:endParaRPr/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2838450" y="2124075"/>
            <a:ext cx="2838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88.1 KB</a:t>
            </a:r>
            <a:endParaRPr/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5676900" y="2124075"/>
            <a:ext cx="2838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44.1 KB</a:t>
            </a:r>
            <a:endParaRPr/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8515350" y="2124075"/>
            <a:ext cx="2838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22.6 KB</a:t>
            </a:r>
            <a:endParaRPr/>
          </a:p>
        </p:txBody>
      </p:sp>
      <p:sp>
        <p:nvSpPr>
          <p:cNvPr id="356" name="矩形 355"/>
          <p:cNvSpPr/>
          <p:nvPr/>
        </p:nvSpPr>
        <p:spPr>
          <a:xfrm>
            <a:off x="838200" y="2514600"/>
            <a:ext cx="10515600" cy="9525"/>
          </a:xfrm>
          <a:prstGeom prst="rect">
            <a:avLst/>
          </a:prstGeom>
          <a:solidFill>
            <a:srgbClr val="3136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838200" y="2667000"/>
            <a:ext cx="2000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>
                <a:solidFill>
                  <a:srgbClr val="9AA1AC"/>
                </a:solidFill>
                <a:latin typeface="Microsoft YaHei"/>
                <a:ea typeface="Microsoft YaHei"/>
              </a:rPr>
              <a:t>单缓冲</a:t>
            </a:r>
            <a:endParaRPr/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2838450" y="2667000"/>
            <a:ext cx="2838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113.6 KB</a:t>
            </a:r>
            <a:r>
              <a:rPr lang="zh-CN" sz="1575">
                <a:solidFill>
                  <a:srgbClr val="F2F3F5"/>
                </a:solidFill>
                <a:latin typeface="Microsoft YaHei"/>
                <a:ea typeface="Microsoft YaHei"/>
              </a:rPr>
              <a:t>　</a:t>
            </a: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89.4%</a:t>
            </a:r>
            <a:endParaRPr/>
          </a:p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5676900" y="2667000"/>
            <a:ext cx="2838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69.5 KB</a:t>
            </a:r>
            <a:r>
              <a:rPr lang="zh-CN" sz="1575">
                <a:solidFill>
                  <a:srgbClr val="F2F3F5"/>
                </a:solidFill>
                <a:latin typeface="Microsoft YaHei"/>
                <a:ea typeface="Microsoft YaHei"/>
              </a:rPr>
              <a:t>　</a:t>
            </a: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54.7%</a:t>
            </a:r>
            <a:endParaRPr/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8515350" y="2667000"/>
            <a:ext cx="2838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48.1 KB</a:t>
            </a:r>
            <a:r>
              <a:rPr lang="zh-CN" sz="1575">
                <a:solidFill>
                  <a:srgbClr val="F2F3F5"/>
                </a:solidFill>
                <a:latin typeface="Microsoft YaHei"/>
                <a:ea typeface="Microsoft YaHei"/>
              </a:rPr>
              <a:t>　</a:t>
            </a: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37.8%</a:t>
            </a:r>
            <a:endParaRPr/>
          </a:p>
        </p:txBody>
      </p:sp>
      <p:sp>
        <p:nvSpPr>
          <p:cNvPr id="361" name="矩形 360"/>
          <p:cNvSpPr/>
          <p:nvPr/>
        </p:nvSpPr>
        <p:spPr>
          <a:xfrm>
            <a:off x="838200" y="3057525"/>
            <a:ext cx="10515600" cy="9525"/>
          </a:xfrm>
          <a:prstGeom prst="rect">
            <a:avLst/>
          </a:prstGeom>
          <a:solidFill>
            <a:srgbClr val="3136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838200" y="3209925"/>
            <a:ext cx="2000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9AA1AC"/>
                </a:solidFill>
                <a:latin typeface="Microsoft YaHei"/>
                <a:ea typeface="Microsoft YaHei"/>
              </a:rPr>
              <a:t>-O0</a:t>
            </a:r>
            <a:endParaRPr/>
          </a:p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2838450" y="3209925"/>
            <a:ext cx="2838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4.73 ms</a:t>
            </a:r>
            <a:endParaRPr/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5676900" y="3209925"/>
            <a:ext cx="2838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5.45 ms</a:t>
            </a:r>
            <a:endParaRPr/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8515350" y="3209925"/>
            <a:ext cx="2838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4.36 ms</a:t>
            </a:r>
            <a:endParaRPr/>
          </a:p>
        </p:txBody>
      </p:sp>
      <p:sp>
        <p:nvSpPr>
          <p:cNvPr id="371" name="矩形 370"/>
          <p:cNvSpPr/>
          <p:nvPr/>
        </p:nvSpPr>
        <p:spPr>
          <a:xfrm>
            <a:off x="838200" y="3600450"/>
            <a:ext cx="10515600" cy="9525"/>
          </a:xfrm>
          <a:prstGeom prst="rect">
            <a:avLst/>
          </a:prstGeom>
          <a:solidFill>
            <a:srgbClr val="3136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838200" y="3752850"/>
            <a:ext cx="2000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9AA1AC"/>
                </a:solidFill>
                <a:latin typeface="Microsoft YaHei"/>
                <a:ea typeface="Microsoft YaHei"/>
              </a:rPr>
              <a:t>-O2</a:t>
            </a:r>
            <a:endParaRPr/>
          </a:p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2838450" y="3752850"/>
            <a:ext cx="2838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1.32 ms</a:t>
            </a:r>
            <a:endParaRPr/>
          </a:p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5676900" y="3752850"/>
            <a:ext cx="2838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F2F3F5"/>
                </a:solidFill>
                <a:latin typeface="Microsoft YaHei"/>
                <a:ea typeface="Microsoft YaHei"/>
              </a:rPr>
              <a:t>1.50 ms</a:t>
            </a:r>
            <a:endParaRPr/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8515350" y="3752850"/>
            <a:ext cx="2838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dirty="0">
                <a:solidFill>
                  <a:srgbClr val="F2F3F5"/>
                </a:solidFill>
                <a:latin typeface="Microsoft YaHei"/>
                <a:ea typeface="Microsoft YaHei"/>
              </a:rPr>
              <a:t>1.45 </a:t>
            </a:r>
            <a:r>
              <a:rPr lang="en-US" sz="1575" dirty="0" err="1">
                <a:solidFill>
                  <a:srgbClr val="F2F3F5"/>
                </a:solidFill>
                <a:latin typeface="Microsoft YaHei"/>
                <a:ea typeface="Microsoft YaHei"/>
              </a:rPr>
              <a:t>ms</a:t>
            </a:r>
            <a:endParaRPr dirty="0"/>
          </a:p>
        </p:txBody>
      </p:sp>
      <p:sp>
        <p:nvSpPr>
          <p:cNvPr id="376" name="矩形 375"/>
          <p:cNvSpPr/>
          <p:nvPr/>
        </p:nvSpPr>
        <p:spPr>
          <a:xfrm>
            <a:off x="838200" y="4143375"/>
            <a:ext cx="10515600" cy="9525"/>
          </a:xfrm>
          <a:prstGeom prst="rect">
            <a:avLst/>
          </a:prstGeom>
          <a:solidFill>
            <a:srgbClr val="3136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838200" y="4391025"/>
            <a:ext cx="2000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575" dirty="0">
                <a:solidFill>
                  <a:srgbClr val="9AA1AC"/>
                </a:solidFill>
                <a:latin typeface="Microsoft YaHei"/>
                <a:ea typeface="Microsoft YaHei"/>
              </a:rPr>
              <a:t>推荐用途</a:t>
            </a:r>
            <a:endParaRPr dirty="0"/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2838450" y="4391025"/>
            <a:ext cx="2838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不缺内存（</a:t>
            </a:r>
            <a:r>
              <a:rPr lang="en-US" altLang="zh-CN" sz="1575" dirty="0">
                <a:solidFill>
                  <a:srgbClr val="C9CED6"/>
                </a:solidFill>
                <a:latin typeface="Microsoft YaHei"/>
                <a:ea typeface="Microsoft YaHei"/>
              </a:rPr>
              <a:t>SRAM</a:t>
            </a:r>
            <a:r>
              <a:rPr lang="zh-CN" alt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）</a:t>
            </a:r>
            <a:endParaRPr dirty="0"/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5676900" y="4276725"/>
            <a:ext cx="28384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sz="1575" dirty="0">
                <a:solidFill>
                  <a:srgbClr val="C9CED6"/>
                </a:solidFill>
                <a:latin typeface="Microsoft YaHei"/>
                <a:ea typeface="Microsoft YaHei"/>
              </a:rPr>
              <a:t>缺内存，又保证不了</a:t>
            </a:r>
            <a:r>
              <a:rPr 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 h10=h20=0</a:t>
            </a:r>
            <a:r>
              <a:rPr lang="zh-CN" alt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（需要去畸变）</a:t>
            </a:r>
            <a:endParaRPr dirty="0"/>
          </a:p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8515350" y="4391025"/>
            <a:ext cx="2838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非常缺内存，但是不用去畸变</a:t>
            </a:r>
            <a:br>
              <a:rPr lang="en-US" altLang="zh-CN" sz="1575" dirty="0">
                <a:solidFill>
                  <a:srgbClr val="C9CED6"/>
                </a:solidFill>
                <a:latin typeface="Microsoft YaHei"/>
                <a:ea typeface="Microsoft YaHei"/>
              </a:rPr>
            </a:br>
            <a:r>
              <a:rPr lang="zh-CN" altLang="en-US" sz="1575" dirty="0">
                <a:solidFill>
                  <a:srgbClr val="C9CED6"/>
                </a:solidFill>
                <a:latin typeface="Microsoft YaHei"/>
                <a:ea typeface="Microsoft YaHei"/>
              </a:rPr>
              <a:t>扫线法可能比指针表更快</a:t>
            </a:r>
            <a:endParaRPr dirty="0"/>
          </a:p>
        </p:txBody>
      </p:sp>
      <p:sp>
        <p:nvSpPr>
          <p:cNvPr id="381" name="矩形 380"/>
          <p:cNvSpPr/>
          <p:nvPr/>
        </p:nvSpPr>
        <p:spPr>
          <a:xfrm>
            <a:off x="838200" y="4876800"/>
            <a:ext cx="10515600" cy="9525"/>
          </a:xfrm>
          <a:prstGeom prst="rect">
            <a:avLst/>
          </a:prstGeom>
          <a:solidFill>
            <a:srgbClr val="3136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2" name="矩形 381"/>
          <p:cNvSpPr/>
          <p:nvPr/>
        </p:nvSpPr>
        <p:spPr>
          <a:xfrm>
            <a:off x="838200" y="5638800"/>
            <a:ext cx="76200" cy="43815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1123950" y="5724525"/>
            <a:ext cx="77152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>
                <a:solidFill>
                  <a:srgbClr val="C9CED6"/>
                </a:solidFill>
                <a:latin typeface="Microsoft YaHei"/>
                <a:ea typeface="Microsoft YaHei"/>
              </a:rPr>
              <a:t>换平台先把优化等级钉住，再选模式。</a:t>
            </a:r>
            <a:r>
              <a:rPr lang="en-US" sz="1800">
                <a:solidFill>
                  <a:srgbClr val="C9CED6"/>
                </a:solidFill>
                <a:latin typeface="Microsoft YaHei"/>
                <a:ea typeface="Microsoft YaHei"/>
              </a:rPr>
              <a:t>4BB7 </a:t>
            </a:r>
            <a:r>
              <a:rPr lang="zh-CN" sz="1800">
                <a:solidFill>
                  <a:srgbClr val="C9CED6"/>
                </a:solidFill>
                <a:latin typeface="Microsoft YaHei"/>
                <a:ea typeface="Microsoft YaHei"/>
              </a:rPr>
              <a:t>上三个模式的排名随等级重排。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矩形 38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87" name="图片 3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2F3F5"/>
                </a:solidFill>
                <a:latin typeface="Microsoft YaHei"/>
                <a:ea typeface="Microsoft YaHei"/>
              </a:rPr>
              <a:t>开源与致谢</a:t>
            </a:r>
            <a:endParaRPr/>
          </a:p>
        </p:txBody>
      </p:sp>
      <p:sp>
        <p:nvSpPr>
          <p:cNvPr id="389" name="矩形 388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0" name="矩形 389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838200" y="1971675"/>
            <a:ext cx="12382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000">
                <a:solidFill>
                  <a:srgbClr val="9AA1AC"/>
                </a:solidFill>
                <a:latin typeface="Microsoft YaHei"/>
                <a:ea typeface="Microsoft YaHei"/>
              </a:rPr>
              <a:t>原始实现</a:t>
            </a:r>
            <a:endParaRPr sz="2000"/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2076450" y="1971675"/>
            <a:ext cx="58483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9CED6"/>
                </a:solidFill>
                <a:latin typeface="Consolas"/>
                <a:ea typeface="Consolas"/>
              </a:rPr>
              <a:t>github.com/</a:t>
            </a:r>
            <a:r>
              <a:rPr lang="en-US" sz="2000" dirty="0" err="1">
                <a:solidFill>
                  <a:srgbClr val="C9CED6"/>
                </a:solidFill>
                <a:latin typeface="Consolas"/>
                <a:ea typeface="Consolas"/>
              </a:rPr>
              <a:t>losehu</a:t>
            </a:r>
            <a:r>
              <a:rPr lang="en-US" sz="2000" dirty="0">
                <a:solidFill>
                  <a:srgbClr val="C9CED6"/>
                </a:solidFill>
                <a:latin typeface="Consolas"/>
                <a:ea typeface="Consolas"/>
              </a:rPr>
              <a:t>/RUBO-UDIPM</a:t>
            </a:r>
            <a:endParaRPr sz="2000" dirty="0"/>
          </a:p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838200" y="2486025"/>
            <a:ext cx="12382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000">
                <a:solidFill>
                  <a:srgbClr val="9AA1AC"/>
                </a:solidFill>
                <a:latin typeface="Microsoft YaHei"/>
                <a:ea typeface="Microsoft YaHei"/>
              </a:rPr>
              <a:t>思路讲解</a:t>
            </a:r>
            <a:endParaRPr sz="2000"/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2076450" y="2486025"/>
            <a:ext cx="58483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9CED6"/>
                </a:solidFill>
                <a:latin typeface="Consolas"/>
                <a:ea typeface="Consolas"/>
              </a:rPr>
              <a:t>https://blog.csdn.net/wu58430/article/details/126317900</a:t>
            </a:r>
            <a:endParaRPr sz="2000" dirty="0"/>
          </a:p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838200" y="3000375"/>
            <a:ext cx="1238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000" dirty="0">
                <a:solidFill>
                  <a:srgbClr val="9AA1AC"/>
                </a:solidFill>
                <a:latin typeface="Microsoft YaHei"/>
                <a:ea typeface="Microsoft YaHei"/>
              </a:rPr>
              <a:t>本组工程</a:t>
            </a:r>
            <a:endParaRPr sz="2000" dirty="0"/>
          </a:p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2076450" y="3000375"/>
            <a:ext cx="58483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Noto Sans SC"/>
                <a:ea typeface="Noto Sans SC"/>
              </a:rPr>
              <a:t>https://github.com/maomao23314/ipm-lut-compress-smart-car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400" name="矩形 399"/>
          <p:cNvSpPr/>
          <p:nvPr/>
        </p:nvSpPr>
        <p:spPr>
          <a:xfrm>
            <a:off x="838200" y="3543300"/>
            <a:ext cx="9525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401" name="文本框 400" descr="{&quot;isTemplate&quot;:true,&quot;type&quot;:&quot;text&quot;}"/>
          <p:cNvSpPr txBox="1"/>
          <p:nvPr/>
        </p:nvSpPr>
        <p:spPr>
          <a:xfrm>
            <a:off x="838200" y="3781424"/>
            <a:ext cx="7086600" cy="1581149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zh-CN" sz="2000" b="1" dirty="0">
                <a:solidFill>
                  <a:srgbClr val="9AA1AC"/>
                </a:solidFill>
                <a:latin typeface="Microsoft YaHei"/>
                <a:ea typeface="Microsoft YaHei"/>
              </a:rPr>
              <a:t>仅供学习交流</a:t>
            </a:r>
            <a:r>
              <a:rPr lang="zh-CN" sz="2000" dirty="0">
                <a:solidFill>
                  <a:srgbClr val="9AA1AC"/>
                </a:solidFill>
                <a:latin typeface="Microsoft YaHei"/>
                <a:ea typeface="Microsoft YaHei"/>
              </a:rPr>
              <a:t>。</a:t>
            </a:r>
            <a:br>
              <a:rPr lang="en-US" altLang="zh-CN" sz="2000" dirty="0">
                <a:solidFill>
                  <a:srgbClr val="9AA1AC"/>
                </a:solidFill>
                <a:latin typeface="Microsoft YaHei"/>
                <a:ea typeface="Microsoft YaHei"/>
              </a:rPr>
            </a:br>
            <a:r>
              <a:rPr lang="zh-CN" altLang="en-US" sz="2000" dirty="0">
                <a:solidFill>
                  <a:srgbClr val="9AA1AC"/>
                </a:solidFill>
                <a:latin typeface="Microsoft YaHei"/>
                <a:ea typeface="Microsoft YaHei"/>
              </a:rPr>
              <a:t>代码中的</a:t>
            </a:r>
            <a:r>
              <a:rPr lang="zh-CN" sz="2000" dirty="0">
                <a:solidFill>
                  <a:srgbClr val="9AA1AC"/>
                </a:solidFill>
                <a:latin typeface="Microsoft YaHei"/>
                <a:ea typeface="Microsoft YaHei"/>
              </a:rPr>
              <a:t>标定参数</a:t>
            </a:r>
            <a:r>
              <a:rPr lang="zh-CN" altLang="en-US" sz="2000" dirty="0">
                <a:solidFill>
                  <a:srgbClr val="9AA1AC"/>
                </a:solidFill>
                <a:latin typeface="Microsoft YaHei"/>
                <a:ea typeface="Microsoft YaHei"/>
              </a:rPr>
              <a:t>仅为示例，实际使用注意更换</a:t>
            </a:r>
            <a:br>
              <a:rPr lang="en-US" altLang="zh-CN" sz="2000" dirty="0">
                <a:solidFill>
                  <a:srgbClr val="9AA1AC"/>
                </a:solidFill>
                <a:latin typeface="Microsoft YaHei"/>
                <a:ea typeface="Microsoft YaHei"/>
              </a:rPr>
            </a:br>
            <a:r>
              <a:rPr lang="zh-CN" altLang="en-US" sz="2000" dirty="0">
                <a:solidFill>
                  <a:srgbClr val="9AA1AC"/>
                </a:solidFill>
                <a:latin typeface="Microsoft YaHei"/>
                <a:ea typeface="Microsoft YaHei"/>
              </a:rPr>
              <a:t>（应该都懂吧）</a:t>
            </a:r>
            <a:endParaRPr sz="2000" dirty="0"/>
          </a:p>
        </p:txBody>
      </p:sp>
      <p:pic>
        <p:nvPicPr>
          <p:cNvPr id="3" name="图片 2" descr="QR 代码&#10;&#10;AI 生成的内容可能不正确。">
            <a:extLst>
              <a:ext uri="{FF2B5EF4-FFF2-40B4-BE49-F238E27FC236}">
                <a16:creationId xmlns:a16="http://schemas.microsoft.com/office/drawing/2014/main" id="{002822A5-3746-D2C1-C012-C9D4501F3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925" y="3552825"/>
            <a:ext cx="2809875" cy="28098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4F6EF-697D-9243-2EA2-54C3ABBC4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图片 386">
            <a:extLst>
              <a:ext uri="{FF2B5EF4-FFF2-40B4-BE49-F238E27FC236}">
                <a16:creationId xmlns:a16="http://schemas.microsoft.com/office/drawing/2014/main" id="{9B1122C6-71A6-628E-B990-6A84FC91F0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12" name="图片 11" descr="图片包含 游戏机, 电路&#10;&#10;AI 生成的内容可能不正确。">
            <a:extLst>
              <a:ext uri="{FF2B5EF4-FFF2-40B4-BE49-F238E27FC236}">
                <a16:creationId xmlns:a16="http://schemas.microsoft.com/office/drawing/2014/main" id="{FA6BF71A-F774-2573-2CEA-1BD7D809EB8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68" t="31257" r="30503" b="28118"/>
          <a:stretch>
            <a:fillRect/>
          </a:stretch>
        </p:blipFill>
        <p:spPr>
          <a:xfrm>
            <a:off x="318176" y="527050"/>
            <a:ext cx="1536036" cy="2177293"/>
          </a:xfrm>
          <a:prstGeom prst="rect">
            <a:avLst/>
          </a:prstGeom>
        </p:spPr>
      </p:pic>
      <p:pic>
        <p:nvPicPr>
          <p:cNvPr id="14" name="图片 13" descr="电子器材&#10;&#10;AI 生成的内容可能不正确。">
            <a:extLst>
              <a:ext uri="{FF2B5EF4-FFF2-40B4-BE49-F238E27FC236}">
                <a16:creationId xmlns:a16="http://schemas.microsoft.com/office/drawing/2014/main" id="{53452E62-3967-0C5E-AFBF-B8736A54507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8" t="32315" r="32462" b="31944"/>
          <a:stretch>
            <a:fillRect/>
          </a:stretch>
        </p:blipFill>
        <p:spPr>
          <a:xfrm>
            <a:off x="2262197" y="527050"/>
            <a:ext cx="1569273" cy="2235200"/>
          </a:xfrm>
          <a:prstGeom prst="rect">
            <a:avLst/>
          </a:prstGeom>
        </p:spPr>
      </p:pic>
      <p:pic>
        <p:nvPicPr>
          <p:cNvPr id="16" name="图片 15" descr="电子器材&#10;&#10;AI 生成的内容可能不正确。">
            <a:extLst>
              <a:ext uri="{FF2B5EF4-FFF2-40B4-BE49-F238E27FC236}">
                <a16:creationId xmlns:a16="http://schemas.microsoft.com/office/drawing/2014/main" id="{E61AD4AC-0FCA-F22C-3943-C9E277801B6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56" t="32222" r="30116" b="28241"/>
          <a:stretch>
            <a:fillRect/>
          </a:stretch>
        </p:blipFill>
        <p:spPr>
          <a:xfrm>
            <a:off x="4239455" y="527050"/>
            <a:ext cx="1565164" cy="2235200"/>
          </a:xfrm>
          <a:prstGeom prst="rect">
            <a:avLst/>
          </a:prstGeom>
        </p:spPr>
      </p:pic>
      <p:pic>
        <p:nvPicPr>
          <p:cNvPr id="18" name="图片 17" descr="电子仪器被放在一起&#10;&#10;AI 生成的内容可能不正确。">
            <a:extLst>
              <a:ext uri="{FF2B5EF4-FFF2-40B4-BE49-F238E27FC236}">
                <a16:creationId xmlns:a16="http://schemas.microsoft.com/office/drawing/2014/main" id="{BAB3DE05-DECA-F6D5-DC18-D2929563394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68" t="32037" r="31091" b="28704"/>
          <a:stretch>
            <a:fillRect/>
          </a:stretch>
        </p:blipFill>
        <p:spPr>
          <a:xfrm>
            <a:off x="6212604" y="527050"/>
            <a:ext cx="1568628" cy="2223619"/>
          </a:xfrm>
          <a:prstGeom prst="rect">
            <a:avLst/>
          </a:prstGeom>
        </p:spPr>
      </p:pic>
      <p:pic>
        <p:nvPicPr>
          <p:cNvPr id="20" name="图片 19" descr="电子器材&#10;&#10;AI 生成的内容可能不正确。">
            <a:extLst>
              <a:ext uri="{FF2B5EF4-FFF2-40B4-BE49-F238E27FC236}">
                <a16:creationId xmlns:a16="http://schemas.microsoft.com/office/drawing/2014/main" id="{3E038D2E-729A-DD56-2DE4-6EDCC76990B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74" t="31944" r="32339" b="29722"/>
          <a:stretch>
            <a:fillRect/>
          </a:stretch>
        </p:blipFill>
        <p:spPr>
          <a:xfrm>
            <a:off x="8189217" y="527050"/>
            <a:ext cx="1581918" cy="2235200"/>
          </a:xfrm>
          <a:prstGeom prst="rect">
            <a:avLst/>
          </a:prstGeom>
        </p:spPr>
      </p:pic>
      <p:pic>
        <p:nvPicPr>
          <p:cNvPr id="22" name="图片 21" descr="电子器材&#10;&#10;AI 生成的内容可能不正确。">
            <a:extLst>
              <a:ext uri="{FF2B5EF4-FFF2-40B4-BE49-F238E27FC236}">
                <a16:creationId xmlns:a16="http://schemas.microsoft.com/office/drawing/2014/main" id="{563B05B0-7A25-267C-A5AC-FF1B352D19D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24" t="34630" r="31413" b="26944"/>
          <a:stretch>
            <a:fillRect/>
          </a:stretch>
        </p:blipFill>
        <p:spPr>
          <a:xfrm>
            <a:off x="10179122" y="527050"/>
            <a:ext cx="1572719" cy="2235200"/>
          </a:xfrm>
          <a:prstGeom prst="rect">
            <a:avLst/>
          </a:prstGeom>
        </p:spPr>
      </p:pic>
      <p:pic>
        <p:nvPicPr>
          <p:cNvPr id="23" name="d815f651cfc3a5e1d7528ee9cbc8ff91">
            <a:hlinkClick r:id="" action="ppaction://media"/>
            <a:extLst>
              <a:ext uri="{FF2B5EF4-FFF2-40B4-BE49-F238E27FC236}">
                <a16:creationId xmlns:a16="http://schemas.microsoft.com/office/drawing/2014/main" id="{3687123B-2F46-E8C9-AD64-939EBD6D707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rcRect l="7490" t="6990" r="14156" b="29028"/>
          <a:stretch>
            <a:fillRect/>
          </a:stretch>
        </p:blipFill>
        <p:spPr>
          <a:xfrm>
            <a:off x="7950212" y="2940050"/>
            <a:ext cx="2576427" cy="3740150"/>
          </a:xfrm>
          <a:prstGeom prst="rect">
            <a:avLst/>
          </a:prstGeom>
        </p:spPr>
      </p:pic>
      <p:pic>
        <p:nvPicPr>
          <p:cNvPr id="24" name="43a3a5bc7cb140af58278f46d06543b2">
            <a:hlinkClick r:id="" action="ppaction://media"/>
            <a:extLst>
              <a:ext uri="{FF2B5EF4-FFF2-40B4-BE49-F238E27FC236}">
                <a16:creationId xmlns:a16="http://schemas.microsoft.com/office/drawing/2014/main" id="{2B7BF02F-3F73-211C-9A6D-BD1C56D4B1E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rcRect l="4544" t="7570" r="13085" b="26209"/>
          <a:stretch>
            <a:fillRect/>
          </a:stretch>
        </p:blipFill>
        <p:spPr>
          <a:xfrm>
            <a:off x="4400231" y="2940050"/>
            <a:ext cx="2616850" cy="3740150"/>
          </a:xfrm>
          <a:prstGeom prst="rect">
            <a:avLst/>
          </a:prstGeom>
        </p:spPr>
      </p:pic>
      <p:pic>
        <p:nvPicPr>
          <p:cNvPr id="25" name="4a578a8d4fb0dcc391a1b2e977769d68">
            <a:hlinkClick r:id="" action="ppaction://media"/>
            <a:extLst>
              <a:ext uri="{FF2B5EF4-FFF2-40B4-BE49-F238E27FC236}">
                <a16:creationId xmlns:a16="http://schemas.microsoft.com/office/drawing/2014/main" id="{772E9992-FE5B-4465-6415-90B0AB786FAD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7"/>
          <a:srcRect l="6716" t="15889" r="16641" b="18667"/>
          <a:stretch>
            <a:fillRect/>
          </a:stretch>
        </p:blipFill>
        <p:spPr>
          <a:xfrm>
            <a:off x="1021081" y="2940050"/>
            <a:ext cx="2446019" cy="371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921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4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767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900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5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video>
              <p:cMediaNode vol="80000" mute="1">
                <p:cTn id="21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video>
              <p:cMediaNode vol="80000" mute="1">
                <p:cTn id="2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414A4-5285-AF4A-8BA0-FEA78A0E2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图片 386">
            <a:extLst>
              <a:ext uri="{FF2B5EF4-FFF2-40B4-BE49-F238E27FC236}">
                <a16:creationId xmlns:a16="http://schemas.microsoft.com/office/drawing/2014/main" id="{8C15373F-ED3A-925B-D147-C899C4243B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22E3381-83E2-0E5F-B3FB-96F56FC4148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>
            <a:fillRect/>
          </a:stretch>
        </p:blipFill>
        <p:spPr>
          <a:xfrm>
            <a:off x="2688426" y="1308270"/>
            <a:ext cx="9114010" cy="5384461"/>
          </a:xfrm>
          <a:prstGeom prst="rect">
            <a:avLst/>
          </a:prstGeom>
          <a:ln/>
        </p:spPr>
      </p:pic>
      <p:sp>
        <p:nvSpPr>
          <p:cNvPr id="3" name="文本框 2" descr="{&quot;isTemplate&quot;:true,&quot;type&quot;:&quot;text&quot;}">
            <a:extLst>
              <a:ext uri="{FF2B5EF4-FFF2-40B4-BE49-F238E27FC236}">
                <a16:creationId xmlns:a16="http://schemas.microsoft.com/office/drawing/2014/main" id="{E03AA0EE-1586-F146-57DE-F06C927FEB8A}"/>
              </a:ext>
            </a:extLst>
          </p:cNvPr>
          <p:cNvSpPr txBox="1"/>
          <p:nvPr/>
        </p:nvSpPr>
        <p:spPr>
          <a:xfrm>
            <a:off x="10077450" y="1685925"/>
            <a:ext cx="127635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450" b="1" dirty="0">
                <a:solidFill>
                  <a:srgbClr val="FF6A13"/>
                </a:solidFill>
                <a:latin typeface="Microsoft YaHei"/>
                <a:ea typeface="Microsoft YaHei"/>
              </a:rPr>
              <a:t>88 KB</a:t>
            </a:r>
            <a:endParaRPr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62F8E1-16D2-441B-EC43-E3BA3BB04A26}"/>
              </a:ext>
            </a:extLst>
          </p:cNvPr>
          <p:cNvSpPr/>
          <p:nvPr/>
        </p:nvSpPr>
        <p:spPr>
          <a:xfrm>
            <a:off x="7810500" y="2195511"/>
            <a:ext cx="3543300" cy="3143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文本框 4" descr="{&quot;isTemplate&quot;:true,&quot;type&quot;:&quot;text&quot;}">
            <a:extLst>
              <a:ext uri="{FF2B5EF4-FFF2-40B4-BE49-F238E27FC236}">
                <a16:creationId xmlns:a16="http://schemas.microsoft.com/office/drawing/2014/main" id="{2086CD2D-97C1-BB98-6A77-2DF18F7E7ED1}"/>
              </a:ext>
            </a:extLst>
          </p:cNvPr>
          <p:cNvSpPr txBox="1"/>
          <p:nvPr/>
        </p:nvSpPr>
        <p:spPr>
          <a:xfrm>
            <a:off x="10077450" y="2607467"/>
            <a:ext cx="127635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450" b="1" dirty="0">
                <a:solidFill>
                  <a:srgbClr val="FF8F4D"/>
                </a:solidFill>
                <a:latin typeface="Microsoft YaHei"/>
                <a:ea typeface="Microsoft YaHei"/>
              </a:rPr>
              <a:t>44 KB</a:t>
            </a:r>
            <a:endParaRPr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748D00-ABC7-98A4-7E04-CABBE4600E4B}"/>
              </a:ext>
            </a:extLst>
          </p:cNvPr>
          <p:cNvSpPr/>
          <p:nvPr/>
        </p:nvSpPr>
        <p:spPr>
          <a:xfrm>
            <a:off x="9582150" y="3152776"/>
            <a:ext cx="1771650" cy="314325"/>
          </a:xfrm>
          <a:prstGeom prst="rect">
            <a:avLst/>
          </a:prstGeom>
          <a:solidFill>
            <a:srgbClr val="FF8F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文本框 6" descr="{&quot;isTemplate&quot;:true,&quot;type&quot;:&quot;text&quot;}">
            <a:extLst>
              <a:ext uri="{FF2B5EF4-FFF2-40B4-BE49-F238E27FC236}">
                <a16:creationId xmlns:a16="http://schemas.microsoft.com/office/drawing/2014/main" id="{B34BB78D-1398-15EB-962D-6ADD7777E3EC}"/>
              </a:ext>
            </a:extLst>
          </p:cNvPr>
          <p:cNvSpPr txBox="1"/>
          <p:nvPr/>
        </p:nvSpPr>
        <p:spPr>
          <a:xfrm>
            <a:off x="10077450" y="3467101"/>
            <a:ext cx="127635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450" b="1" dirty="0">
                <a:solidFill>
                  <a:srgbClr val="FFB27A"/>
                </a:solidFill>
                <a:latin typeface="Microsoft YaHei"/>
                <a:ea typeface="Microsoft YaHei"/>
              </a:rPr>
              <a:t>22 KB</a:t>
            </a:r>
            <a:endParaRPr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9645F7-1A14-87AE-1A3A-5634D92CC34A}"/>
              </a:ext>
            </a:extLst>
          </p:cNvPr>
          <p:cNvSpPr/>
          <p:nvPr/>
        </p:nvSpPr>
        <p:spPr>
          <a:xfrm>
            <a:off x="10467975" y="3975497"/>
            <a:ext cx="885825" cy="314325"/>
          </a:xfrm>
          <a:prstGeom prst="rect">
            <a:avLst/>
          </a:prstGeom>
          <a:solidFill>
            <a:srgbClr val="FFB27A"/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48125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矩形 2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3" name="图片 2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三种表内存对比（以</a:t>
            </a:r>
            <a:r>
              <a:rPr lang="en-US" alt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CH32V307</a:t>
            </a: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的</a:t>
            </a:r>
            <a:r>
              <a:rPr lang="en-US" alt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127KB</a:t>
            </a:r>
            <a:r>
              <a:rPr lang="zh-CN" altLang="en-US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为例）</a:t>
            </a:r>
            <a:endParaRPr dirty="0"/>
          </a:p>
        </p:txBody>
      </p:sp>
      <p:sp>
        <p:nvSpPr>
          <p:cNvPr id="295" name="矩形 294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6" name="矩形 295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7" name="图片 296"/>
          <p:cNvPicPr>
            <a:picLocks noChangeAspect="1"/>
          </p:cNvPicPr>
          <p:nvPr/>
        </p:nvPicPr>
        <p:blipFill>
          <a:blip r:embed="rId3"/>
          <a:srcRect t="38" b="38"/>
          <a:stretch>
            <a:fillRect/>
          </a:stretch>
        </p:blipFill>
        <p:spPr>
          <a:xfrm>
            <a:off x="838200" y="1762125"/>
            <a:ext cx="6858000" cy="3333750"/>
          </a:xfrm>
          <a:prstGeom prst="rect">
            <a:avLst/>
          </a:prstGeom>
          <a:ln/>
        </p:spPr>
      </p:pic>
      <p:sp>
        <p:nvSpPr>
          <p:cNvPr id="298" name="矩形 297"/>
          <p:cNvSpPr/>
          <p:nvPr/>
        </p:nvSpPr>
        <p:spPr>
          <a:xfrm>
            <a:off x="8134350" y="2457450"/>
            <a:ext cx="152400" cy="1524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8420100" y="2333625"/>
            <a:ext cx="10001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 dirty="0">
                <a:solidFill>
                  <a:srgbClr val="F2F3F5"/>
                </a:solidFill>
                <a:latin typeface="Microsoft YaHei"/>
                <a:ea typeface="Microsoft YaHei"/>
              </a:rPr>
              <a:t>89.4%</a:t>
            </a:r>
            <a:endParaRPr dirty="0"/>
          </a:p>
        </p:txBody>
      </p:sp>
      <p:sp>
        <p:nvSpPr>
          <p:cNvPr id="300" name="矩形 299"/>
          <p:cNvSpPr/>
          <p:nvPr/>
        </p:nvSpPr>
        <p:spPr>
          <a:xfrm>
            <a:off x="8134350" y="3095625"/>
            <a:ext cx="152400" cy="152400"/>
          </a:xfrm>
          <a:prstGeom prst="rect">
            <a:avLst/>
          </a:prstGeom>
          <a:solidFill>
            <a:srgbClr val="FF8F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8420100" y="2971800"/>
            <a:ext cx="10001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2F3F5"/>
                </a:solidFill>
                <a:latin typeface="Microsoft YaHei"/>
                <a:ea typeface="Microsoft YaHei"/>
              </a:rPr>
              <a:t>54.7%</a:t>
            </a:r>
            <a:endParaRPr/>
          </a:p>
        </p:txBody>
      </p:sp>
      <p:sp>
        <p:nvSpPr>
          <p:cNvPr id="302" name="矩形 301"/>
          <p:cNvSpPr/>
          <p:nvPr/>
        </p:nvSpPr>
        <p:spPr>
          <a:xfrm>
            <a:off x="8134350" y="3733800"/>
            <a:ext cx="152400" cy="152400"/>
          </a:xfrm>
          <a:prstGeom prst="rect">
            <a:avLst/>
          </a:prstGeom>
          <a:solidFill>
            <a:srgbClr val="FFB2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8420100" y="3609975"/>
            <a:ext cx="10001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2F3F5"/>
                </a:solidFill>
                <a:latin typeface="Microsoft YaHei"/>
                <a:ea typeface="Microsoft YaHei"/>
              </a:rPr>
              <a:t>37.8%</a:t>
            </a:r>
            <a:endParaRPr/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8134350" y="4305300"/>
            <a:ext cx="32194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425" dirty="0">
                <a:solidFill>
                  <a:srgbClr val="9AA1AC"/>
                </a:solidFill>
                <a:latin typeface="Microsoft YaHei"/>
                <a:ea typeface="Microsoft YaHei"/>
              </a:rPr>
              <a:t>内存消耗占比（以</a:t>
            </a:r>
            <a:r>
              <a:rPr lang="en-US" altLang="zh-CN" sz="1425" dirty="0">
                <a:solidFill>
                  <a:srgbClr val="9AA1AC"/>
                </a:solidFill>
                <a:latin typeface="Microsoft YaHei"/>
                <a:ea typeface="Microsoft YaHei"/>
              </a:rPr>
              <a:t>127KiB</a:t>
            </a:r>
            <a:r>
              <a:rPr lang="zh-CN" altLang="en-US" sz="1425" dirty="0">
                <a:solidFill>
                  <a:srgbClr val="9AA1AC"/>
                </a:solidFill>
                <a:latin typeface="Microsoft YaHei"/>
                <a:ea typeface="Microsoft YaHei"/>
              </a:rPr>
              <a:t>为基准）</a:t>
            </a:r>
            <a:endParaRPr dirty="0"/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838200" y="5676900"/>
            <a:ext cx="10515600" cy="409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575">
                <a:solidFill>
                  <a:srgbClr val="C9CED6"/>
                </a:solidFill>
                <a:latin typeface="Microsoft YaHei"/>
                <a:ea typeface="Microsoft YaHei"/>
              </a:rPr>
              <a:t>这是单缓冲口径，跟前面那份双缓冲的</a:t>
            </a:r>
            <a:r>
              <a:rPr lang="en-US" sz="1575">
                <a:solidFill>
                  <a:srgbClr val="C9CED6"/>
                </a:solidFill>
                <a:latin typeface="Microsoft YaHei"/>
                <a:ea typeface="Microsoft YaHei"/>
              </a:rPr>
              <a:t> 135.6 KB </a:t>
            </a:r>
            <a:r>
              <a:rPr lang="zh-CN" sz="1575">
                <a:solidFill>
                  <a:srgbClr val="C9CED6"/>
                </a:solidFill>
                <a:latin typeface="Microsoft YaHei"/>
                <a:ea typeface="Microsoft YaHei"/>
              </a:rPr>
              <a:t>不是一本账。</a:t>
            </a:r>
            <a:endParaRPr/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838200" y="6162675"/>
            <a:ext cx="105156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百分比按</a:t>
            </a: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 130048 B </a:t>
            </a: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算，也就是</a:t>
            </a: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 127 KiB</a:t>
            </a: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，不是</a:t>
            </a:r>
            <a:r>
              <a:rPr lang="en-US" sz="1425">
                <a:solidFill>
                  <a:srgbClr val="9AA1AC"/>
                </a:solidFill>
                <a:latin typeface="Microsoft YaHei"/>
                <a:ea typeface="Microsoft YaHei"/>
              </a:rPr>
              <a:t> 128 KB</a:t>
            </a:r>
            <a:r>
              <a:rPr lang="zh-CN" sz="1425">
                <a:solidFill>
                  <a:srgbClr val="9AA1A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矩形 5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13" name="图片 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2F3F5"/>
                </a:solidFill>
                <a:latin typeface="Microsoft YaHei"/>
                <a:ea typeface="Microsoft YaHei"/>
              </a:rPr>
              <a:t>上电算一次，每帧只查表</a:t>
            </a:r>
            <a:endParaRPr/>
          </a:p>
        </p:txBody>
      </p:sp>
      <p:sp>
        <p:nvSpPr>
          <p:cNvPr id="515" name="矩形 514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6" name="矩形 515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7" name="矩形 516"/>
          <p:cNvSpPr/>
          <p:nvPr/>
        </p:nvSpPr>
        <p:spPr>
          <a:xfrm>
            <a:off x="838200" y="4419600"/>
            <a:ext cx="76200" cy="112395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1162050" y="4419600"/>
            <a:ext cx="10191750" cy="1104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5000"/>
              </a:lnSpc>
            </a:pPr>
            <a:r>
              <a:rPr lang="zh-CN" sz="1950">
                <a:solidFill>
                  <a:srgbClr val="C9CED6"/>
                </a:solidFill>
                <a:latin typeface="Microsoft YaHei"/>
                <a:ea typeface="Microsoft YaHei"/>
              </a:rPr>
              <a:t>初始化只在上电跑一次，跑多久都不影响帧率。运行时每像素就一条</a:t>
            </a:r>
            <a:r>
              <a:rPr lang="en-US" sz="1950">
                <a:solidFill>
                  <a:srgbClr val="C9CED6"/>
                </a:solidFill>
                <a:latin typeface="Microsoft YaHei"/>
                <a:ea typeface="Microsoft YaHei"/>
              </a:rPr>
              <a:t> lbu</a:t>
            </a:r>
            <a:r>
              <a:rPr lang="zh-CN" sz="1950">
                <a:solidFill>
                  <a:srgbClr val="C9CED6"/>
                </a:solidFill>
                <a:latin typeface="Microsoft YaHei"/>
                <a:ea typeface="Microsoft YaHei"/>
              </a:rPr>
              <a:t>，硬件这边没有开销。</a:t>
            </a:r>
            <a:endParaRPr/>
          </a:p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1162050" y="5657850"/>
            <a:ext cx="1019175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5000"/>
              </a:lnSpc>
            </a:pPr>
            <a:r>
              <a:rPr lang="zh-CN" sz="1950">
                <a:solidFill>
                  <a:srgbClr val="FF8F4D"/>
                </a:solidFill>
                <a:latin typeface="Microsoft YaHei"/>
                <a:ea typeface="Microsoft YaHei"/>
              </a:rPr>
              <a:t>代价全压在内存上，下一页算这笔账。</a:t>
            </a:r>
            <a:endParaRPr/>
          </a:p>
        </p:txBody>
      </p:sp>
      <p:sp>
        <p:nvSpPr>
          <p:cNvPr id="520" name="矩形 519"/>
          <p:cNvSpPr/>
          <p:nvPr/>
        </p:nvSpPr>
        <p:spPr>
          <a:xfrm>
            <a:off x="1028700" y="2324100"/>
            <a:ext cx="914400" cy="2857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1028700" y="1943100"/>
            <a:ext cx="1047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FF6A13"/>
                </a:solidFill>
                <a:latin typeface="Microsoft YaHei"/>
                <a:ea typeface="Microsoft YaHei"/>
              </a:rPr>
              <a:t>只发生一次</a:t>
            </a:r>
            <a:endParaRPr/>
          </a:p>
        </p:txBody>
      </p:sp>
      <p:sp>
        <p:nvSpPr>
          <p:cNvPr id="522" name="矩形 521"/>
          <p:cNvSpPr/>
          <p:nvPr/>
        </p:nvSpPr>
        <p:spPr>
          <a:xfrm>
            <a:off x="3981450" y="2324100"/>
            <a:ext cx="6667500" cy="28575"/>
          </a:xfrm>
          <a:prstGeom prst="rect">
            <a:avLst/>
          </a:prstGeom>
          <a:solidFill>
            <a:srgbClr val="FF8F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3" name="文本框 522" descr="{&quot;isTemplate&quot;:true,&quot;type&quot;:&quot;text&quot;}"/>
          <p:cNvSpPr txBox="1"/>
          <p:nvPr/>
        </p:nvSpPr>
        <p:spPr>
          <a:xfrm>
            <a:off x="3981450" y="1943100"/>
            <a:ext cx="1047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FF8F4D"/>
                </a:solidFill>
                <a:latin typeface="Microsoft YaHei"/>
                <a:ea typeface="Microsoft YaHei"/>
              </a:rPr>
              <a:t>每帧都发生</a:t>
            </a:r>
            <a:endParaRPr/>
          </a:p>
        </p:txBody>
      </p:sp>
      <p:sp>
        <p:nvSpPr>
          <p:cNvPr id="524" name="矩形 523"/>
          <p:cNvSpPr/>
          <p:nvPr/>
        </p:nvSpPr>
        <p:spPr>
          <a:xfrm>
            <a:off x="1028700" y="3200400"/>
            <a:ext cx="9715500" cy="190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5" name="矩形: 圆角 524"/>
          <p:cNvSpPr/>
          <p:nvPr/>
        </p:nvSpPr>
        <p:spPr>
          <a:xfrm>
            <a:off x="1428750" y="31146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6" name="矩形 525"/>
          <p:cNvSpPr/>
          <p:nvPr/>
        </p:nvSpPr>
        <p:spPr>
          <a:xfrm>
            <a:off x="39814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7" name="矩形 526"/>
          <p:cNvSpPr/>
          <p:nvPr/>
        </p:nvSpPr>
        <p:spPr>
          <a:xfrm>
            <a:off x="43243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8" name="矩形 527"/>
          <p:cNvSpPr/>
          <p:nvPr/>
        </p:nvSpPr>
        <p:spPr>
          <a:xfrm>
            <a:off x="46672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9" name="矩形 528"/>
          <p:cNvSpPr/>
          <p:nvPr/>
        </p:nvSpPr>
        <p:spPr>
          <a:xfrm>
            <a:off x="50101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0" name="矩形 529"/>
          <p:cNvSpPr/>
          <p:nvPr/>
        </p:nvSpPr>
        <p:spPr>
          <a:xfrm>
            <a:off x="53530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1" name="矩形 530"/>
          <p:cNvSpPr/>
          <p:nvPr/>
        </p:nvSpPr>
        <p:spPr>
          <a:xfrm>
            <a:off x="56959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2" name="矩形 531"/>
          <p:cNvSpPr/>
          <p:nvPr/>
        </p:nvSpPr>
        <p:spPr>
          <a:xfrm>
            <a:off x="60388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3" name="矩形 532"/>
          <p:cNvSpPr/>
          <p:nvPr/>
        </p:nvSpPr>
        <p:spPr>
          <a:xfrm>
            <a:off x="63817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4" name="矩形 533"/>
          <p:cNvSpPr/>
          <p:nvPr/>
        </p:nvSpPr>
        <p:spPr>
          <a:xfrm>
            <a:off x="67246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5" name="矩形 534"/>
          <p:cNvSpPr/>
          <p:nvPr/>
        </p:nvSpPr>
        <p:spPr>
          <a:xfrm>
            <a:off x="70675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6" name="矩形 535"/>
          <p:cNvSpPr/>
          <p:nvPr/>
        </p:nvSpPr>
        <p:spPr>
          <a:xfrm>
            <a:off x="74104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7" name="矩形 536"/>
          <p:cNvSpPr/>
          <p:nvPr/>
        </p:nvSpPr>
        <p:spPr>
          <a:xfrm>
            <a:off x="77533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8" name="矩形 537"/>
          <p:cNvSpPr/>
          <p:nvPr/>
        </p:nvSpPr>
        <p:spPr>
          <a:xfrm>
            <a:off x="80962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9" name="矩形 538"/>
          <p:cNvSpPr/>
          <p:nvPr/>
        </p:nvSpPr>
        <p:spPr>
          <a:xfrm>
            <a:off x="84391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0" name="矩形 539"/>
          <p:cNvSpPr/>
          <p:nvPr/>
        </p:nvSpPr>
        <p:spPr>
          <a:xfrm>
            <a:off x="87820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1" name="矩形 540"/>
          <p:cNvSpPr/>
          <p:nvPr/>
        </p:nvSpPr>
        <p:spPr>
          <a:xfrm>
            <a:off x="91249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2" name="矩形 541"/>
          <p:cNvSpPr/>
          <p:nvPr/>
        </p:nvSpPr>
        <p:spPr>
          <a:xfrm>
            <a:off x="94678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3" name="矩形 542"/>
          <p:cNvSpPr/>
          <p:nvPr/>
        </p:nvSpPr>
        <p:spPr>
          <a:xfrm>
            <a:off x="98107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4" name="矩形 543"/>
          <p:cNvSpPr/>
          <p:nvPr/>
        </p:nvSpPr>
        <p:spPr>
          <a:xfrm>
            <a:off x="101536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5" name="矩形 544"/>
          <p:cNvSpPr/>
          <p:nvPr/>
        </p:nvSpPr>
        <p:spPr>
          <a:xfrm>
            <a:off x="10496550" y="3133725"/>
            <a:ext cx="19050" cy="171450"/>
          </a:xfrm>
          <a:prstGeom prst="rect">
            <a:avLst/>
          </a:prstGeom>
          <a:solidFill>
            <a:srgbClr val="555C6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6" name="文本框 545" descr="{&quot;isTemplate&quot;:true,&quot;type&quot;:&quot;text&quot;}"/>
          <p:cNvSpPr txBox="1"/>
          <p:nvPr/>
        </p:nvSpPr>
        <p:spPr>
          <a:xfrm>
            <a:off x="1028700" y="3505200"/>
            <a:ext cx="5715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2F3F5"/>
                </a:solidFill>
                <a:latin typeface="Microsoft YaHei"/>
                <a:ea typeface="Microsoft YaHei"/>
              </a:rPr>
              <a:t>上电</a:t>
            </a:r>
            <a:endParaRPr/>
          </a:p>
        </p:txBody>
      </p:sp>
      <p:sp>
        <p:nvSpPr>
          <p:cNvPr id="547" name="文本框 546" descr="{&quot;isTemplate&quot;:true,&quot;type&quot;:&quot;text&quot;}"/>
          <p:cNvSpPr txBox="1"/>
          <p:nvPr/>
        </p:nvSpPr>
        <p:spPr>
          <a:xfrm>
            <a:off x="1028700" y="3848100"/>
            <a:ext cx="16478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9AA1AC"/>
                </a:solidFill>
                <a:latin typeface="Microsoft YaHei"/>
                <a:ea typeface="Microsoft YaHei"/>
              </a:rPr>
              <a:t>22560 </a:t>
            </a:r>
            <a:r>
              <a:rPr lang="zh-CN" sz="1575">
                <a:solidFill>
                  <a:srgbClr val="9AA1AC"/>
                </a:solidFill>
                <a:latin typeface="Microsoft YaHei"/>
                <a:ea typeface="Microsoft YaHei"/>
              </a:rPr>
              <a:t>次浮点运算</a:t>
            </a:r>
            <a:endParaRPr/>
          </a:p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3981450" y="3505200"/>
            <a:ext cx="8572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2F3F5"/>
                </a:solidFill>
                <a:latin typeface="Microsoft YaHei"/>
                <a:ea typeface="Microsoft YaHei"/>
              </a:rPr>
              <a:t>每一帧</a:t>
            </a:r>
            <a:endParaRPr/>
          </a:p>
        </p:txBody>
      </p:sp>
      <p:sp>
        <p:nvSpPr>
          <p:cNvPr id="549" name="文本框 548" descr="{&quot;isTemplate&quot;:true,&quot;type&quot;:&quot;text&quot;}"/>
          <p:cNvSpPr txBox="1"/>
          <p:nvPr/>
        </p:nvSpPr>
        <p:spPr>
          <a:xfrm>
            <a:off x="3981450" y="3848100"/>
            <a:ext cx="30765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>
                <a:solidFill>
                  <a:srgbClr val="9AA1AC"/>
                </a:solidFill>
                <a:latin typeface="Microsoft YaHei"/>
                <a:ea typeface="Microsoft YaHei"/>
              </a:rPr>
              <a:t>22560 </a:t>
            </a:r>
            <a:r>
              <a:rPr lang="zh-CN" sz="1575">
                <a:solidFill>
                  <a:srgbClr val="9AA1AC"/>
                </a:solidFill>
                <a:latin typeface="Microsoft YaHei"/>
                <a:ea typeface="Microsoft YaHei"/>
              </a:rPr>
              <a:t>次解引用，</a:t>
            </a:r>
            <a:r>
              <a:rPr lang="en-US" sz="1575">
                <a:solidFill>
                  <a:srgbClr val="9AA1AC"/>
                </a:solidFill>
                <a:latin typeface="Microsoft YaHei"/>
                <a:ea typeface="Microsoft YaHei"/>
              </a:rPr>
              <a:t>-O2 </a:t>
            </a:r>
            <a:r>
              <a:rPr lang="zh-CN" sz="1575">
                <a:solidFill>
                  <a:srgbClr val="9AA1AC"/>
                </a:solidFill>
                <a:latin typeface="Microsoft YaHei"/>
                <a:ea typeface="Microsoft YaHei"/>
              </a:rPr>
              <a:t>下</a:t>
            </a:r>
            <a:r>
              <a:rPr lang="en-US" sz="1575">
                <a:solidFill>
                  <a:srgbClr val="9AA1AC"/>
                </a:solidFill>
                <a:latin typeface="Microsoft YaHei"/>
                <a:ea typeface="Microsoft YaHei"/>
              </a:rPr>
              <a:t> 1.32 ms</a:t>
            </a:r>
            <a:endParaRPr/>
          </a:p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11029950" y="6419850"/>
            <a:ext cx="114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>
                <a:solidFill>
                  <a:srgbClr val="6C737E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矩形 1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9" name="图片 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2F3F5"/>
                </a:solidFill>
                <a:latin typeface="Microsoft YaHei"/>
                <a:ea typeface="Microsoft YaHei"/>
              </a:rPr>
              <a:t>为什么只多花</a:t>
            </a:r>
            <a:r>
              <a:rPr lang="en-US" sz="3300" b="1">
                <a:solidFill>
                  <a:srgbClr val="F2F3F5"/>
                </a:solidFill>
                <a:latin typeface="Microsoft YaHei"/>
                <a:ea typeface="Microsoft YaHei"/>
              </a:rPr>
              <a:t> 14%</a:t>
            </a:r>
            <a:endParaRPr/>
          </a:p>
        </p:txBody>
      </p:sp>
      <p:sp>
        <p:nvSpPr>
          <p:cNvPr id="151" name="矩形 150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2" name="矩形 151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838200" y="1807771"/>
            <a:ext cx="533400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5000"/>
              </a:lnSpc>
            </a:pPr>
            <a:r>
              <a:rPr lang="zh-CN" sz="1875" dirty="0">
                <a:solidFill>
                  <a:srgbClr val="C9CED6"/>
                </a:solidFill>
                <a:latin typeface="Microsoft YaHei"/>
                <a:ea typeface="Microsoft YaHei"/>
              </a:rPr>
              <a:t>指令数差</a:t>
            </a:r>
            <a:r>
              <a:rPr lang="en-US" sz="1875" dirty="0">
                <a:solidFill>
                  <a:srgbClr val="C9CED6"/>
                </a:solidFill>
                <a:latin typeface="Microsoft YaHei"/>
                <a:ea typeface="Microsoft YaHei"/>
              </a:rPr>
              <a:t> 20%</a:t>
            </a:r>
            <a:r>
              <a:rPr lang="zh-CN" sz="1875" dirty="0">
                <a:solidFill>
                  <a:srgbClr val="C9CED6"/>
                </a:solidFill>
                <a:latin typeface="Microsoft YaHei"/>
                <a:ea typeface="Microsoft YaHei"/>
              </a:rPr>
              <a:t>，时间只差</a:t>
            </a:r>
            <a:r>
              <a:rPr lang="en-US" sz="1875" dirty="0">
                <a:solidFill>
                  <a:srgbClr val="C9CED6"/>
                </a:solidFill>
                <a:latin typeface="Microsoft YaHei"/>
                <a:ea typeface="Microsoft YaHei"/>
              </a:rPr>
              <a:t> 13.7%</a:t>
            </a:r>
            <a:r>
              <a:rPr lang="zh-CN" sz="1875" dirty="0">
                <a:solidFill>
                  <a:srgbClr val="C9CED6"/>
                </a:solidFill>
                <a:latin typeface="Microsoft YaHei"/>
                <a:ea typeface="Microsoft YaHei"/>
              </a:rPr>
              <a:t>。</a:t>
            </a:r>
            <a:endParaRPr dirty="0"/>
          </a:p>
        </p:txBody>
      </p:sp>
      <p:sp>
        <p:nvSpPr>
          <p:cNvPr id="154" name="矩形 153"/>
          <p:cNvSpPr/>
          <p:nvPr/>
        </p:nvSpPr>
        <p:spPr>
          <a:xfrm>
            <a:off x="838200" y="2588821"/>
            <a:ext cx="666750" cy="28575"/>
          </a:xfrm>
          <a:prstGeom prst="rect">
            <a:avLst/>
          </a:prstGeom>
          <a:solidFill>
            <a:srgbClr val="FF8F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838200" y="2865046"/>
            <a:ext cx="5334000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5000"/>
              </a:lnSpc>
            </a:pPr>
            <a:r>
              <a:rPr lang="zh-CN" sz="1875" dirty="0">
                <a:solidFill>
                  <a:srgbClr val="C9CED6"/>
                </a:solidFill>
                <a:latin typeface="Microsoft YaHei"/>
                <a:ea typeface="Microsoft YaHei"/>
              </a:rPr>
              <a:t>循环里本来就有访存停顿，多出来的</a:t>
            </a:r>
            <a:r>
              <a:rPr lang="en-US" sz="1875" dirty="0">
                <a:solidFill>
                  <a:srgbClr val="C9CED6"/>
                </a:solidFill>
                <a:latin typeface="Microsoft YaHei"/>
                <a:ea typeface="Microsoft YaHei"/>
              </a:rPr>
              <a:t> ALU </a:t>
            </a:r>
            <a:r>
              <a:rPr lang="zh-CN" sz="1875" dirty="0">
                <a:solidFill>
                  <a:srgbClr val="C9CED6"/>
                </a:solidFill>
                <a:latin typeface="Microsoft YaHei"/>
                <a:ea typeface="Microsoft YaHei"/>
              </a:rPr>
              <a:t>指令塞进了这些空档，不用额外等。</a:t>
            </a:r>
            <a:endParaRPr dirty="0"/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838200" y="4179496"/>
            <a:ext cx="5334000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5000"/>
              </a:lnSpc>
            </a:pPr>
            <a:r>
              <a:rPr lang="zh-CN" sz="1875">
                <a:solidFill>
                  <a:srgbClr val="C9CED6"/>
                </a:solidFill>
                <a:latin typeface="Microsoft YaHei"/>
                <a:ea typeface="Microsoft YaHei"/>
              </a:rPr>
              <a:t>这个结论只在访存密集的循环里成立，换一段纯计算的代码就不适用。</a:t>
            </a:r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6629400" y="2122096"/>
            <a:ext cx="4724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9AA1AC"/>
                </a:solidFill>
                <a:latin typeface="Microsoft YaHei"/>
                <a:ea typeface="Microsoft YaHei"/>
              </a:rPr>
              <a:t>取一个像素的时间里，</a:t>
            </a:r>
            <a:r>
              <a:rPr lang="en-US" sz="1500">
                <a:solidFill>
                  <a:srgbClr val="9AA1AC"/>
                </a:solidFill>
                <a:latin typeface="Microsoft YaHei"/>
                <a:ea typeface="Microsoft YaHei"/>
              </a:rPr>
              <a:t>CPU </a:t>
            </a:r>
            <a:r>
              <a:rPr lang="zh-CN" sz="1500">
                <a:solidFill>
                  <a:srgbClr val="9AA1AC"/>
                </a:solidFill>
                <a:latin typeface="Microsoft YaHei"/>
                <a:ea typeface="Microsoft YaHei"/>
              </a:rPr>
              <a:t>在干什么</a:t>
            </a:r>
            <a:endParaRPr/>
          </a:p>
        </p:txBody>
      </p:sp>
      <p:sp>
        <p:nvSpPr>
          <p:cNvPr id="158" name="矩形 157"/>
          <p:cNvSpPr/>
          <p:nvPr/>
        </p:nvSpPr>
        <p:spPr>
          <a:xfrm>
            <a:off x="6629400" y="2484046"/>
            <a:ext cx="1428750" cy="83820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7086600" y="2798371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DDE1E7"/>
                </a:solidFill>
                <a:latin typeface="Microsoft YaHei"/>
                <a:ea typeface="Microsoft YaHei"/>
              </a:rPr>
              <a:t>算地址</a:t>
            </a:r>
            <a:endParaRPr/>
          </a:p>
        </p:txBody>
      </p:sp>
      <p:sp>
        <p:nvSpPr>
          <p:cNvPr id="160" name="矩形 159"/>
          <p:cNvSpPr/>
          <p:nvPr/>
        </p:nvSpPr>
        <p:spPr>
          <a:xfrm>
            <a:off x="10067925" y="2484046"/>
            <a:ext cx="1428750" cy="838200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10525125" y="2798371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DDE1E7"/>
                </a:solidFill>
                <a:latin typeface="Microsoft YaHei"/>
                <a:ea typeface="Microsoft YaHei"/>
              </a:rPr>
              <a:t>拿数据</a:t>
            </a:r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6629400" y="3493696"/>
            <a:ext cx="4724400" cy="847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5000"/>
              </a:lnSpc>
            </a:pPr>
            <a:r>
              <a:rPr lang="zh-CN" sz="1575">
                <a:solidFill>
                  <a:srgbClr val="C9CED6"/>
                </a:solidFill>
                <a:latin typeface="Microsoft YaHei"/>
                <a:ea typeface="Microsoft YaHei"/>
              </a:rPr>
              <a:t>中间那一段</a:t>
            </a:r>
            <a:r>
              <a:rPr lang="en-US" sz="1575">
                <a:solidFill>
                  <a:srgbClr val="C9CED6"/>
                </a:solidFill>
                <a:latin typeface="Microsoft YaHei"/>
                <a:ea typeface="Microsoft YaHei"/>
              </a:rPr>
              <a:t> CPU </a:t>
            </a:r>
            <a:r>
              <a:rPr lang="zh-CN" sz="1575">
                <a:solidFill>
                  <a:srgbClr val="C9CED6"/>
                </a:solidFill>
                <a:latin typeface="Microsoft YaHei"/>
                <a:ea typeface="Microsoft YaHei"/>
              </a:rPr>
              <a:t>是空着的。多出来的</a:t>
            </a:r>
            <a:r>
              <a:rPr lang="en-US" sz="1575">
                <a:solidFill>
                  <a:srgbClr val="C9CED6"/>
                </a:solidFill>
                <a:latin typeface="Microsoft YaHei"/>
                <a:ea typeface="Microsoft YaHei"/>
              </a:rPr>
              <a:t> add </a:t>
            </a:r>
            <a:r>
              <a:rPr lang="zh-CN" sz="1575">
                <a:solidFill>
                  <a:srgbClr val="C9CED6"/>
                </a:solidFill>
                <a:latin typeface="Microsoft YaHei"/>
                <a:ea typeface="Microsoft YaHei"/>
              </a:rPr>
              <a:t>只吃</a:t>
            </a:r>
            <a:r>
              <a:rPr lang="en-US" sz="1575">
                <a:solidFill>
                  <a:srgbClr val="C9CED6"/>
                </a:solidFill>
                <a:latin typeface="Microsoft YaHei"/>
                <a:ea typeface="Microsoft YaHei"/>
              </a:rPr>
              <a:t> ALU</a:t>
            </a:r>
            <a:r>
              <a:rPr lang="zh-CN" sz="1575">
                <a:solidFill>
                  <a:srgbClr val="C9CED6"/>
                </a:solidFill>
                <a:latin typeface="Microsoft YaHei"/>
                <a:ea typeface="Microsoft YaHei"/>
              </a:rPr>
              <a:t>，不用等内存，正好填进去。</a:t>
            </a:r>
            <a:endParaRPr/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6629400" y="4608121"/>
            <a:ext cx="176212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6A13"/>
                </a:solidFill>
                <a:latin typeface="Consolas"/>
                <a:ea typeface="Consolas"/>
              </a:rPr>
              <a:t>0.85 × 1.084</a:t>
            </a:r>
            <a:endParaRPr/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8505825" y="4608121"/>
            <a:ext cx="2095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9AA1AC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8829675" y="4608121"/>
            <a:ext cx="73342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 dirty="0">
                <a:solidFill>
                  <a:srgbClr val="F2F3F5"/>
                </a:solidFill>
                <a:latin typeface="Consolas"/>
                <a:ea typeface="Consolas"/>
              </a:rPr>
              <a:t>0.922</a:t>
            </a:r>
            <a:endParaRPr dirty="0"/>
          </a:p>
        </p:txBody>
      </p:sp>
      <p:sp>
        <p:nvSpPr>
          <p:cNvPr id="166" name="矩形 165"/>
          <p:cNvSpPr/>
          <p:nvPr/>
        </p:nvSpPr>
        <p:spPr>
          <a:xfrm>
            <a:off x="7915275" y="2484046"/>
            <a:ext cx="2381250" cy="838200"/>
          </a:xfrm>
          <a:prstGeom prst="rect">
            <a:avLst/>
          </a:prstGeom>
          <a:solidFill>
            <a:srgbClr val="2226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915275" y="2598346"/>
            <a:ext cx="2381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>
                <a:solidFill>
                  <a:srgbClr val="9AA1AC"/>
                </a:solidFill>
                <a:latin typeface="Microsoft YaHei"/>
                <a:ea typeface="Microsoft YaHei"/>
              </a:rPr>
              <a:t>等内存返回</a:t>
            </a:r>
            <a:endParaRPr/>
          </a:p>
        </p:txBody>
      </p:sp>
      <p:sp>
        <p:nvSpPr>
          <p:cNvPr id="168" name="矩形 167"/>
          <p:cNvSpPr/>
          <p:nvPr/>
        </p:nvSpPr>
        <p:spPr>
          <a:xfrm>
            <a:off x="8505825" y="2941246"/>
            <a:ext cx="1200150" cy="28575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8772525" y="2988871"/>
            <a:ext cx="6762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1F232A"/>
                </a:solidFill>
                <a:latin typeface="Microsoft YaHei"/>
                <a:ea typeface="Microsoft YaHei"/>
              </a:rPr>
              <a:t>add </a:t>
            </a:r>
            <a:r>
              <a:rPr lang="zh-CN" sz="1275">
                <a:solidFill>
                  <a:srgbClr val="1F232A"/>
                </a:solidFill>
                <a:latin typeface="Microsoft YaHei"/>
                <a:ea typeface="Microsoft YaHei"/>
              </a:rPr>
              <a:t>基址</a:t>
            </a:r>
            <a:endParaRPr/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11029950" y="6419850"/>
            <a:ext cx="2286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>
                <a:solidFill>
                  <a:srgbClr val="6C737E"/>
                </a:solidFill>
                <a:latin typeface="Microsoft YaHei"/>
                <a:ea typeface="Microsoft YaHei"/>
              </a:rPr>
              <a:t>17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矩形 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8" name="图片 2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2F3F5"/>
                </a:solidFill>
                <a:latin typeface="Microsoft YaHei"/>
                <a:ea typeface="Microsoft YaHei"/>
              </a:rPr>
              <a:t>j </a:t>
            </a:r>
            <a:r>
              <a:rPr lang="zh-CN" sz="3300" b="1">
                <a:solidFill>
                  <a:srgbClr val="F2F3F5"/>
                </a:solidFill>
                <a:latin typeface="Microsoft YaHei"/>
                <a:ea typeface="Microsoft YaHei"/>
              </a:rPr>
              <a:t>到</a:t>
            </a:r>
            <a:r>
              <a:rPr lang="en-US" sz="3300" b="1">
                <a:solidFill>
                  <a:srgbClr val="F2F3F5"/>
                </a:solidFill>
                <a:latin typeface="Microsoft YaHei"/>
                <a:ea typeface="Microsoft YaHei"/>
              </a:rPr>
              <a:t> 102 </a:t>
            </a:r>
            <a:r>
              <a:rPr lang="zh-CN" sz="3300" b="1">
                <a:solidFill>
                  <a:srgbClr val="F2F3F5"/>
                </a:solidFill>
                <a:latin typeface="Microsoft YaHei"/>
                <a:ea typeface="Microsoft YaHei"/>
              </a:rPr>
              <a:t>以后，整行都是废的</a:t>
            </a:r>
            <a:endParaRPr/>
          </a:p>
        </p:txBody>
      </p:sp>
      <p:sp>
        <p:nvSpPr>
          <p:cNvPr id="280" name="矩形 279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1" name="矩形 280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2" name="图片 281"/>
          <p:cNvPicPr>
            <a:picLocks noChangeAspect="1"/>
          </p:cNvPicPr>
          <p:nvPr/>
        </p:nvPicPr>
        <p:blipFill>
          <a:blip r:embed="rId3"/>
          <a:srcRect l="48" r="48"/>
          <a:stretch>
            <a:fillRect/>
          </a:stretch>
        </p:blipFill>
        <p:spPr>
          <a:xfrm>
            <a:off x="838200" y="2324100"/>
            <a:ext cx="6096000" cy="3305175"/>
          </a:xfrm>
          <a:prstGeom prst="rect">
            <a:avLst/>
          </a:prstGeom>
          <a:ln/>
        </p:spPr>
      </p:pic>
      <p:sp>
        <p:nvSpPr>
          <p:cNvPr id="283" name="矩形 282"/>
          <p:cNvSpPr/>
          <p:nvPr/>
        </p:nvSpPr>
        <p:spPr>
          <a:xfrm>
            <a:off x="7505700" y="1762125"/>
            <a:ext cx="47625" cy="3048000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7762875" y="1762125"/>
            <a:ext cx="3590925" cy="1400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5000"/>
              </a:lnSpc>
            </a:pPr>
            <a:r>
              <a:rPr lang="zh-CN" alt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本例中，</a:t>
            </a:r>
            <a:r>
              <a:rPr 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18 </a:t>
            </a:r>
            <a:r>
              <a:rPr lang="zh-CN" sz="1650" dirty="0">
                <a:solidFill>
                  <a:srgbClr val="C9CED6"/>
                </a:solidFill>
                <a:latin typeface="Microsoft YaHei"/>
                <a:ea typeface="Microsoft YaHei"/>
              </a:rPr>
              <a:t>行</a:t>
            </a:r>
            <a:r>
              <a:rPr lang="zh-CN" alt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在</a:t>
            </a:r>
            <a:r>
              <a:rPr lang="zh-CN" sz="1650" dirty="0">
                <a:solidFill>
                  <a:srgbClr val="C9CED6"/>
                </a:solidFill>
                <a:latin typeface="Microsoft YaHei"/>
                <a:ea typeface="Microsoft YaHei"/>
              </a:rPr>
              <a:t>遍历时</a:t>
            </a:r>
            <a:r>
              <a:rPr 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 continue </a:t>
            </a:r>
            <a:r>
              <a:rPr lang="zh-CN" sz="1650" dirty="0">
                <a:solidFill>
                  <a:srgbClr val="C9CED6"/>
                </a:solidFill>
                <a:latin typeface="Microsoft YaHei"/>
                <a:ea typeface="Microsoft YaHei"/>
              </a:rPr>
              <a:t>跳过。判断在行一级，摊到</a:t>
            </a:r>
            <a:r>
              <a:rPr 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 188 </a:t>
            </a:r>
            <a:r>
              <a:rPr lang="zh-CN" sz="1650" dirty="0">
                <a:solidFill>
                  <a:srgbClr val="C9CED6"/>
                </a:solidFill>
                <a:latin typeface="Microsoft YaHei"/>
                <a:ea typeface="Microsoft YaHei"/>
              </a:rPr>
              <a:t>个像素上几乎免费。</a:t>
            </a:r>
            <a:endParaRPr dirty="0"/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7762875" y="3333750"/>
            <a:ext cx="359092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5000"/>
              </a:lnSpc>
            </a:pPr>
            <a:r>
              <a:rPr lang="zh-CN" sz="1650" dirty="0">
                <a:solidFill>
                  <a:srgbClr val="C9CED6"/>
                </a:solidFill>
                <a:latin typeface="Microsoft YaHei"/>
                <a:ea typeface="Microsoft YaHei"/>
              </a:rPr>
              <a:t>每像素其实更贵：</a:t>
            </a:r>
            <a:r>
              <a:rPr 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27.27 </a:t>
            </a:r>
            <a:r>
              <a:rPr lang="en-US" altLang="zh-CN" sz="1650" dirty="0">
                <a:solidFill>
                  <a:srgbClr val="C9CED6"/>
                </a:solidFill>
                <a:latin typeface="Microsoft YaHei"/>
                <a:ea typeface="Microsoft YaHei"/>
              </a:rPr>
              <a:t>/</a:t>
            </a:r>
            <a:r>
              <a:rPr 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25.15</a:t>
            </a:r>
            <a:r>
              <a:rPr lang="zh-CN" sz="1650" dirty="0">
                <a:solidFill>
                  <a:srgbClr val="C9CED6"/>
                </a:solidFill>
                <a:latin typeface="Microsoft YaHei"/>
                <a:ea typeface="Microsoft YaHei"/>
              </a:rPr>
              <a:t>，贵</a:t>
            </a:r>
            <a:r>
              <a:rPr lang="en-US" sz="1650" dirty="0">
                <a:solidFill>
                  <a:srgbClr val="C9CED6"/>
                </a:solidFill>
                <a:latin typeface="Microsoft YaHei"/>
                <a:ea typeface="Microsoft YaHei"/>
              </a:rPr>
              <a:t> 8.4%</a:t>
            </a:r>
            <a:r>
              <a:rPr lang="zh-CN" sz="1650" dirty="0">
                <a:solidFill>
                  <a:srgbClr val="C9CED6"/>
                </a:solidFill>
                <a:latin typeface="Microsoft YaHei"/>
                <a:ea typeface="Microsoft YaHei"/>
              </a:rPr>
              <a:t>。</a:t>
            </a:r>
            <a:endParaRPr dirty="0"/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7762875" y="4495800"/>
            <a:ext cx="157162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F2F3F5"/>
                </a:solidFill>
                <a:latin typeface="Consolas"/>
                <a:ea typeface="Consolas"/>
              </a:rPr>
              <a:t>0.85 × 1.084</a:t>
            </a:r>
            <a:endParaRPr/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9429750" y="4495800"/>
            <a:ext cx="1905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9AA1AC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9715500" y="4495800"/>
            <a:ext cx="65722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FF6A13"/>
                </a:solidFill>
                <a:latin typeface="Consolas"/>
                <a:ea typeface="Consolas"/>
              </a:rPr>
              <a:t>0.922</a:t>
            </a:r>
            <a:endParaRPr/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7762875" y="4953000"/>
            <a:ext cx="3590925" cy="1238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0000"/>
              </a:lnSpc>
            </a:pPr>
            <a:r>
              <a:rPr lang="zh-CN" sz="1500" dirty="0">
                <a:solidFill>
                  <a:srgbClr val="9AA1AC"/>
                </a:solidFill>
                <a:latin typeface="Microsoft YaHei"/>
                <a:ea typeface="Microsoft YaHei"/>
              </a:rPr>
              <a:t>少算</a:t>
            </a:r>
            <a:r>
              <a:rPr lang="en-US" sz="1500" dirty="0">
                <a:solidFill>
                  <a:srgbClr val="9AA1AC"/>
                </a:solidFill>
                <a:latin typeface="Microsoft YaHei"/>
                <a:ea typeface="Microsoft YaHei"/>
              </a:rPr>
              <a:t> 15%</a:t>
            </a:r>
            <a:r>
              <a:rPr lang="zh-CN" sz="1500" dirty="0">
                <a:solidFill>
                  <a:srgbClr val="9AA1AC"/>
                </a:solidFill>
                <a:latin typeface="Microsoft YaHei"/>
                <a:ea typeface="Microsoft YaHei"/>
              </a:rPr>
              <a:t>，单像素贵</a:t>
            </a:r>
            <a:r>
              <a:rPr lang="en-US" sz="1500" dirty="0">
                <a:solidFill>
                  <a:srgbClr val="9AA1AC"/>
                </a:solidFill>
                <a:latin typeface="Microsoft YaHei"/>
                <a:ea typeface="Microsoft YaHei"/>
              </a:rPr>
              <a:t> 8.4%</a:t>
            </a:r>
            <a:r>
              <a:rPr lang="zh-CN" sz="1500" dirty="0">
                <a:solidFill>
                  <a:srgbClr val="9AA1AC"/>
                </a:solidFill>
                <a:latin typeface="Microsoft YaHei"/>
                <a:ea typeface="Microsoft YaHei"/>
              </a:rPr>
              <a:t>，净快</a:t>
            </a:r>
            <a:r>
              <a:rPr lang="en-US" sz="1500" dirty="0">
                <a:solidFill>
                  <a:srgbClr val="9AA1AC"/>
                </a:solidFill>
                <a:latin typeface="Microsoft YaHei"/>
                <a:ea typeface="Microsoft YaHei"/>
              </a:rPr>
              <a:t> 7.8%</a:t>
            </a:r>
            <a:r>
              <a:rPr lang="zh-CN" sz="1500" dirty="0">
                <a:solidFill>
                  <a:srgbClr val="9AA1AC"/>
                </a:solidFill>
                <a:latin typeface="Microsoft YaHei"/>
                <a:ea typeface="Microsoft YaHei"/>
              </a:rPr>
              <a:t>。</a:t>
            </a:r>
            <a:r>
              <a:rPr lang="en-US" sz="1500" dirty="0">
                <a:solidFill>
                  <a:srgbClr val="9AA1AC"/>
                </a:solidFill>
                <a:latin typeface="Microsoft YaHei"/>
                <a:ea typeface="Microsoft YaHei"/>
              </a:rPr>
              <a:t>-O2 </a:t>
            </a:r>
            <a:r>
              <a:rPr lang="zh-CN" sz="1500" dirty="0">
                <a:solidFill>
                  <a:srgbClr val="9AA1AC"/>
                </a:solidFill>
                <a:latin typeface="Microsoft YaHei"/>
                <a:ea typeface="Microsoft YaHei"/>
              </a:rPr>
              <a:t>下账反过来，</a:t>
            </a:r>
            <a:r>
              <a:rPr lang="en-US" sz="1500" dirty="0">
                <a:solidFill>
                  <a:srgbClr val="9AA1AC"/>
                </a:solidFill>
                <a:latin typeface="Microsoft YaHei"/>
                <a:ea typeface="Microsoft YaHei"/>
              </a:rPr>
              <a:t>0.85 × 1.288 = 1.095</a:t>
            </a:r>
            <a:r>
              <a:rPr lang="zh-CN" sz="1500" dirty="0">
                <a:solidFill>
                  <a:srgbClr val="9AA1AC"/>
                </a:solidFill>
                <a:latin typeface="Microsoft YaHei"/>
                <a:ea typeface="Microsoft YaHei"/>
              </a:rPr>
              <a:t>。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矩形 4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32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15" name="图片 4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838200" y="476250"/>
            <a:ext cx="105156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300" b="1" dirty="0">
                <a:solidFill>
                  <a:srgbClr val="F2F3F5"/>
                </a:solidFill>
                <a:latin typeface="Microsoft YaHei"/>
                <a:ea typeface="Microsoft YaHei"/>
              </a:rPr>
              <a:t>表的大小，横着量一遍</a:t>
            </a:r>
            <a:endParaRPr dirty="0"/>
          </a:p>
        </p:txBody>
      </p:sp>
      <p:sp>
        <p:nvSpPr>
          <p:cNvPr id="417" name="矩形 416"/>
          <p:cNvSpPr/>
          <p:nvPr/>
        </p:nvSpPr>
        <p:spPr>
          <a:xfrm>
            <a:off x="838200" y="1171575"/>
            <a:ext cx="10515600" cy="9525"/>
          </a:xfrm>
          <a:prstGeom prst="rect">
            <a:avLst/>
          </a:prstGeom>
          <a:solidFill>
            <a:srgbClr val="3A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8" name="矩形 417"/>
          <p:cNvSpPr/>
          <p:nvPr/>
        </p:nvSpPr>
        <p:spPr>
          <a:xfrm>
            <a:off x="838200" y="1171575"/>
            <a:ext cx="1333500" cy="952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19" name="图片 418"/>
          <p:cNvPicPr>
            <a:picLocks noChangeAspect="1"/>
          </p:cNvPicPr>
          <p:nvPr/>
        </p:nvPicPr>
        <p:blipFill>
          <a:blip r:embed="rId3"/>
          <a:srcRect t="38" b="38"/>
          <a:stretch>
            <a:fillRect/>
          </a:stretch>
        </p:blipFill>
        <p:spPr>
          <a:xfrm>
            <a:off x="838200" y="2257425"/>
            <a:ext cx="6858000" cy="3524250"/>
          </a:xfrm>
          <a:prstGeom prst="rect">
            <a:avLst/>
          </a:prstGeom>
          <a:ln/>
        </p:spPr>
      </p:pic>
      <p:sp>
        <p:nvSpPr>
          <p:cNvPr id="420" name="文本框 419" descr="{&quot;isTemplate&quot;:true,&quot;type&quot;:&quot;text&quot;}"/>
          <p:cNvSpPr txBox="1"/>
          <p:nvPr/>
        </p:nvSpPr>
        <p:spPr>
          <a:xfrm>
            <a:off x="8096250" y="2771775"/>
            <a:ext cx="3257550" cy="981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5000"/>
              </a:lnSpc>
            </a:pPr>
            <a:r>
              <a:rPr lang="zh-CN" sz="1725">
                <a:solidFill>
                  <a:srgbClr val="C9CED6"/>
                </a:solidFill>
                <a:latin typeface="Microsoft YaHei"/>
                <a:ea typeface="Microsoft YaHei"/>
              </a:rPr>
              <a:t>指针表相当于四张图，</a:t>
            </a:r>
            <a:endParaRPr/>
          </a:p>
          <a:p>
            <a:pPr>
              <a:lnSpc>
                <a:spcPct val="185000"/>
              </a:lnSpc>
            </a:pPr>
            <a:r>
              <a:rPr lang="zh-CN" sz="1725">
                <a:solidFill>
                  <a:srgbClr val="C9CED6"/>
                </a:solidFill>
                <a:latin typeface="Microsoft YaHei"/>
                <a:ea typeface="Microsoft YaHei"/>
              </a:rPr>
              <a:t>偏移表两张，</a:t>
            </a:r>
            <a:r>
              <a:rPr lang="en-US" sz="1725">
                <a:solidFill>
                  <a:srgbClr val="C9CED6"/>
                </a:solidFill>
                <a:latin typeface="Microsoft YaHei"/>
                <a:ea typeface="Microsoft YaHei"/>
              </a:rPr>
              <a:t>U8 </a:t>
            </a:r>
            <a:r>
              <a:rPr lang="zh-CN" sz="1725">
                <a:solidFill>
                  <a:srgbClr val="C9CED6"/>
                </a:solidFill>
                <a:latin typeface="Microsoft YaHei"/>
                <a:ea typeface="Microsoft YaHei"/>
              </a:rPr>
              <a:t>表一张。</a:t>
            </a:r>
            <a:endParaRPr/>
          </a:p>
        </p:txBody>
      </p:sp>
      <p:sp>
        <p:nvSpPr>
          <p:cNvPr id="421" name="矩形 420"/>
          <p:cNvSpPr/>
          <p:nvPr/>
        </p:nvSpPr>
        <p:spPr>
          <a:xfrm>
            <a:off x="8096250" y="3981450"/>
            <a:ext cx="533400" cy="28575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8096250" y="4219575"/>
            <a:ext cx="3257550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5000"/>
              </a:lnSpc>
            </a:pPr>
            <a:r>
              <a:rPr lang="zh-CN" sz="1950">
                <a:solidFill>
                  <a:srgbClr val="F2F3F5"/>
                </a:solidFill>
                <a:latin typeface="Microsoft YaHei"/>
                <a:ea typeface="Microsoft YaHei"/>
              </a:rPr>
              <a:t>每换一次，表正好减半，两次下来只剩四分之一。</a:t>
            </a:r>
            <a:endParaRPr/>
          </a:p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11029950" y="6419850"/>
            <a:ext cx="114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>
                <a:solidFill>
                  <a:srgbClr val="6C737E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2898</Words>
  <Application>Microsoft Office PowerPoint</Application>
  <PresentationFormat>宽屏</PresentationFormat>
  <Paragraphs>339</Paragraphs>
  <Slides>31</Slides>
  <Notes>0</Notes>
  <HiddenSlides>5</HiddenSlides>
  <MMClips>3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7" baseType="lpstr">
      <vt:lpstr>Menlo</vt:lpstr>
      <vt:lpstr>Noto Sans SC</vt:lpstr>
      <vt:lpstr>微软雅黑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苏琦尧</cp:lastModifiedBy>
  <cp:revision>93</cp:revision>
  <dcterms:created xsi:type="dcterms:W3CDTF">2026-10-24T20:16:57Z</dcterms:created>
  <dcterms:modified xsi:type="dcterms:W3CDTF">2026-10-26T12:40:55Z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{"AIGC":{"Label":"1","ContentProducer":"00119111010856365494821B355","ProduceID":"01a16db800ac731a84dea5413a256f1a","ReservedCode1":"","ContentPropagator":"00119111010856365494821B355","PropagateID":"01a16db800ac731a84dea5413a256f1a","ReservedCode2":""}}</vt:lpwstr>
  </property>
</Properties>
</file>